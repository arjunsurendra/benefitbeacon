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5f6d97c98b4e5d" /><Relationship Type="http://schemas.openxmlformats.org/officeDocument/2006/relationships/extended-properties" Target="/docProps/app.xml" Id="R31a88251fae84653" /><Relationship Type="http://schemas.openxmlformats.org/officeDocument/2006/relationships/officeDocument" Target="/ppt/presentation.xml" Id="R4a507d9dfa4d4bab" /></Relationships>
</file>

<file path=ppt/presentation.xml><?xml version="1.0" encoding="utf-8"?>
<p:presentation xmlns:p="http://schemas.openxmlformats.org/presentationml/2006/main">
  <p:sldMasterIdLst>
    <p:sldMasterId xmlns:r="http://schemas.openxmlformats.org/officeDocument/2006/relationships" id="2147483648" r:id="R0cc3085cd6b74f15"/>
  </p:sldMasterIdLst>
  <p:notesMasterIdLst>
    <p:notesMasterId xmlns:r="http://schemas.openxmlformats.org/officeDocument/2006/relationships" r:id="R8e610f9cacd2498c"/>
  </p:notesMasterIdLst>
  <p:sldIdLst>
    <p:sldId xmlns:r="http://schemas.openxmlformats.org/officeDocument/2006/relationships" id="256" r:id="R64bd6ba12b584aa8"/>
    <p:sldId xmlns:r="http://schemas.openxmlformats.org/officeDocument/2006/relationships" id="257" r:id="R8f9710124cd2419a"/>
    <p:sldId xmlns:r="http://schemas.openxmlformats.org/officeDocument/2006/relationships" id="258" r:id="R9afef54207964355"/>
    <p:sldId xmlns:r="http://schemas.openxmlformats.org/officeDocument/2006/relationships" id="259" r:id="R931b6a94b08840f8"/>
    <p:sldId xmlns:r="http://schemas.openxmlformats.org/officeDocument/2006/relationships" id="260" r:id="R2f00285f31004b7b"/>
    <p:sldId xmlns:r="http://schemas.openxmlformats.org/officeDocument/2006/relationships" id="261" r:id="R0ebf649e0fd141e1"/>
    <p:sldId xmlns:r="http://schemas.openxmlformats.org/officeDocument/2006/relationships" id="262" r:id="R7689168d54fc4e97"/>
    <p:sldId xmlns:r="http://schemas.openxmlformats.org/officeDocument/2006/relationships" id="263" r:id="Rcdadc68d83c24e1a"/>
    <p:sldId xmlns:r="http://schemas.openxmlformats.org/officeDocument/2006/relationships" id="264" r:id="R016201fdb4da4555"/>
    <p:sldId xmlns:r="http://schemas.openxmlformats.org/officeDocument/2006/relationships" id="265" r:id="R9ea96706496c41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e38374ff6047a8" /><Relationship Type="http://schemas.openxmlformats.org/officeDocument/2006/relationships/slideMaster" Target="/ppt/slideMasters/slideMaster1.xml" Id="R0cc3085cd6b74f15" /><Relationship Type="http://schemas.openxmlformats.org/officeDocument/2006/relationships/notesMaster" Target="/ppt/notesMasters/notesMaster1.xml" Id="R8e610f9cacd2498c" /><Relationship Type="http://schemas.openxmlformats.org/officeDocument/2006/relationships/presProps" Target="/ppt/presProps.xml" Id="Rbc3f21ea413c4deb" /><Relationship Type="http://schemas.openxmlformats.org/officeDocument/2006/relationships/tableStyles" Target="/ppt/tableStyles.xml" Id="R987978213f984962" /><Relationship Type="http://schemas.openxmlformats.org/officeDocument/2006/relationships/slide" Target="/ppt/slides/slide1.xml" Id="R64bd6ba12b584aa8" /><Relationship Type="http://schemas.openxmlformats.org/officeDocument/2006/relationships/slide" Target="/ppt/slides/slide2.xml" Id="R8f9710124cd2419a" /><Relationship Type="http://schemas.openxmlformats.org/officeDocument/2006/relationships/slide" Target="/ppt/slides/slide3.xml" Id="R9afef54207964355" /><Relationship Type="http://schemas.openxmlformats.org/officeDocument/2006/relationships/slide" Target="/ppt/slides/slide4.xml" Id="R931b6a94b08840f8" /><Relationship Type="http://schemas.openxmlformats.org/officeDocument/2006/relationships/slide" Target="/ppt/slides/slide5.xml" Id="R2f00285f31004b7b" /><Relationship Type="http://schemas.openxmlformats.org/officeDocument/2006/relationships/slide" Target="/ppt/slides/slide6.xml" Id="R0ebf649e0fd141e1" /><Relationship Type="http://schemas.openxmlformats.org/officeDocument/2006/relationships/slide" Target="/ppt/slides/slide7.xml" Id="R7689168d54fc4e97" /><Relationship Type="http://schemas.openxmlformats.org/officeDocument/2006/relationships/slide" Target="/ppt/slides/slide8.xml" Id="Rcdadc68d83c24e1a" /><Relationship Type="http://schemas.openxmlformats.org/officeDocument/2006/relationships/slide" Target="/ppt/slides/slide9.xml" Id="R016201fdb4da4555" /><Relationship Type="http://schemas.openxmlformats.org/officeDocument/2006/relationships/slide" Target="/ppt/slides/slide10.xml" Id="R9ea96706496c41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6ecc7203d34f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fc355855dc47a5" /><Relationship Type="http://schemas.openxmlformats.org/officeDocument/2006/relationships/notesMaster" Target="/ppt/notesMasters/notesMaster1.xml" Id="R98d4114a3b364d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117a3f8f184ef0" /><Relationship Type="http://schemas.openxmlformats.org/officeDocument/2006/relationships/notesMaster" Target="/ppt/notesMasters/notesMaster1.xml" Id="R29a59d1c4ccc48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5dd05e7a58416c" /><Relationship Type="http://schemas.openxmlformats.org/officeDocument/2006/relationships/notesMaster" Target="/ppt/notesMasters/notesMaster1.xml" Id="Rd1c3cf1693cf47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7acf4dc9704ba5" /><Relationship Type="http://schemas.openxmlformats.org/officeDocument/2006/relationships/notesMaster" Target="/ppt/notesMasters/notesMaster1.xml" Id="R7e5430aa39794c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d05ccfffe34db7" /><Relationship Type="http://schemas.openxmlformats.org/officeDocument/2006/relationships/notesMaster" Target="/ppt/notesMasters/notesMaster1.xml" Id="R14a00eedd87c4d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0f666ef2a94fee" /><Relationship Type="http://schemas.openxmlformats.org/officeDocument/2006/relationships/notesMaster" Target="/ppt/notesMasters/notesMaster1.xml" Id="Rc6e6ebe8baf749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79a7c8b0db4fdb" /><Relationship Type="http://schemas.openxmlformats.org/officeDocument/2006/relationships/notesMaster" Target="/ppt/notesMasters/notesMaster1.xml" Id="R90440b91cd524a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dedf9987fd4bba" /><Relationship Type="http://schemas.openxmlformats.org/officeDocument/2006/relationships/notesMaster" Target="/ppt/notesMasters/notesMaster1.xml" Id="R19d7143072b24e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479c796ebc4989" /><Relationship Type="http://schemas.openxmlformats.org/officeDocument/2006/relationships/notesMaster" Target="/ppt/notesMasters/notesMaster1.xml" Id="R53a1099b19ad43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79bbd06a064384" /><Relationship Type="http://schemas.openxmlformats.org/officeDocument/2006/relationships/notesMaster" Target="/ppt/notesMasters/notesMaster1.xml" Id="Rbe0b97509e7b4f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1:27 BenefitBeacon introduction video if time allows. Then say: “BenefitBeacon helps residents find the right starting point without knowing an agency or program name.”</a:t>
            </a:r>
          </a:p>
          <a:p xmlns:a="http://schemas.openxmlformats.org/drawingml/2006/main">
            <a:r>
              <a:t/>
            </a:r>
          </a:p>
          <a:p xmlns:a="http://schemas.openxmlformats.org/drawingml/2006/main">
            <a:r>
              <a:t>Presentation goal: explain the access problem, demonstrate the resident journey, and show why the architecture is trustworthy and resilient.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estimate missed program benefits, not unclaimed property. NCOA and the Urban Institute estimate that eligible adults age 65 and older left $58 billion unclaimed in 2023 across SNAP, Supplemental Security Income, and Medicare Savings Programs.</a:t>
            </a:r>
          </a:p>
          <a:p xmlns:a="http://schemas.openxmlformats.org/drawingml/2006/main">
            <a:r>
              <a:t/>
            </a:r>
          </a:p>
          <a:p xmlns:a="http://schemas.openxmlformats.org/drawingml/2006/main">
            <a:r>
              <a:t>Santa Clara County estimate: NCOA reports 39,962 eligible SNAP nonparticipants, 27,582 eligible SSI nonparticipants, and 22,687 eligible Medicare Savings Program nonparticipants. Applying NCOA's national monthly benefit assumptions of $188 for SNAP, $552.29 for SSI, and $164.90 for MSP produces an estimated annual gap of $317,846,461, shown as approximately $318 million.</a:t>
            </a:r>
          </a:p>
          <a:p xmlns:a="http://schemas.openxmlformats.org/drawingml/2006/main">
            <a:r>
              <a:t/>
            </a:r>
          </a:p>
          <a:p xmlns:a="http://schemas.openxmlformats.org/drawingml/2006/main">
            <a:r>
              <a:t>California estimate: NCOA reports 855,248 eligible SNAP nonparticipants, 602,919 eligible SSI nonparticipants, and 537,779 eligible MSP nonparticipants. Applying the same assumptions produces $6,989,430,187, shown as approximately $7.0 billion.</a:t>
            </a:r>
          </a:p>
          <a:p xmlns:a="http://schemas.openxmlformats.org/drawingml/2006/main">
            <a:r>
              <a:t/>
            </a:r>
          </a:p>
          <a:p xmlns:a="http://schemas.openxmlformats.org/drawingml/2006/main">
            <a:r>
              <a:t>These program counts may overlap because a person can qualify for more than one program. NCOA does not publish a Sunnyvale-only estimate, so the slide uses Santa Clara County as the local figure.</a:t>
            </a:r>
          </a:p>
          <a:p xmlns:a="http://schemas.openxmlformats.org/drawingml/2006/main">
            <a:r>
              <a:t/>
            </a:r>
          </a:p>
          <a:p xmlns:a="http://schemas.openxmlformats.org/drawingml/2006/main">
            <a:r>
              <a:t>Sources:</a:t>
            </a:r>
          </a:p>
          <a:p xmlns:a="http://schemas.openxmlformats.org/drawingml/2006/main">
            <a:r>
              <a:t>- NCOA, Benefits Participation Map and 2023 data export: https://www.ncoa.org/benefits-participation-map/</a:t>
            </a:r>
          </a:p>
          <a:p xmlns:a="http://schemas.openxmlformats.org/drawingml/2006/main">
            <a:r>
              <a:t>- NCOA, 9 Million Older Adults Missing Out on $58 Billion: https://www.ncoa.org/article/over-9-million-eligible-older-adults-are-missing-out-on-58-billion-in-benefits-that-can-help-them-afford-basic-necessities/</a:t>
            </a:r>
          </a:p>
          <a:p xmlns:a="http://schemas.openxmlformats.org/drawingml/2006/main">
            <a:r>
              <a:t>- NCOA and Urban Institute technical report: https://assets.ncoa.org/ffacfe7d-10b6-0083-2632-604077fd4eca/3462824a-d7e9-4ddb-a936-7c2172599005/Estimated_Program_Participation_Rates_for_Adults_65_and_Older_2023.pdf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resident example: “I am in Sunnyvale, my water bill is high, and I may need help fixing a leak.” Today that person must know which city, utility, county, state, or federal site to search. BenefitBeacon starts from the story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four stages. Emphasize that every follow-up is optional and is asked only when it can materially improve the shortlist or answer. Residents can also browse all programs without sharing personal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trust moment. Each result preserves the curated program name, benefit, published eligibility text, official source, and freshness date. The AI may explain relevance, but it cannot rewrite these facts or claim final eligibility.</a:t>
            </a:r>
          </a:p>
          <a:p xmlns:a="http://schemas.openxmlformats.org/drawingml/2006/main">
            <a:r>
              <a:t/>
            </a:r>
          </a:p>
          <a:p xmlns:a="http://schemas.openxmlformats.org/drawingml/2006/main">
            <a:r>
              <a:t>Project sources:</a:t>
            </a:r>
          </a:p>
          <a:p xmlns:a="http://schemas.openxmlformats.org/drawingml/2006/main">
            <a:r>
              <a:t>- /Users/surendra.s/Documents/App Challenge/data/programs.seed.json</a:t>
            </a:r>
          </a:p>
          <a:p xmlns:a="http://schemas.openxmlformats.org/drawingml/2006/main">
            <a:r>
              <a:t>- /Users/surendra.s/Documents/App Challenge/data/programs.seed.sql</a:t>
            </a:r>
          </a:p>
          <a:p xmlns:a="http://schemas.openxmlformats.org/drawingml/2006/main">
            <a:r>
              <a:t>The generated SQL snapshot contains 62 records checked 2026-10-23; 52 records serve Sunnyvale.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handoff from a program result to the official application. The side panel carries only the selected program, a constrained profile, and bounded conversation context. It can explain fields and offer safe fills after the resident approves the site. It does not submit forms or fill sensitive identifiers.</a:t>
            </a:r>
          </a:p>
          <a:p xmlns:a="http://schemas.openxmlformats.org/drawingml/2006/main">
            <a:r>
              <a:t/>
            </a:r>
          </a:p>
          <a:p xmlns:a="http://schemas.openxmlformats.org/drawingml/2006/main">
            <a:r>
              <a:t>Source: /Users/surendra.s/Documents/App Challenge/extension/README.md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separation of responsibilities: deterministic code resolves geography, applies narrow contradiction checks, and retrieves records. AI extracts explicit facts, proposes optional questions, ranks only supplied IDs, and explains. Unknown facts are not negative evidence. The administering program makes the final decision.</a:t>
            </a:r>
          </a:p>
          <a:p xmlns:a="http://schemas.openxmlformats.org/drawingml/2006/main">
            <a:r>
              <a:t/>
            </a:r>
          </a:p>
          <a:p xmlns:a="http://schemas.openxmlformats.org/drawingml/2006/main">
            <a:r>
              <a:t>Source: /Users/surendra.s/Documents/App Challenge/ARCHITECTURE_AND_TECHNICAL_DESIGN.md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High-level stack: React 19 and TypeScript with a Next.js-compatible App Router, Vinext/Vite, Cloudflare Worker-compatible APIs, D1/SQLite, deterministic 128-dimensional local embeddings, optional OpenAI Responses API calls, official web search for current program questions, and a Manifest V3 browser extension.</a:t>
            </a:r>
          </a:p>
          <a:p xmlns:a="http://schemas.openxmlformats.org/drawingml/2006/main">
            <a:r>
              <a:t/>
            </a:r>
          </a:p>
          <a:p xmlns:a="http://schemas.openxmlformats.org/drawingml/2006/main">
            <a:r>
              <a:t>The critical reliability point: normal indexed discovery does not require live search, and deterministic ranking remains available when OpenAI times out.</a:t>
            </a:r>
          </a:p>
          <a:p xmlns:a="http://schemas.openxmlformats.org/drawingml/2006/main">
            <a:r>
              <a:t/>
            </a:r>
          </a:p>
          <a:p xmlns:a="http://schemas.openxmlformats.org/drawingml/2006/main">
            <a:r>
              <a:t>Source: /Users/surendra.s/Documents/App Challenge/ARCHITECTURE_AND_TECHNICAL_DESIGN.md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checklist:</a:t>
            </a:r>
          </a:p>
          <a:p xmlns:a="http://schemas.openxmlformats.org/drawingml/2006/main">
            <a:r>
              <a:t>1. Open the Agent experience.</a:t>
            </a:r>
          </a:p>
          <a:p xmlns:a="http://schemas.openxmlformats.org/drawingml/2006/main">
            <a:r>
              <a:t>2. Paste the sample resident story.</a:t>
            </a:r>
          </a:p>
          <a:p xmlns:a="http://schemas.openxmlformats.org/drawingml/2006/main">
            <a:r>
              <a:t>3. Answer or skip a follow-up to show resident control.</a:t>
            </a:r>
          </a:p>
          <a:p xmlns:a="http://schemas.openxmlformats.org/drawingml/2006/main">
            <a:r>
              <a:t>4. Select a water or utility program.</a:t>
            </a:r>
          </a:p>
          <a:p xmlns:a="http://schemas.openxmlformats.org/drawingml/2006/main">
            <a:r>
              <a:t>5. Ask: “What documents should I have ready?”</a:t>
            </a:r>
          </a:p>
          <a:p xmlns:a="http://schemas.openxmlformats.org/drawingml/2006/main">
            <a:r>
              <a:t>6. Click Apply with BenefitBeacon and open the extension side panel.</a:t>
            </a:r>
          </a:p>
          <a:p xmlns:a="http://schemas.openxmlformats.org/drawingml/2006/main">
            <a:r>
              <a:t/>
            </a:r>
          </a:p>
          <a:p xmlns:a="http://schemas.openxmlformats.org/drawingml/2006/main">
            <a:r>
              <a:t>If the network or AI service is unavailable, use Show all available programs and explain the deterministic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“Public benefits should not depend on knowing the right agency, acronym, or search terms. BenefitBeacon gives residents a trustworthy starting point and stays with them through the next step.”</a:t>
            </a:r>
          </a:p>
          <a:p xmlns:a="http://schemas.openxmlformats.org/drawingml/2006/main">
            <a:r>
              <a:t/>
            </a:r>
          </a:p>
          <a:p xmlns:a="http://schemas.openxmlformats.org/drawingml/2006/main">
            <a:r>
              <a:t>Invite questions or return to the live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3e9a79fb9d49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c741b723644ef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af326bdd99547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75f4d4390844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d713f849edc4a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59d369da8642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1592F6-7FE4-4C89-A32B-C10A2C34028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6FB9FD9-EB09-4A96-A29E-C05EED869E9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3F8CF44-5405-4E68-B5FA-408487E1412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D91CA6-8BCD-46A6-AE7D-BBDE3C98DF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618333F-0085-4C1F-B7AF-6509B78AD7C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920109A-2CFD-4C13-B6CF-6483AC7578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40457C-8E8D-46FC-9D96-3C1A4177F6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5D2651B-C923-45F3-BD65-C4B277DCBDB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6BC128-6B80-4815-B0E4-4735F2FCA1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502FB6-5A2A-4CD4-AC0A-A48575F290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7f49d1fa4040a0" /><Relationship Type="http://schemas.openxmlformats.org/officeDocument/2006/relationships/slideLayout" Target="/ppt/slideLayouts/slideLayout1.xml" Id="R479bd4d6ca25469c" /><Relationship Type="http://schemas.openxmlformats.org/officeDocument/2006/relationships/slideLayout" Target="/ppt/slideLayouts/slideLayout2.xml" Id="Rf7a2ec7363b44539" /><Relationship Type="http://schemas.openxmlformats.org/officeDocument/2006/relationships/slideLayout" Target="/ppt/slideLayouts/slideLayout3.xml" Id="R237d2c71da754fc1" /><Relationship Type="http://schemas.openxmlformats.org/officeDocument/2006/relationships/slideLayout" Target="/ppt/slideLayouts/slideLayout4.xml" Id="Rd7bf61aa9597493d" /><Relationship Type="http://schemas.openxmlformats.org/officeDocument/2006/relationships/slideLayout" Target="/ppt/slideLayouts/slideLayout5.xml" Id="R131f1d29a4a94185" /><Relationship Type="http://schemas.openxmlformats.org/officeDocument/2006/relationships/slideLayout" Target="/ppt/slideLayouts/slideLayout6.xml" Id="Rd718b4fbcfc244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9bd4d6ca25469c"/>
    <p:sldLayoutId xmlns:r="http://schemas.openxmlformats.org/officeDocument/2006/relationships" id="2147483650" r:id="Rf7a2ec7363b44539"/>
    <p:sldLayoutId xmlns:r="http://schemas.openxmlformats.org/officeDocument/2006/relationships" id="2147483651" r:id="R237d2c71da754fc1"/>
    <p:sldLayoutId xmlns:r="http://schemas.openxmlformats.org/officeDocument/2006/relationships" id="2147483652" r:id="Rd7bf61aa9597493d"/>
    <p:sldLayoutId xmlns:r="http://schemas.openxmlformats.org/officeDocument/2006/relationships" id="2147483653" r:id="R131f1d29a4a94185"/>
    <p:sldLayoutId xmlns:r="http://schemas.openxmlformats.org/officeDocument/2006/relationships" id="2147483654" r:id="Rd718b4fbcfc244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955e56340b4cca" /><Relationship Type="http://schemas.openxmlformats.org/officeDocument/2006/relationships/image" Target="/ppt/media/image.png" Id="Re6297312d65b4656" /><Relationship Type="http://schemas.openxmlformats.org/officeDocument/2006/relationships/image" Target="/ppt/media/image2.png" Id="R7dad999c570e428c" /><Relationship Type="http://schemas.openxmlformats.org/officeDocument/2006/relationships/notesSlide" Target="/ppt/notesSlides/notesSlide1.xml" Id="Rcfb4a1175e294f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9fc16df9cb54204" /><Relationship Type="http://schemas.openxmlformats.org/officeDocument/2006/relationships/notesSlide" Target="/ppt/notesSlides/notesSlide2.xml" Id="R9fe96db8254f42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5283c276a794f31" /><Relationship Type="http://schemas.openxmlformats.org/officeDocument/2006/relationships/notesSlide" Target="/ppt/notesSlides/notesSlide3.xml" Id="R743f70232f9442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32e5c61ad0f4ba1" /><Relationship Type="http://schemas.openxmlformats.org/officeDocument/2006/relationships/notesSlide" Target="/ppt/notesSlides/notesSlide4.xml" Id="R4910bd971cf748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6a655de0cb94ba2" /><Relationship Type="http://schemas.openxmlformats.org/officeDocument/2006/relationships/notesSlide" Target="/ppt/notesSlides/notesSlide5.xml" Id="R38354c62a35f49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2dad38aa0e84b64" /><Relationship Type="http://schemas.openxmlformats.org/officeDocument/2006/relationships/notesSlide" Target="/ppt/notesSlides/notesSlide6.xml" Id="R42b58a01436a47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bf3f3afe7c4f68" /><Relationship Type="http://schemas.openxmlformats.org/officeDocument/2006/relationships/notesSlide" Target="/ppt/notesSlides/notesSlide7.xml" Id="R5e44840d636844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e9cc6e881a2476f" /><Relationship Type="http://schemas.openxmlformats.org/officeDocument/2006/relationships/notesSlide" Target="/ppt/notesSlides/notesSlide8.xml" Id="Re28a8e2f837c44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c2332ed1b3740ca" /><Relationship Type="http://schemas.openxmlformats.org/officeDocument/2006/relationships/notesSlide" Target="/ppt/notesSlides/notesSlide9.xml" Id="R56c2ffe16c9541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696792b4d794654" /><Relationship Type="http://schemas.openxmlformats.org/officeDocument/2006/relationships/image" Target="/ppt/media/image3.png" Id="R261661269b254689" /><Relationship Type="http://schemas.openxmlformats.org/officeDocument/2006/relationships/notesSlide" Target="/ppt/notesSlides/notesSlide10.xml" Id="R4a2bd6a4d0aa4f99" /></Relationships>
</file>

<file path=ppt/slides/slide1.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CB53C50-AC0B-4B71-A2E3-2B51B65966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1E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FDD348-C600-44AE-834B-E08C55AE7215}"/>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oundRect">
            <a:avLst>
              <a:gd name="adj" fmla="val 2308"/>
            </a:avLst>
          </a:prstGeom>
          <a:solidFill xmlns:a="http://schemas.openxmlformats.org/drawingml/2006/main">
            <a:srgbClr val="0C4B40"/>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3E83FEB0-19B7-480F-BC5A-DE1BDD9E87C0}"/>
              </a:ext>
            </a:extLst>
          </p:cNvPr>
          <p:cNvPicPr>
            <a:picLocks xmlns:a="http://schemas.openxmlformats.org/drawingml/2006/main" noChangeAspect="1"/>
          </p:cNvPicPr>
          <p:nvPr/>
        </p:nvPicPr>
        <p:blipFill>
          <a:blip xmlns:r="http://schemas.openxmlformats.org/officeDocument/2006/relationships" xmlns:a="http://schemas.openxmlformats.org/drawingml/2006/main" r:embed="Re6297312d65b4656"/>
          <a:srcRect xmlns:a="http://schemas.openxmlformats.org/drawingml/2006/main" l="9200" t="0" r="9200" b="0"/>
          <a:stretch xmlns:a="http://schemas.openxmlformats.org/drawingml/2006/main">
            <a:fillRect l="0" t="0" r="0" b="0"/>
          </a:stretch>
        </p:blipFill>
        <p:spPr>
          <a:xfrm xmlns:a="http://schemas.openxmlformats.org/drawingml/2006/main">
            <a:off x="7143750" y="0"/>
            <a:ext cx="5048250" cy="6858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E84481C0-2635-4726-9FE5-F4B7CFDCE328}"/>
              </a:ext>
            </a:extLst>
          </p:cNvPr>
          <p:cNvPicPr>
            <a:picLocks xmlns:a="http://schemas.openxmlformats.org/drawingml/2006/main" noChangeAspect="1"/>
          </p:cNvPicPr>
          <p:nvPr/>
        </p:nvPicPr>
        <p:blipFill>
          <a:blip xmlns:r="http://schemas.openxmlformats.org/officeDocument/2006/relationships" xmlns:a="http://schemas.openxmlformats.org/drawingml/2006/main" r:embed="R7dad999c570e428c"/>
          <a:stretch xmlns:a="http://schemas.openxmlformats.org/drawingml/2006/main"/>
        </p:blipFill>
        <p:spPr>
          <a:xfrm xmlns:a="http://schemas.openxmlformats.org/drawingml/2006/main">
            <a:off x="666750" y="571500"/>
            <a:ext cx="857250" cy="85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D2834CC-AA3C-44C3-B24E-47A1FEACA8F6}"/>
              </a:ext>
            </a:extLst>
          </p:cNvPr>
          <p:cNvSpPr>
            <a:spLocks xmlns:a="http://schemas.openxmlformats.org/drawingml/2006/main" noGrp="1"/>
          </p:cNvSpPr>
          <p:nvPr/>
        </p:nvSpPr>
        <p:spPr>
          <a:xfrm xmlns:a="http://schemas.openxmlformats.org/drawingml/2006/main">
            <a:off x="666750" y="1790700"/>
            <a:ext cx="600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500" b="1" i="0">
                <a:solidFill>
                  <a:srgbClr val="073E35"/>
                </a:solidFill>
                <a:latin typeface="Avenir Next"/>
                <a:ea typeface="Avenir Next"/>
                <a:cs typeface="Avenir Next"/>
              </a:defRPr>
            </a:defPPr>
            <a:lvl1pPr algn="l">
              <a:defRPr sz="4500" b="1" i="0">
                <a:solidFill>
                  <a:srgbClr val="073E35"/>
                </a:solidFill>
                <a:latin typeface="Avenir Next"/>
                <a:ea typeface="Avenir Next"/>
                <a:cs typeface="Avenir Next"/>
              </a:defRPr>
            </a:lvl1pPr>
            <a:lvl2pPr algn="l">
              <a:defRPr sz="4500" b="1" i="0">
                <a:solidFill>
                  <a:srgbClr val="073E35"/>
                </a:solidFill>
                <a:latin typeface="Avenir Next"/>
                <a:ea typeface="Avenir Next"/>
                <a:cs typeface="Avenir Next"/>
              </a:defRPr>
            </a:lvl2pPr>
            <a:lvl3pPr algn="l">
              <a:defRPr sz="4500" b="1" i="0">
                <a:solidFill>
                  <a:srgbClr val="073E35"/>
                </a:solidFill>
                <a:latin typeface="Avenir Next"/>
                <a:ea typeface="Avenir Next"/>
                <a:cs typeface="Avenir Next"/>
              </a:defRPr>
            </a:lvl3pPr>
            <a:lvl4pPr algn="l">
              <a:defRPr sz="4500" b="1" i="0">
                <a:solidFill>
                  <a:srgbClr val="073E35"/>
                </a:solidFill>
                <a:latin typeface="Avenir Next"/>
                <a:ea typeface="Avenir Next"/>
                <a:cs typeface="Avenir Next"/>
              </a:defRPr>
            </a:lvl4pPr>
            <a:lvl5pPr algn="l">
              <a:defRPr sz="4500" b="1" i="0">
                <a:solidFill>
                  <a:srgbClr val="073E35"/>
                </a:solidFill>
                <a:latin typeface="Avenir Next"/>
                <a:ea typeface="Avenir Next"/>
                <a:cs typeface="Avenir Next"/>
              </a:defRPr>
            </a:lvl5pPr>
            <a:lvl6pPr algn="l">
              <a:defRPr sz="4500" b="1" i="0">
                <a:solidFill>
                  <a:srgbClr val="073E35"/>
                </a:solidFill>
                <a:latin typeface="Avenir Next"/>
                <a:ea typeface="Avenir Next"/>
                <a:cs typeface="Avenir Next"/>
              </a:defRPr>
            </a:lvl6pPr>
            <a:lvl7pPr algn="l">
              <a:defRPr sz="4500" b="1" i="0">
                <a:solidFill>
                  <a:srgbClr val="073E35"/>
                </a:solidFill>
                <a:latin typeface="Avenir Next"/>
                <a:ea typeface="Avenir Next"/>
                <a:cs typeface="Avenir Next"/>
              </a:defRPr>
            </a:lvl7pPr>
            <a:lvl8pPr algn="l">
              <a:defRPr sz="4500" b="1" i="0">
                <a:solidFill>
                  <a:srgbClr val="073E35"/>
                </a:solidFill>
                <a:latin typeface="Avenir Next"/>
                <a:ea typeface="Avenir Next"/>
                <a:cs typeface="Avenir Next"/>
              </a:defRPr>
            </a:lvl8pPr>
            <a:lvl9pPr algn="l">
              <a:defRPr sz="4500" b="1" i="0">
                <a:solidFill>
                  <a:srgbClr val="073E35"/>
                </a:solidFill>
                <a:latin typeface="Avenir Next"/>
                <a:ea typeface="Avenir Next"/>
                <a:cs typeface="Avenir Next"/>
              </a:defRPr>
            </a:lvl9pPr>
          </a:lstStyle>
          <a:p xmlns:a="http://schemas.openxmlformats.org/drawingml/2006/main">
            <a:pPr algn="l">
              <a:defRPr sz="4500" b="1" i="0">
                <a:solidFill>
                  <a:srgbClr val="073E35"/>
                </a:solidFill>
                <a:latin typeface="Avenir Next"/>
                <a:ea typeface="Avenir Next"/>
                <a:cs typeface="Avenir Next"/>
              </a:defRPr>
            </a:pPr>
            <a:r>
              <a:rPr sz="4500" b="1" i="0">
                <a:solidFill>
                  <a:srgbClr val="073E35"/>
                </a:solidFill>
                <a:latin typeface="Avenir Next"/>
                <a:ea typeface="Avenir Next"/>
                <a:cs typeface="Avenir Next"/>
              </a:rPr>
              <a:t>BenefitBeacon</a:t>
            </a:r>
          </a:p>
        </p:txBody>
      </p:sp>
      <p:sp>
        <p:nvSpPr>
          <p:cNvPr id="6" name="">
            <a:extLst xmlns:a="http://schemas.openxmlformats.org/drawingml/2006/main">
              <a:ext uri="{FF2B5EF4-FFF2-40B4-BE49-F238E27FC236}">
                <a16:creationId xmlns:a16="http://schemas.microsoft.com/office/drawing/2014/main" id="{3B33B11D-69EE-42C4-81B4-EBB8182C8D77}"/>
              </a:ext>
            </a:extLst>
          </p:cNvPr>
          <p:cNvSpPr>
            <a:spLocks xmlns:a="http://schemas.openxmlformats.org/drawingml/2006/main" noGrp="1"/>
          </p:cNvSpPr>
          <p:nvPr/>
        </p:nvSpPr>
        <p:spPr>
          <a:xfrm xmlns:a="http://schemas.openxmlformats.org/drawingml/2006/main">
            <a:off x="685800" y="2743200"/>
            <a:ext cx="5524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i="0">
                <a:solidFill>
                  <a:srgbClr val="073E35"/>
                </a:solidFill>
                <a:latin typeface="Avenir Next"/>
                <a:ea typeface="Avenir Next"/>
                <a:cs typeface="Avenir Next"/>
              </a:defRPr>
            </a:defPPr>
            <a:lvl1pPr algn="l">
              <a:defRPr sz="2325" b="0" i="0">
                <a:solidFill>
                  <a:srgbClr val="073E35"/>
                </a:solidFill>
                <a:latin typeface="Avenir Next"/>
                <a:ea typeface="Avenir Next"/>
                <a:cs typeface="Avenir Next"/>
              </a:defRPr>
            </a:lvl1pPr>
            <a:lvl2pPr algn="l">
              <a:defRPr sz="2325" b="0" i="0">
                <a:solidFill>
                  <a:srgbClr val="073E35"/>
                </a:solidFill>
                <a:latin typeface="Avenir Next"/>
                <a:ea typeface="Avenir Next"/>
                <a:cs typeface="Avenir Next"/>
              </a:defRPr>
            </a:lvl2pPr>
            <a:lvl3pPr algn="l">
              <a:defRPr sz="2325" b="0" i="0">
                <a:solidFill>
                  <a:srgbClr val="073E35"/>
                </a:solidFill>
                <a:latin typeface="Avenir Next"/>
                <a:ea typeface="Avenir Next"/>
                <a:cs typeface="Avenir Next"/>
              </a:defRPr>
            </a:lvl3pPr>
            <a:lvl4pPr algn="l">
              <a:defRPr sz="2325" b="0" i="0">
                <a:solidFill>
                  <a:srgbClr val="073E35"/>
                </a:solidFill>
                <a:latin typeface="Avenir Next"/>
                <a:ea typeface="Avenir Next"/>
                <a:cs typeface="Avenir Next"/>
              </a:defRPr>
            </a:lvl4pPr>
            <a:lvl5pPr algn="l">
              <a:defRPr sz="2325" b="0" i="0">
                <a:solidFill>
                  <a:srgbClr val="073E35"/>
                </a:solidFill>
                <a:latin typeface="Avenir Next"/>
                <a:ea typeface="Avenir Next"/>
                <a:cs typeface="Avenir Next"/>
              </a:defRPr>
            </a:lvl5pPr>
            <a:lvl6pPr algn="l">
              <a:defRPr sz="2325" b="0" i="0">
                <a:solidFill>
                  <a:srgbClr val="073E35"/>
                </a:solidFill>
                <a:latin typeface="Avenir Next"/>
                <a:ea typeface="Avenir Next"/>
                <a:cs typeface="Avenir Next"/>
              </a:defRPr>
            </a:lvl6pPr>
            <a:lvl7pPr algn="l">
              <a:defRPr sz="2325" b="0" i="0">
                <a:solidFill>
                  <a:srgbClr val="073E35"/>
                </a:solidFill>
                <a:latin typeface="Avenir Next"/>
                <a:ea typeface="Avenir Next"/>
                <a:cs typeface="Avenir Next"/>
              </a:defRPr>
            </a:lvl7pPr>
            <a:lvl8pPr algn="l">
              <a:defRPr sz="2325" b="0" i="0">
                <a:solidFill>
                  <a:srgbClr val="073E35"/>
                </a:solidFill>
                <a:latin typeface="Avenir Next"/>
                <a:ea typeface="Avenir Next"/>
                <a:cs typeface="Avenir Next"/>
              </a:defRPr>
            </a:lvl8pPr>
            <a:lvl9pPr algn="l">
              <a:defRPr sz="2325" b="0" i="0">
                <a:solidFill>
                  <a:srgbClr val="073E35"/>
                </a:solidFill>
                <a:latin typeface="Avenir Next"/>
                <a:ea typeface="Avenir Next"/>
                <a:cs typeface="Avenir Next"/>
              </a:defRPr>
            </a:lvl9pPr>
          </a:lstStyle>
          <a:p xmlns:a="http://schemas.openxmlformats.org/drawingml/2006/main">
            <a:pPr algn="l">
              <a:defRPr sz="2325" b="0" i="0">
                <a:solidFill>
                  <a:srgbClr val="073E35"/>
                </a:solidFill>
                <a:latin typeface="Avenir Next"/>
                <a:ea typeface="Avenir Next"/>
                <a:cs typeface="Avenir Next"/>
              </a:defRPr>
            </a:pPr>
            <a:r>
              <a:rPr sz="2325" b="0" i="0">
                <a:solidFill>
                  <a:srgbClr val="073E35"/>
                </a:solidFill>
                <a:latin typeface="Avenir Next"/>
                <a:ea typeface="Avenir Next"/>
                <a:cs typeface="Avenir Next"/>
              </a:rPr>
              <a:t>Your personal guide to government benefits</a:t>
            </a:r>
          </a:p>
        </p:txBody>
      </p:sp>
      <p:sp>
        <p:nvSpPr>
          <p:cNvPr id="7" name="">
            <a:extLst xmlns:a="http://schemas.openxmlformats.org/drawingml/2006/main">
              <a:ext uri="{FF2B5EF4-FFF2-40B4-BE49-F238E27FC236}">
                <a16:creationId xmlns:a16="http://schemas.microsoft.com/office/drawing/2014/main" id="{8CF10D44-36FF-4228-8CA0-4862C91D7BBB}"/>
              </a:ext>
            </a:extLst>
          </p:cNvPr>
          <p:cNvSpPr>
            <a:spLocks xmlns:a="http://schemas.openxmlformats.org/drawingml/2006/main" noGrp="1"/>
          </p:cNvSpPr>
          <p:nvPr/>
        </p:nvSpPr>
        <p:spPr>
          <a:xfrm xmlns:a="http://schemas.openxmlformats.org/drawingml/2006/main">
            <a:off x="685800" y="3790950"/>
            <a:ext cx="1066800" cy="571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EA7F4F7-3F3E-4A24-B9DA-528D4EA2A5DE}"/>
              </a:ext>
            </a:extLst>
          </p:cNvPr>
          <p:cNvSpPr>
            <a:spLocks xmlns:a="http://schemas.openxmlformats.org/drawingml/2006/main" noGrp="1"/>
          </p:cNvSpPr>
          <p:nvPr/>
        </p:nvSpPr>
        <p:spPr>
          <a:xfrm xmlns:a="http://schemas.openxmlformats.org/drawingml/2006/main">
            <a:off x="685800" y="4114800"/>
            <a:ext cx="571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i="0">
                <a:solidFill>
                  <a:srgbClr val="60716D"/>
                </a:solidFill>
                <a:latin typeface="Avenir Next"/>
                <a:ea typeface="Avenir Next"/>
                <a:cs typeface="Avenir Next"/>
              </a:defRPr>
            </a:defPPr>
            <a:lvl1pPr algn="l">
              <a:defRPr sz="1575" b="0" i="0">
                <a:solidFill>
                  <a:srgbClr val="60716D"/>
                </a:solidFill>
                <a:latin typeface="Avenir Next"/>
                <a:ea typeface="Avenir Next"/>
                <a:cs typeface="Avenir Next"/>
              </a:defRPr>
            </a:lvl1pPr>
            <a:lvl2pPr algn="l">
              <a:defRPr sz="1575" b="0" i="0">
                <a:solidFill>
                  <a:srgbClr val="60716D"/>
                </a:solidFill>
                <a:latin typeface="Avenir Next"/>
                <a:ea typeface="Avenir Next"/>
                <a:cs typeface="Avenir Next"/>
              </a:defRPr>
            </a:lvl2pPr>
            <a:lvl3pPr algn="l">
              <a:defRPr sz="1575" b="0" i="0">
                <a:solidFill>
                  <a:srgbClr val="60716D"/>
                </a:solidFill>
                <a:latin typeface="Avenir Next"/>
                <a:ea typeface="Avenir Next"/>
                <a:cs typeface="Avenir Next"/>
              </a:defRPr>
            </a:lvl3pPr>
            <a:lvl4pPr algn="l">
              <a:defRPr sz="1575" b="0" i="0">
                <a:solidFill>
                  <a:srgbClr val="60716D"/>
                </a:solidFill>
                <a:latin typeface="Avenir Next"/>
                <a:ea typeface="Avenir Next"/>
                <a:cs typeface="Avenir Next"/>
              </a:defRPr>
            </a:lvl4pPr>
            <a:lvl5pPr algn="l">
              <a:defRPr sz="1575" b="0" i="0">
                <a:solidFill>
                  <a:srgbClr val="60716D"/>
                </a:solidFill>
                <a:latin typeface="Avenir Next"/>
                <a:ea typeface="Avenir Next"/>
                <a:cs typeface="Avenir Next"/>
              </a:defRPr>
            </a:lvl5pPr>
            <a:lvl6pPr algn="l">
              <a:defRPr sz="1575" b="0" i="0">
                <a:solidFill>
                  <a:srgbClr val="60716D"/>
                </a:solidFill>
                <a:latin typeface="Avenir Next"/>
                <a:ea typeface="Avenir Next"/>
                <a:cs typeface="Avenir Next"/>
              </a:defRPr>
            </a:lvl6pPr>
            <a:lvl7pPr algn="l">
              <a:defRPr sz="1575" b="0" i="0">
                <a:solidFill>
                  <a:srgbClr val="60716D"/>
                </a:solidFill>
                <a:latin typeface="Avenir Next"/>
                <a:ea typeface="Avenir Next"/>
                <a:cs typeface="Avenir Next"/>
              </a:defRPr>
            </a:lvl7pPr>
            <a:lvl8pPr algn="l">
              <a:defRPr sz="1575" b="0" i="0">
                <a:solidFill>
                  <a:srgbClr val="60716D"/>
                </a:solidFill>
                <a:latin typeface="Avenir Next"/>
                <a:ea typeface="Avenir Next"/>
                <a:cs typeface="Avenir Next"/>
              </a:defRPr>
            </a:lvl8pPr>
            <a:lvl9pPr algn="l">
              <a:defRPr sz="1575" b="0" i="0">
                <a:solidFill>
                  <a:srgbClr val="60716D"/>
                </a:solidFill>
                <a:latin typeface="Avenir Next"/>
                <a:ea typeface="Avenir Next"/>
                <a:cs typeface="Avenir Next"/>
              </a:defRPr>
            </a:lvl9pPr>
          </a:lstStyle>
          <a:p xmlns:a="http://schemas.openxmlformats.org/drawingml/2006/main">
            <a:pPr algn="l">
              <a:defRPr sz="1575" b="0" i="0">
                <a:solidFill>
                  <a:srgbClr val="60716D"/>
                </a:solidFill>
                <a:latin typeface="Avenir Next"/>
                <a:ea typeface="Avenir Next"/>
                <a:cs typeface="Avenir Next"/>
              </a:defRPr>
            </a:pPr>
            <a:r>
              <a:rPr sz="1575" b="0" i="0">
                <a:solidFill>
                  <a:srgbClr val="60716D"/>
                </a:solidFill>
                <a:latin typeface="Avenir Next"/>
                <a:ea typeface="Avenir Next"/>
                <a:cs typeface="Avenir Next"/>
              </a:rPr>
              <a:t>A resident-first path from one plain-language story to trusted programs and guided applications.</a:t>
            </a:r>
          </a:p>
        </p:txBody>
      </p:sp>
      <p:sp>
        <p:nvSpPr>
          <p:cNvPr id="9" name="">
            <a:extLst xmlns:a="http://schemas.openxmlformats.org/drawingml/2006/main">
              <a:ext uri="{FF2B5EF4-FFF2-40B4-BE49-F238E27FC236}">
                <a16:creationId xmlns:a16="http://schemas.microsoft.com/office/drawing/2014/main" id="{F8CAC04D-CA1B-48B6-9B56-65CEA9ACC2E3}"/>
              </a:ext>
            </a:extLst>
          </p:cNvPr>
          <p:cNvSpPr>
            <a:spLocks xmlns:a="http://schemas.openxmlformats.org/drawingml/2006/main" noGrp="1"/>
          </p:cNvSpPr>
          <p:nvPr/>
        </p:nvSpPr>
        <p:spPr>
          <a:xfrm xmlns:a="http://schemas.openxmlformats.org/drawingml/2006/main">
            <a:off x="3238500" y="5524500"/>
            <a:ext cx="22860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3C0F2E17-A789-46CE-8C9C-BE2BD7C239AA}"/>
              </a:ext>
            </a:extLst>
          </p:cNvPr>
          <p:cNvSpPr>
            <a:spLocks xmlns:a="http://schemas.openxmlformats.org/drawingml/2006/main" noGrp="1"/>
          </p:cNvSpPr>
          <p:nvPr/>
        </p:nvSpPr>
        <p:spPr>
          <a:xfrm xmlns:a="http://schemas.openxmlformats.org/drawingml/2006/main">
            <a:off x="3333750" y="562927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073E35"/>
                </a:solidFill>
                <a:latin typeface="Avenir Next"/>
                <a:ea typeface="Avenir Next"/>
                <a:cs typeface="Avenir Next"/>
              </a:defRPr>
            </a:defPPr>
            <a:lvl1pPr algn="ctr">
              <a:defRPr sz="900" b="1" i="0">
                <a:solidFill>
                  <a:srgbClr val="073E35"/>
                </a:solidFill>
                <a:latin typeface="Avenir Next"/>
                <a:ea typeface="Avenir Next"/>
                <a:cs typeface="Avenir Next"/>
              </a:defRPr>
            </a:lvl1pPr>
            <a:lvl2pPr algn="ctr">
              <a:defRPr sz="900" b="1" i="0">
                <a:solidFill>
                  <a:srgbClr val="073E35"/>
                </a:solidFill>
                <a:latin typeface="Avenir Next"/>
                <a:ea typeface="Avenir Next"/>
                <a:cs typeface="Avenir Next"/>
              </a:defRPr>
            </a:lvl2pPr>
            <a:lvl3pPr algn="ctr">
              <a:defRPr sz="900" b="1" i="0">
                <a:solidFill>
                  <a:srgbClr val="073E35"/>
                </a:solidFill>
                <a:latin typeface="Avenir Next"/>
                <a:ea typeface="Avenir Next"/>
                <a:cs typeface="Avenir Next"/>
              </a:defRPr>
            </a:lvl3pPr>
            <a:lvl4pPr algn="ctr">
              <a:defRPr sz="900" b="1" i="0">
                <a:solidFill>
                  <a:srgbClr val="073E35"/>
                </a:solidFill>
                <a:latin typeface="Avenir Next"/>
                <a:ea typeface="Avenir Next"/>
                <a:cs typeface="Avenir Next"/>
              </a:defRPr>
            </a:lvl4pPr>
            <a:lvl5pPr algn="ctr">
              <a:defRPr sz="900" b="1" i="0">
                <a:solidFill>
                  <a:srgbClr val="073E35"/>
                </a:solidFill>
                <a:latin typeface="Avenir Next"/>
                <a:ea typeface="Avenir Next"/>
                <a:cs typeface="Avenir Next"/>
              </a:defRPr>
            </a:lvl5pPr>
            <a:lvl6pPr algn="ctr">
              <a:defRPr sz="900" b="1" i="0">
                <a:solidFill>
                  <a:srgbClr val="073E35"/>
                </a:solidFill>
                <a:latin typeface="Avenir Next"/>
                <a:ea typeface="Avenir Next"/>
                <a:cs typeface="Avenir Next"/>
              </a:defRPr>
            </a:lvl6pPr>
            <a:lvl7pPr algn="ctr">
              <a:defRPr sz="900" b="1" i="0">
                <a:solidFill>
                  <a:srgbClr val="073E35"/>
                </a:solidFill>
                <a:latin typeface="Avenir Next"/>
                <a:ea typeface="Avenir Next"/>
                <a:cs typeface="Avenir Next"/>
              </a:defRPr>
            </a:lvl7pPr>
            <a:lvl8pPr algn="ctr">
              <a:defRPr sz="900" b="1" i="0">
                <a:solidFill>
                  <a:srgbClr val="073E35"/>
                </a:solidFill>
                <a:latin typeface="Avenir Next"/>
                <a:ea typeface="Avenir Next"/>
                <a:cs typeface="Avenir Next"/>
              </a:defRPr>
            </a:lvl8pPr>
            <a:lvl9pPr algn="ctr">
              <a:defRPr sz="900" b="1" i="0">
                <a:solidFill>
                  <a:srgbClr val="073E35"/>
                </a:solidFill>
                <a:latin typeface="Avenir Next"/>
                <a:ea typeface="Avenir Next"/>
                <a:cs typeface="Avenir Next"/>
              </a:defRPr>
            </a:lvl9pPr>
          </a:lstStyle>
          <a:p xmlns:a="http://schemas.openxmlformats.org/drawingml/2006/main">
            <a:pPr algn="ctr">
              <a:defRPr sz="900" b="1" i="0">
                <a:solidFill>
                  <a:srgbClr val="073E35"/>
                </a:solidFill>
                <a:latin typeface="Avenir Next"/>
                <a:ea typeface="Avenir Next"/>
                <a:cs typeface="Avenir Next"/>
              </a:defRPr>
            </a:pPr>
            <a:r>
              <a:rPr sz="900" b="1" i="0">
                <a:solidFill>
                  <a:srgbClr val="073E35"/>
                </a:solidFill>
                <a:latin typeface="Avenir Next"/>
                <a:ea typeface="Avenir Next"/>
                <a:cs typeface="Avenir Next"/>
              </a:rPr>
              <a:t>SUNNYVALE · CALIFORNIA</a:t>
            </a:r>
          </a:p>
        </p:txBody>
      </p:sp>
      <p:sp>
        <p:nvSpPr>
          <p:cNvPr id="11" name="">
            <a:extLst xmlns:a="http://schemas.openxmlformats.org/drawingml/2006/main">
              <a:ext uri="{FF2B5EF4-FFF2-40B4-BE49-F238E27FC236}">
                <a16:creationId xmlns:a16="http://schemas.microsoft.com/office/drawing/2014/main" id="{8BDF6A11-DAF4-496F-8E56-0AEB21067D60}"/>
              </a:ext>
            </a:extLst>
          </p:cNvPr>
          <p:cNvSpPr>
            <a:spLocks xmlns:a="http://schemas.openxmlformats.org/drawingml/2006/main" noGrp="1"/>
          </p:cNvSpPr>
          <p:nvPr/>
        </p:nvSpPr>
        <p:spPr>
          <a:xfrm xmlns:a="http://schemas.openxmlformats.org/drawingml/2006/main">
            <a:off x="5715000" y="56197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60716D"/>
                </a:solidFill>
                <a:latin typeface="Avenir Next"/>
                <a:ea typeface="Avenir Next"/>
                <a:cs typeface="Avenir Next"/>
              </a:defRPr>
            </a:defPPr>
            <a:lvl1pPr algn="l">
              <a:defRPr sz="1050" b="1" i="0">
                <a:solidFill>
                  <a:srgbClr val="60716D"/>
                </a:solidFill>
                <a:latin typeface="Avenir Next"/>
                <a:ea typeface="Avenir Next"/>
                <a:cs typeface="Avenir Next"/>
              </a:defRPr>
            </a:lvl1pPr>
            <a:lvl2pPr algn="l">
              <a:defRPr sz="1050" b="1" i="0">
                <a:solidFill>
                  <a:srgbClr val="60716D"/>
                </a:solidFill>
                <a:latin typeface="Avenir Next"/>
                <a:ea typeface="Avenir Next"/>
                <a:cs typeface="Avenir Next"/>
              </a:defRPr>
            </a:lvl2pPr>
            <a:lvl3pPr algn="l">
              <a:defRPr sz="1050" b="1" i="0">
                <a:solidFill>
                  <a:srgbClr val="60716D"/>
                </a:solidFill>
                <a:latin typeface="Avenir Next"/>
                <a:ea typeface="Avenir Next"/>
                <a:cs typeface="Avenir Next"/>
              </a:defRPr>
            </a:lvl3pPr>
            <a:lvl4pPr algn="l">
              <a:defRPr sz="1050" b="1" i="0">
                <a:solidFill>
                  <a:srgbClr val="60716D"/>
                </a:solidFill>
                <a:latin typeface="Avenir Next"/>
                <a:ea typeface="Avenir Next"/>
                <a:cs typeface="Avenir Next"/>
              </a:defRPr>
            </a:lvl4pPr>
            <a:lvl5pPr algn="l">
              <a:defRPr sz="1050" b="1" i="0">
                <a:solidFill>
                  <a:srgbClr val="60716D"/>
                </a:solidFill>
                <a:latin typeface="Avenir Next"/>
                <a:ea typeface="Avenir Next"/>
                <a:cs typeface="Avenir Next"/>
              </a:defRPr>
            </a:lvl5pPr>
            <a:lvl6pPr algn="l">
              <a:defRPr sz="1050" b="1" i="0">
                <a:solidFill>
                  <a:srgbClr val="60716D"/>
                </a:solidFill>
                <a:latin typeface="Avenir Next"/>
                <a:ea typeface="Avenir Next"/>
                <a:cs typeface="Avenir Next"/>
              </a:defRPr>
            </a:lvl6pPr>
            <a:lvl7pPr algn="l">
              <a:defRPr sz="1050" b="1" i="0">
                <a:solidFill>
                  <a:srgbClr val="60716D"/>
                </a:solidFill>
                <a:latin typeface="Avenir Next"/>
                <a:ea typeface="Avenir Next"/>
                <a:cs typeface="Avenir Next"/>
              </a:defRPr>
            </a:lvl7pPr>
            <a:lvl8pPr algn="l">
              <a:defRPr sz="1050" b="1" i="0">
                <a:solidFill>
                  <a:srgbClr val="60716D"/>
                </a:solidFill>
                <a:latin typeface="Avenir Next"/>
                <a:ea typeface="Avenir Next"/>
                <a:cs typeface="Avenir Next"/>
              </a:defRPr>
            </a:lvl8pPr>
            <a:lvl9pPr algn="l">
              <a:defRPr sz="1050" b="1" i="0">
                <a:solidFill>
                  <a:srgbClr val="60716D"/>
                </a:solidFill>
                <a:latin typeface="Avenir Next"/>
                <a:ea typeface="Avenir Next"/>
                <a:cs typeface="Avenir Next"/>
              </a:defRPr>
            </a:lvl9pPr>
          </a:lstStyle>
          <a:p xmlns:a="http://schemas.openxmlformats.org/drawingml/2006/main">
            <a:pPr algn="l">
              <a:defRPr sz="1050" b="1" i="0">
                <a:solidFill>
                  <a:srgbClr val="60716D"/>
                </a:solidFill>
                <a:latin typeface="Avenir Next"/>
                <a:ea typeface="Avenir Next"/>
                <a:cs typeface="Avenir Next"/>
              </a:defRPr>
            </a:pPr>
            <a:r>
              <a:rPr sz="1050" b="1" i="0">
                <a:solidFill>
                  <a:srgbClr val="60716D"/>
                </a:solidFill>
                <a:latin typeface="Avenir Next"/>
                <a:ea typeface="Avenir Next"/>
                <a:cs typeface="Avenir Next"/>
              </a:rPr>
              <a:t>WEB · MOBILE · BROWSER GUIDE</a:t>
            </a:r>
          </a:p>
        </p:txBody>
      </p:sp>
    </p:spTree>
    <p:extLst>
      <p:ext uri="{BB962C8B-B14F-4D97-AF65-F5344CB8AC3E}">
        <p14:creationId xmlns:p14="http://schemas.microsoft.com/office/powerpoint/2010/main" val="1536982790"/>
      </p:ext>
    </p:extLst>
  </p:cSld>
</p:sld>
</file>

<file path=ppt/slides/slide2.xml><?xml version="1.0" encoding="utf-8"?>
<p:sld xmlns:p="http://schemas.openxmlformats.org/presentationml/2006/main">
  <p:cSld>
    <p:bg>
      <p:bgPr>
        <a:solidFill xmlns:a="http://schemas.openxmlformats.org/drawingml/2006/main">
          <a:srgbClr val="0C4B4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3ED2E01-3450-4303-925A-FBDA5D46BFF5}"/>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7F1E7"/>
                </a:solidFill>
                <a:latin typeface="Avenir Next"/>
                <a:ea typeface="Avenir Next"/>
                <a:cs typeface="Avenir Next"/>
              </a:defRPr>
            </a:defPPr>
            <a:lvl1pPr algn="l">
              <a:defRPr sz="1350" b="1" i="0">
                <a:solidFill>
                  <a:srgbClr val="F7F1E7"/>
                </a:solidFill>
                <a:latin typeface="Avenir Next"/>
                <a:ea typeface="Avenir Next"/>
                <a:cs typeface="Avenir Next"/>
              </a:defRPr>
            </a:lvl1pPr>
            <a:lvl2pPr algn="l">
              <a:defRPr sz="1350" b="1" i="0">
                <a:solidFill>
                  <a:srgbClr val="F7F1E7"/>
                </a:solidFill>
                <a:latin typeface="Avenir Next"/>
                <a:ea typeface="Avenir Next"/>
                <a:cs typeface="Avenir Next"/>
              </a:defRPr>
            </a:lvl2pPr>
            <a:lvl3pPr algn="l">
              <a:defRPr sz="1350" b="1" i="0">
                <a:solidFill>
                  <a:srgbClr val="F7F1E7"/>
                </a:solidFill>
                <a:latin typeface="Avenir Next"/>
                <a:ea typeface="Avenir Next"/>
                <a:cs typeface="Avenir Next"/>
              </a:defRPr>
            </a:lvl3pPr>
            <a:lvl4pPr algn="l">
              <a:defRPr sz="1350" b="1" i="0">
                <a:solidFill>
                  <a:srgbClr val="F7F1E7"/>
                </a:solidFill>
                <a:latin typeface="Avenir Next"/>
                <a:ea typeface="Avenir Next"/>
                <a:cs typeface="Avenir Next"/>
              </a:defRPr>
            </a:lvl4pPr>
            <a:lvl5pPr algn="l">
              <a:defRPr sz="1350" b="1" i="0">
                <a:solidFill>
                  <a:srgbClr val="F7F1E7"/>
                </a:solidFill>
                <a:latin typeface="Avenir Next"/>
                <a:ea typeface="Avenir Next"/>
                <a:cs typeface="Avenir Next"/>
              </a:defRPr>
            </a:lvl5pPr>
            <a:lvl6pPr algn="l">
              <a:defRPr sz="1350" b="1" i="0">
                <a:solidFill>
                  <a:srgbClr val="F7F1E7"/>
                </a:solidFill>
                <a:latin typeface="Avenir Next"/>
                <a:ea typeface="Avenir Next"/>
                <a:cs typeface="Avenir Next"/>
              </a:defRPr>
            </a:lvl6pPr>
            <a:lvl7pPr algn="l">
              <a:defRPr sz="1350" b="1" i="0">
                <a:solidFill>
                  <a:srgbClr val="F7F1E7"/>
                </a:solidFill>
                <a:latin typeface="Avenir Next"/>
                <a:ea typeface="Avenir Next"/>
                <a:cs typeface="Avenir Next"/>
              </a:defRPr>
            </a:lvl7pPr>
            <a:lvl8pPr algn="l">
              <a:defRPr sz="1350" b="1" i="0">
                <a:solidFill>
                  <a:srgbClr val="F7F1E7"/>
                </a:solidFill>
                <a:latin typeface="Avenir Next"/>
                <a:ea typeface="Avenir Next"/>
                <a:cs typeface="Avenir Next"/>
              </a:defRPr>
            </a:lvl8pPr>
            <a:lvl9pPr algn="l">
              <a:defRPr sz="1350" b="1" i="0">
                <a:solidFill>
                  <a:srgbClr val="F7F1E7"/>
                </a:solidFill>
                <a:latin typeface="Avenir Next"/>
                <a:ea typeface="Avenir Next"/>
                <a:cs typeface="Avenir Next"/>
              </a:defRPr>
            </a:lvl9pPr>
          </a:lstStyle>
          <a:p xmlns:a="http://schemas.openxmlformats.org/drawingml/2006/main">
            <a:pPr algn="l">
              <a:defRPr sz="1350" b="1" i="0">
                <a:solidFill>
                  <a:srgbClr val="F7F1E7"/>
                </a:solidFill>
                <a:latin typeface="Avenir Next"/>
                <a:ea typeface="Avenir Next"/>
                <a:cs typeface="Avenir Next"/>
              </a:defRPr>
            </a:pPr>
            <a:r>
              <a:rPr sz="1350" b="1" i="0">
                <a:solidFill>
                  <a:srgbClr val="F7F1E7"/>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99497102-9197-4A10-906C-FC3FCEB1E401}"/>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BEDBCF"/>
                </a:solidFill>
                <a:latin typeface="Avenir Next"/>
                <a:ea typeface="Avenir Next"/>
                <a:cs typeface="Avenir Next"/>
              </a:defRPr>
            </a:defPPr>
            <a:lvl1pPr algn="l">
              <a:defRPr sz="750" b="1" i="0">
                <a:solidFill>
                  <a:srgbClr val="BEDBCF"/>
                </a:solidFill>
                <a:latin typeface="Avenir Next"/>
                <a:ea typeface="Avenir Next"/>
                <a:cs typeface="Avenir Next"/>
              </a:defRPr>
            </a:lvl1pPr>
            <a:lvl2pPr algn="l">
              <a:defRPr sz="750" b="1" i="0">
                <a:solidFill>
                  <a:srgbClr val="BEDBCF"/>
                </a:solidFill>
                <a:latin typeface="Avenir Next"/>
                <a:ea typeface="Avenir Next"/>
                <a:cs typeface="Avenir Next"/>
              </a:defRPr>
            </a:lvl2pPr>
            <a:lvl3pPr algn="l">
              <a:defRPr sz="750" b="1" i="0">
                <a:solidFill>
                  <a:srgbClr val="BEDBCF"/>
                </a:solidFill>
                <a:latin typeface="Avenir Next"/>
                <a:ea typeface="Avenir Next"/>
                <a:cs typeface="Avenir Next"/>
              </a:defRPr>
            </a:lvl3pPr>
            <a:lvl4pPr algn="l">
              <a:defRPr sz="750" b="1" i="0">
                <a:solidFill>
                  <a:srgbClr val="BEDBCF"/>
                </a:solidFill>
                <a:latin typeface="Avenir Next"/>
                <a:ea typeface="Avenir Next"/>
                <a:cs typeface="Avenir Next"/>
              </a:defRPr>
            </a:lvl4pPr>
            <a:lvl5pPr algn="l">
              <a:defRPr sz="750" b="1" i="0">
                <a:solidFill>
                  <a:srgbClr val="BEDBCF"/>
                </a:solidFill>
                <a:latin typeface="Avenir Next"/>
                <a:ea typeface="Avenir Next"/>
                <a:cs typeface="Avenir Next"/>
              </a:defRPr>
            </a:lvl5pPr>
            <a:lvl6pPr algn="l">
              <a:defRPr sz="750" b="1" i="0">
                <a:solidFill>
                  <a:srgbClr val="BEDBCF"/>
                </a:solidFill>
                <a:latin typeface="Avenir Next"/>
                <a:ea typeface="Avenir Next"/>
                <a:cs typeface="Avenir Next"/>
              </a:defRPr>
            </a:lvl6pPr>
            <a:lvl7pPr algn="l">
              <a:defRPr sz="750" b="1" i="0">
                <a:solidFill>
                  <a:srgbClr val="BEDBCF"/>
                </a:solidFill>
                <a:latin typeface="Avenir Next"/>
                <a:ea typeface="Avenir Next"/>
                <a:cs typeface="Avenir Next"/>
              </a:defRPr>
            </a:lvl7pPr>
            <a:lvl8pPr algn="l">
              <a:defRPr sz="750" b="1" i="0">
                <a:solidFill>
                  <a:srgbClr val="BEDBCF"/>
                </a:solidFill>
                <a:latin typeface="Avenir Next"/>
                <a:ea typeface="Avenir Next"/>
                <a:cs typeface="Avenir Next"/>
              </a:defRPr>
            </a:lvl8pPr>
            <a:lvl9pPr algn="l">
              <a:defRPr sz="750" b="1" i="0">
                <a:solidFill>
                  <a:srgbClr val="BEDBCF"/>
                </a:solidFill>
                <a:latin typeface="Avenir Next"/>
                <a:ea typeface="Avenir Next"/>
                <a:cs typeface="Avenir Next"/>
              </a:defRPr>
            </a:lvl9pPr>
          </a:lstStyle>
          <a:p xmlns:a="http://schemas.openxmlformats.org/drawingml/2006/main">
            <a:pPr algn="l">
              <a:defRPr sz="750" b="1" i="0">
                <a:solidFill>
                  <a:srgbClr val="BEDBCF"/>
                </a:solidFill>
                <a:latin typeface="Avenir Next"/>
                <a:ea typeface="Avenir Next"/>
                <a:cs typeface="Avenir Next"/>
              </a:defRPr>
            </a:pPr>
            <a:r>
              <a:rPr sz="750" b="1" i="0">
                <a:solidFill>
                  <a:srgbClr val="BEDBCF"/>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4949D6C3-3FF4-4866-8779-5A265ED44941}"/>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B08C"/>
                </a:solidFill>
                <a:latin typeface="Avenir Next"/>
                <a:ea typeface="Avenir Next"/>
                <a:cs typeface="Avenir Next"/>
              </a:defRPr>
            </a:defPPr>
            <a:lvl1pPr algn="r">
              <a:defRPr sz="975" b="1" i="0">
                <a:solidFill>
                  <a:srgbClr val="FFB08C"/>
                </a:solidFill>
                <a:latin typeface="Avenir Next"/>
                <a:ea typeface="Avenir Next"/>
                <a:cs typeface="Avenir Next"/>
              </a:defRPr>
            </a:lvl1pPr>
            <a:lvl2pPr algn="r">
              <a:defRPr sz="975" b="1" i="0">
                <a:solidFill>
                  <a:srgbClr val="FFB08C"/>
                </a:solidFill>
                <a:latin typeface="Avenir Next"/>
                <a:ea typeface="Avenir Next"/>
                <a:cs typeface="Avenir Next"/>
              </a:defRPr>
            </a:lvl2pPr>
            <a:lvl3pPr algn="r">
              <a:defRPr sz="975" b="1" i="0">
                <a:solidFill>
                  <a:srgbClr val="FFB08C"/>
                </a:solidFill>
                <a:latin typeface="Avenir Next"/>
                <a:ea typeface="Avenir Next"/>
                <a:cs typeface="Avenir Next"/>
              </a:defRPr>
            </a:lvl3pPr>
            <a:lvl4pPr algn="r">
              <a:defRPr sz="975" b="1" i="0">
                <a:solidFill>
                  <a:srgbClr val="FFB08C"/>
                </a:solidFill>
                <a:latin typeface="Avenir Next"/>
                <a:ea typeface="Avenir Next"/>
                <a:cs typeface="Avenir Next"/>
              </a:defRPr>
            </a:lvl4pPr>
            <a:lvl5pPr algn="r">
              <a:defRPr sz="975" b="1" i="0">
                <a:solidFill>
                  <a:srgbClr val="FFB08C"/>
                </a:solidFill>
                <a:latin typeface="Avenir Next"/>
                <a:ea typeface="Avenir Next"/>
                <a:cs typeface="Avenir Next"/>
              </a:defRPr>
            </a:lvl5pPr>
            <a:lvl6pPr algn="r">
              <a:defRPr sz="975" b="1" i="0">
                <a:solidFill>
                  <a:srgbClr val="FFB08C"/>
                </a:solidFill>
                <a:latin typeface="Avenir Next"/>
                <a:ea typeface="Avenir Next"/>
                <a:cs typeface="Avenir Next"/>
              </a:defRPr>
            </a:lvl6pPr>
            <a:lvl7pPr algn="r">
              <a:defRPr sz="975" b="1" i="0">
                <a:solidFill>
                  <a:srgbClr val="FFB08C"/>
                </a:solidFill>
                <a:latin typeface="Avenir Next"/>
                <a:ea typeface="Avenir Next"/>
                <a:cs typeface="Avenir Next"/>
              </a:defRPr>
            </a:lvl7pPr>
            <a:lvl8pPr algn="r">
              <a:defRPr sz="975" b="1" i="0">
                <a:solidFill>
                  <a:srgbClr val="FFB08C"/>
                </a:solidFill>
                <a:latin typeface="Avenir Next"/>
                <a:ea typeface="Avenir Next"/>
                <a:cs typeface="Avenir Next"/>
              </a:defRPr>
            </a:lvl8pPr>
            <a:lvl9pPr algn="r">
              <a:defRPr sz="975" b="1" i="0">
                <a:solidFill>
                  <a:srgbClr val="FFB08C"/>
                </a:solidFill>
                <a:latin typeface="Avenir Next"/>
                <a:ea typeface="Avenir Next"/>
                <a:cs typeface="Avenir Next"/>
              </a:defRPr>
            </a:lvl9pPr>
          </a:lstStyle>
          <a:p xmlns:a="http://schemas.openxmlformats.org/drawingml/2006/main">
            <a:pPr algn="r">
              <a:defRPr sz="975" b="1" i="0">
                <a:solidFill>
                  <a:srgbClr val="FFB08C"/>
                </a:solidFill>
                <a:latin typeface="Avenir Next"/>
                <a:ea typeface="Avenir Next"/>
                <a:cs typeface="Avenir Next"/>
              </a:defRPr>
            </a:pPr>
            <a:r>
              <a:rPr sz="975" b="1" i="0">
                <a:solidFill>
                  <a:srgbClr val="FFB08C"/>
                </a:solidFill>
                <a:latin typeface="Avenir Next"/>
                <a:ea typeface="Avenir Next"/>
                <a:cs typeface="Avenir Next"/>
              </a:rPr>
              <a:t>02</a:t>
            </a:r>
          </a:p>
        </p:txBody>
      </p:sp>
      <p:sp>
        <p:nvSpPr>
          <p:cNvPr id="4" name="">
            <a:extLst xmlns:a="http://schemas.openxmlformats.org/drawingml/2006/main">
              <a:ext uri="{FF2B5EF4-FFF2-40B4-BE49-F238E27FC236}">
                <a16:creationId xmlns:a16="http://schemas.microsoft.com/office/drawing/2014/main" id="{A9C4C7AD-AFB2-4A0F-8C3C-7525AF150143}"/>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F7F1E7"/>
                </a:solidFill>
                <a:latin typeface="Avenir Next"/>
                <a:ea typeface="Avenir Next"/>
                <a:cs typeface="Avenir Next"/>
              </a:defRPr>
            </a:defPPr>
            <a:lvl1pPr algn="l">
              <a:defRPr sz="3150" b="1" i="0">
                <a:solidFill>
                  <a:srgbClr val="F7F1E7"/>
                </a:solidFill>
                <a:latin typeface="Avenir Next"/>
                <a:ea typeface="Avenir Next"/>
                <a:cs typeface="Avenir Next"/>
              </a:defRPr>
            </a:lvl1pPr>
            <a:lvl2pPr algn="l">
              <a:defRPr sz="3150" b="1" i="0">
                <a:solidFill>
                  <a:srgbClr val="F7F1E7"/>
                </a:solidFill>
                <a:latin typeface="Avenir Next"/>
                <a:ea typeface="Avenir Next"/>
                <a:cs typeface="Avenir Next"/>
              </a:defRPr>
            </a:lvl2pPr>
            <a:lvl3pPr algn="l">
              <a:defRPr sz="3150" b="1" i="0">
                <a:solidFill>
                  <a:srgbClr val="F7F1E7"/>
                </a:solidFill>
                <a:latin typeface="Avenir Next"/>
                <a:ea typeface="Avenir Next"/>
                <a:cs typeface="Avenir Next"/>
              </a:defRPr>
            </a:lvl3pPr>
            <a:lvl4pPr algn="l">
              <a:defRPr sz="3150" b="1" i="0">
                <a:solidFill>
                  <a:srgbClr val="F7F1E7"/>
                </a:solidFill>
                <a:latin typeface="Avenir Next"/>
                <a:ea typeface="Avenir Next"/>
                <a:cs typeface="Avenir Next"/>
              </a:defRPr>
            </a:lvl4pPr>
            <a:lvl5pPr algn="l">
              <a:defRPr sz="3150" b="1" i="0">
                <a:solidFill>
                  <a:srgbClr val="F7F1E7"/>
                </a:solidFill>
                <a:latin typeface="Avenir Next"/>
                <a:ea typeface="Avenir Next"/>
                <a:cs typeface="Avenir Next"/>
              </a:defRPr>
            </a:lvl5pPr>
            <a:lvl6pPr algn="l">
              <a:defRPr sz="3150" b="1" i="0">
                <a:solidFill>
                  <a:srgbClr val="F7F1E7"/>
                </a:solidFill>
                <a:latin typeface="Avenir Next"/>
                <a:ea typeface="Avenir Next"/>
                <a:cs typeface="Avenir Next"/>
              </a:defRPr>
            </a:lvl6pPr>
            <a:lvl7pPr algn="l">
              <a:defRPr sz="3150" b="1" i="0">
                <a:solidFill>
                  <a:srgbClr val="F7F1E7"/>
                </a:solidFill>
                <a:latin typeface="Avenir Next"/>
                <a:ea typeface="Avenir Next"/>
                <a:cs typeface="Avenir Next"/>
              </a:defRPr>
            </a:lvl7pPr>
            <a:lvl8pPr algn="l">
              <a:defRPr sz="3150" b="1" i="0">
                <a:solidFill>
                  <a:srgbClr val="F7F1E7"/>
                </a:solidFill>
                <a:latin typeface="Avenir Next"/>
                <a:ea typeface="Avenir Next"/>
                <a:cs typeface="Avenir Next"/>
              </a:defRPr>
            </a:lvl8pPr>
            <a:lvl9pPr algn="l">
              <a:defRPr sz="3150" b="1" i="0">
                <a:solidFill>
                  <a:srgbClr val="F7F1E7"/>
                </a:solidFill>
                <a:latin typeface="Avenir Next"/>
                <a:ea typeface="Avenir Next"/>
                <a:cs typeface="Avenir Next"/>
              </a:defRPr>
            </a:lvl9pPr>
          </a:lstStyle>
          <a:p xmlns:a="http://schemas.openxmlformats.org/drawingml/2006/main">
            <a:pPr algn="l">
              <a:defRPr sz="3150" b="1" i="0">
                <a:solidFill>
                  <a:srgbClr val="F7F1E7"/>
                </a:solidFill>
                <a:latin typeface="Avenir Next"/>
                <a:ea typeface="Avenir Next"/>
                <a:cs typeface="Avenir Next"/>
              </a:defRPr>
            </a:pPr>
            <a:r>
              <a:rPr sz="3150" b="1" i="0">
                <a:solidFill>
                  <a:srgbClr val="F7F1E7"/>
                </a:solidFill>
                <a:latin typeface="Avenir Next"/>
                <a:ea typeface="Avenir Next"/>
                <a:cs typeface="Avenir Next"/>
              </a:rPr>
              <a:t>The benefit access gap is measurable</a:t>
            </a:r>
          </a:p>
        </p:txBody>
      </p:sp>
      <p:sp>
        <p:nvSpPr>
          <p:cNvPr id="5" name="">
            <a:extLst xmlns:a="http://schemas.openxmlformats.org/drawingml/2006/main">
              <a:ext uri="{FF2B5EF4-FFF2-40B4-BE49-F238E27FC236}">
                <a16:creationId xmlns:a16="http://schemas.microsoft.com/office/drawing/2014/main" id="{77B806E3-7854-4CA0-BF85-854EACD2830C}"/>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BEDBCF"/>
                </a:solidFill>
                <a:latin typeface="Avenir Next"/>
                <a:ea typeface="Avenir Next"/>
                <a:cs typeface="Avenir Next"/>
              </a:defRPr>
            </a:defPPr>
            <a:lvl1pPr algn="l">
              <a:defRPr sz="1500" b="0" i="0">
                <a:solidFill>
                  <a:srgbClr val="BEDBCF"/>
                </a:solidFill>
                <a:latin typeface="Avenir Next"/>
                <a:ea typeface="Avenir Next"/>
                <a:cs typeface="Avenir Next"/>
              </a:defRPr>
            </a:lvl1pPr>
            <a:lvl2pPr algn="l">
              <a:defRPr sz="1500" b="0" i="0">
                <a:solidFill>
                  <a:srgbClr val="BEDBCF"/>
                </a:solidFill>
                <a:latin typeface="Avenir Next"/>
                <a:ea typeface="Avenir Next"/>
                <a:cs typeface="Avenir Next"/>
              </a:defRPr>
            </a:lvl2pPr>
            <a:lvl3pPr algn="l">
              <a:defRPr sz="1500" b="0" i="0">
                <a:solidFill>
                  <a:srgbClr val="BEDBCF"/>
                </a:solidFill>
                <a:latin typeface="Avenir Next"/>
                <a:ea typeface="Avenir Next"/>
                <a:cs typeface="Avenir Next"/>
              </a:defRPr>
            </a:lvl3pPr>
            <a:lvl4pPr algn="l">
              <a:defRPr sz="1500" b="0" i="0">
                <a:solidFill>
                  <a:srgbClr val="BEDBCF"/>
                </a:solidFill>
                <a:latin typeface="Avenir Next"/>
                <a:ea typeface="Avenir Next"/>
                <a:cs typeface="Avenir Next"/>
              </a:defRPr>
            </a:lvl4pPr>
            <a:lvl5pPr algn="l">
              <a:defRPr sz="1500" b="0" i="0">
                <a:solidFill>
                  <a:srgbClr val="BEDBCF"/>
                </a:solidFill>
                <a:latin typeface="Avenir Next"/>
                <a:ea typeface="Avenir Next"/>
                <a:cs typeface="Avenir Next"/>
              </a:defRPr>
            </a:lvl5pPr>
            <a:lvl6pPr algn="l">
              <a:defRPr sz="1500" b="0" i="0">
                <a:solidFill>
                  <a:srgbClr val="BEDBCF"/>
                </a:solidFill>
                <a:latin typeface="Avenir Next"/>
                <a:ea typeface="Avenir Next"/>
                <a:cs typeface="Avenir Next"/>
              </a:defRPr>
            </a:lvl6pPr>
            <a:lvl7pPr algn="l">
              <a:defRPr sz="1500" b="0" i="0">
                <a:solidFill>
                  <a:srgbClr val="BEDBCF"/>
                </a:solidFill>
                <a:latin typeface="Avenir Next"/>
                <a:ea typeface="Avenir Next"/>
                <a:cs typeface="Avenir Next"/>
              </a:defRPr>
            </a:lvl7pPr>
            <a:lvl8pPr algn="l">
              <a:defRPr sz="1500" b="0" i="0">
                <a:solidFill>
                  <a:srgbClr val="BEDBCF"/>
                </a:solidFill>
                <a:latin typeface="Avenir Next"/>
                <a:ea typeface="Avenir Next"/>
                <a:cs typeface="Avenir Next"/>
              </a:defRPr>
            </a:lvl8pPr>
            <a:lvl9pPr algn="l">
              <a:defRPr sz="1500" b="0" i="0">
                <a:solidFill>
                  <a:srgbClr val="BEDBCF"/>
                </a:solidFill>
                <a:latin typeface="Avenir Next"/>
                <a:ea typeface="Avenir Next"/>
                <a:cs typeface="Avenir Next"/>
              </a:defRPr>
            </a:lvl9pPr>
          </a:lstStyle>
          <a:p xmlns:a="http://schemas.openxmlformats.org/drawingml/2006/main">
            <a:pPr algn="l">
              <a:defRPr sz="1500" b="0" i="0">
                <a:solidFill>
                  <a:srgbClr val="BEDBCF"/>
                </a:solidFill>
                <a:latin typeface="Avenir Next"/>
                <a:ea typeface="Avenir Next"/>
                <a:cs typeface="Avenir Next"/>
              </a:defRPr>
            </a:pPr>
            <a:r>
              <a:rPr sz="1500" b="0" i="0">
                <a:solidFill>
                  <a:srgbClr val="BEDBCF"/>
                </a:solidFill>
                <a:latin typeface="Avenir Next"/>
                <a:ea typeface="Avenir Next"/>
                <a:cs typeface="Avenir Next"/>
              </a:rPr>
              <a:t>NCOA estimates for older adults use 2023 participation data and published average benefit values.</a:t>
            </a:r>
          </a:p>
        </p:txBody>
      </p:sp>
      <p:sp>
        <p:nvSpPr>
          <p:cNvPr id="6" name="">
            <a:extLst xmlns:a="http://schemas.openxmlformats.org/drawingml/2006/main">
              <a:ext uri="{FF2B5EF4-FFF2-40B4-BE49-F238E27FC236}">
                <a16:creationId xmlns:a16="http://schemas.microsoft.com/office/drawing/2014/main" id="{CB216F5E-15D0-46C7-A938-A444CEA1B57D}"/>
              </a:ext>
            </a:extLst>
          </p:cNvPr>
          <p:cNvSpPr>
            <a:spLocks xmlns:a="http://schemas.openxmlformats.org/drawingml/2006/main" noGrp="1"/>
          </p:cNvSpPr>
          <p:nvPr/>
        </p:nvSpPr>
        <p:spPr>
          <a:xfrm xmlns:a="http://schemas.openxmlformats.org/drawingml/2006/main">
            <a:off x="685800" y="2571750"/>
            <a:ext cx="3048000" cy="2476500"/>
          </a:xfrm>
          <a:prstGeom xmlns:a="http://schemas.openxmlformats.org/drawingml/2006/main" prst="roundRect">
            <a:avLst>
              <a:gd name="adj" fmla="val 4615"/>
            </a:avLst>
          </a:prstGeom>
          <a:solidFill xmlns:a="http://schemas.openxmlformats.org/drawingml/2006/main">
            <a:srgbClr val="FFFD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EE7F59A-11CF-4B89-AC01-8DEDEB2D9AE9}"/>
              </a:ext>
            </a:extLst>
          </p:cNvPr>
          <p:cNvSpPr>
            <a:spLocks xmlns:a="http://schemas.openxmlformats.org/drawingml/2006/main" noGrp="1"/>
          </p:cNvSpPr>
          <p:nvPr/>
        </p:nvSpPr>
        <p:spPr>
          <a:xfrm xmlns:a="http://schemas.openxmlformats.org/drawingml/2006/main">
            <a:off x="952500" y="2876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SANTA CLARA COUNTY</a:t>
            </a:r>
          </a:p>
        </p:txBody>
      </p:sp>
      <p:sp>
        <p:nvSpPr>
          <p:cNvPr id="8" name="">
            <a:extLst xmlns:a="http://schemas.openxmlformats.org/drawingml/2006/main">
              <a:ext uri="{FF2B5EF4-FFF2-40B4-BE49-F238E27FC236}">
                <a16:creationId xmlns:a16="http://schemas.microsoft.com/office/drawing/2014/main" id="{702FF7B5-9890-45E3-BE15-DFAE21926B5F}"/>
              </a:ext>
            </a:extLst>
          </p:cNvPr>
          <p:cNvSpPr>
            <a:spLocks xmlns:a="http://schemas.openxmlformats.org/drawingml/2006/main" noGrp="1"/>
          </p:cNvSpPr>
          <p:nvPr/>
        </p:nvSpPr>
        <p:spPr>
          <a:xfrm xmlns:a="http://schemas.openxmlformats.org/drawingml/2006/main">
            <a:off x="952500" y="33337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73E35"/>
                </a:solidFill>
                <a:latin typeface="Avenir Next"/>
                <a:ea typeface="Avenir Next"/>
                <a:cs typeface="Avenir Next"/>
              </a:defRPr>
            </a:defPPr>
            <a:lvl1pPr algn="l">
              <a:defRPr sz="2850" b="1" i="0">
                <a:solidFill>
                  <a:srgbClr val="073E35"/>
                </a:solidFill>
                <a:latin typeface="Avenir Next"/>
                <a:ea typeface="Avenir Next"/>
                <a:cs typeface="Avenir Next"/>
              </a:defRPr>
            </a:lvl1pPr>
            <a:lvl2pPr algn="l">
              <a:defRPr sz="2850" b="1" i="0">
                <a:solidFill>
                  <a:srgbClr val="073E35"/>
                </a:solidFill>
                <a:latin typeface="Avenir Next"/>
                <a:ea typeface="Avenir Next"/>
                <a:cs typeface="Avenir Next"/>
              </a:defRPr>
            </a:lvl2pPr>
            <a:lvl3pPr algn="l">
              <a:defRPr sz="2850" b="1" i="0">
                <a:solidFill>
                  <a:srgbClr val="073E35"/>
                </a:solidFill>
                <a:latin typeface="Avenir Next"/>
                <a:ea typeface="Avenir Next"/>
                <a:cs typeface="Avenir Next"/>
              </a:defRPr>
            </a:lvl3pPr>
            <a:lvl4pPr algn="l">
              <a:defRPr sz="2850" b="1" i="0">
                <a:solidFill>
                  <a:srgbClr val="073E35"/>
                </a:solidFill>
                <a:latin typeface="Avenir Next"/>
                <a:ea typeface="Avenir Next"/>
                <a:cs typeface="Avenir Next"/>
              </a:defRPr>
            </a:lvl4pPr>
            <a:lvl5pPr algn="l">
              <a:defRPr sz="2850" b="1" i="0">
                <a:solidFill>
                  <a:srgbClr val="073E35"/>
                </a:solidFill>
                <a:latin typeface="Avenir Next"/>
                <a:ea typeface="Avenir Next"/>
                <a:cs typeface="Avenir Next"/>
              </a:defRPr>
            </a:lvl5pPr>
            <a:lvl6pPr algn="l">
              <a:defRPr sz="2850" b="1" i="0">
                <a:solidFill>
                  <a:srgbClr val="073E35"/>
                </a:solidFill>
                <a:latin typeface="Avenir Next"/>
                <a:ea typeface="Avenir Next"/>
                <a:cs typeface="Avenir Next"/>
              </a:defRPr>
            </a:lvl6pPr>
            <a:lvl7pPr algn="l">
              <a:defRPr sz="2850" b="1" i="0">
                <a:solidFill>
                  <a:srgbClr val="073E35"/>
                </a:solidFill>
                <a:latin typeface="Avenir Next"/>
                <a:ea typeface="Avenir Next"/>
                <a:cs typeface="Avenir Next"/>
              </a:defRPr>
            </a:lvl7pPr>
            <a:lvl8pPr algn="l">
              <a:defRPr sz="2850" b="1" i="0">
                <a:solidFill>
                  <a:srgbClr val="073E35"/>
                </a:solidFill>
                <a:latin typeface="Avenir Next"/>
                <a:ea typeface="Avenir Next"/>
                <a:cs typeface="Avenir Next"/>
              </a:defRPr>
            </a:lvl8pPr>
            <a:lvl9pPr algn="l">
              <a:defRPr sz="2850" b="1" i="0">
                <a:solidFill>
                  <a:srgbClr val="073E35"/>
                </a:solidFill>
                <a:latin typeface="Avenir Next"/>
                <a:ea typeface="Avenir Next"/>
                <a:cs typeface="Avenir Next"/>
              </a:defRPr>
            </a:lvl9pPr>
          </a:lstStyle>
          <a:p xmlns:a="http://schemas.openxmlformats.org/drawingml/2006/main">
            <a:pPr algn="l">
              <a:defRPr sz="2850" b="1" i="0">
                <a:solidFill>
                  <a:srgbClr val="073E35"/>
                </a:solidFill>
                <a:latin typeface="Avenir Next"/>
                <a:ea typeface="Avenir Next"/>
                <a:cs typeface="Avenir Next"/>
              </a:defRPr>
            </a:pPr>
            <a:r>
              <a:rPr sz="2850" b="1" i="0">
                <a:solidFill>
                  <a:srgbClr val="073E35"/>
                </a:solidFill>
                <a:latin typeface="Avenir Next"/>
                <a:ea typeface="Avenir Next"/>
                <a:cs typeface="Avenir Next"/>
              </a:rPr>
              <a:t>≈ $318M</a:t>
            </a:r>
          </a:p>
        </p:txBody>
      </p:sp>
      <p:sp>
        <p:nvSpPr>
          <p:cNvPr id="9" name="">
            <a:extLst xmlns:a="http://schemas.openxmlformats.org/drawingml/2006/main">
              <a:ext uri="{FF2B5EF4-FFF2-40B4-BE49-F238E27FC236}">
                <a16:creationId xmlns:a16="http://schemas.microsoft.com/office/drawing/2014/main" id="{DF13F66A-CF8B-488B-A118-E1ED5A1F4E28}"/>
              </a:ext>
            </a:extLst>
          </p:cNvPr>
          <p:cNvSpPr>
            <a:spLocks xmlns:a="http://schemas.openxmlformats.org/drawingml/2006/main" noGrp="1"/>
          </p:cNvSpPr>
          <p:nvPr/>
        </p:nvSpPr>
        <p:spPr>
          <a:xfrm xmlns:a="http://schemas.openxmlformats.org/drawingml/2006/main">
            <a:off x="952500" y="43243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Estimated annual gap across SNAP, SSI, and Medicare Savings Programs</a:t>
            </a:r>
          </a:p>
        </p:txBody>
      </p:sp>
      <p:sp>
        <p:nvSpPr>
          <p:cNvPr id="10" name="">
            <a:extLst xmlns:a="http://schemas.openxmlformats.org/drawingml/2006/main">
              <a:ext uri="{FF2B5EF4-FFF2-40B4-BE49-F238E27FC236}">
                <a16:creationId xmlns:a16="http://schemas.microsoft.com/office/drawing/2014/main" id="{F58E46A2-E71E-4785-82D5-EC60C6DE5951}"/>
              </a:ext>
            </a:extLst>
          </p:cNvPr>
          <p:cNvSpPr>
            <a:spLocks xmlns:a="http://schemas.openxmlformats.org/drawingml/2006/main" noGrp="1"/>
          </p:cNvSpPr>
          <p:nvPr/>
        </p:nvSpPr>
        <p:spPr>
          <a:xfrm xmlns:a="http://schemas.openxmlformats.org/drawingml/2006/main">
            <a:off x="4114800" y="2571750"/>
            <a:ext cx="3048000" cy="2476500"/>
          </a:xfrm>
          <a:prstGeom xmlns:a="http://schemas.openxmlformats.org/drawingml/2006/main" prst="roundRect">
            <a:avLst>
              <a:gd name="adj" fmla="val 4615"/>
            </a:avLst>
          </a:prstGeom>
          <a:solidFill xmlns:a="http://schemas.openxmlformats.org/drawingml/2006/main">
            <a:srgbClr val="FFFD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5A305FA-C349-45B4-8945-9D3225DED2F1}"/>
              </a:ext>
            </a:extLst>
          </p:cNvPr>
          <p:cNvSpPr>
            <a:spLocks xmlns:a="http://schemas.openxmlformats.org/drawingml/2006/main" noGrp="1"/>
          </p:cNvSpPr>
          <p:nvPr/>
        </p:nvSpPr>
        <p:spPr>
          <a:xfrm xmlns:a="http://schemas.openxmlformats.org/drawingml/2006/main">
            <a:off x="4381500" y="2876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CALIFORNIA</a:t>
            </a:r>
          </a:p>
        </p:txBody>
      </p:sp>
      <p:sp>
        <p:nvSpPr>
          <p:cNvPr id="12" name="">
            <a:extLst xmlns:a="http://schemas.openxmlformats.org/drawingml/2006/main">
              <a:ext uri="{FF2B5EF4-FFF2-40B4-BE49-F238E27FC236}">
                <a16:creationId xmlns:a16="http://schemas.microsoft.com/office/drawing/2014/main" id="{5CAC1AE1-234E-4A23-A552-879785F8F616}"/>
              </a:ext>
            </a:extLst>
          </p:cNvPr>
          <p:cNvSpPr>
            <a:spLocks xmlns:a="http://schemas.openxmlformats.org/drawingml/2006/main" noGrp="1"/>
          </p:cNvSpPr>
          <p:nvPr/>
        </p:nvSpPr>
        <p:spPr>
          <a:xfrm xmlns:a="http://schemas.openxmlformats.org/drawingml/2006/main">
            <a:off x="4381500" y="33337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73E35"/>
                </a:solidFill>
                <a:latin typeface="Avenir Next"/>
                <a:ea typeface="Avenir Next"/>
                <a:cs typeface="Avenir Next"/>
              </a:defRPr>
            </a:defPPr>
            <a:lvl1pPr algn="l">
              <a:defRPr sz="2850" b="1" i="0">
                <a:solidFill>
                  <a:srgbClr val="073E35"/>
                </a:solidFill>
                <a:latin typeface="Avenir Next"/>
                <a:ea typeface="Avenir Next"/>
                <a:cs typeface="Avenir Next"/>
              </a:defRPr>
            </a:lvl1pPr>
            <a:lvl2pPr algn="l">
              <a:defRPr sz="2850" b="1" i="0">
                <a:solidFill>
                  <a:srgbClr val="073E35"/>
                </a:solidFill>
                <a:latin typeface="Avenir Next"/>
                <a:ea typeface="Avenir Next"/>
                <a:cs typeface="Avenir Next"/>
              </a:defRPr>
            </a:lvl2pPr>
            <a:lvl3pPr algn="l">
              <a:defRPr sz="2850" b="1" i="0">
                <a:solidFill>
                  <a:srgbClr val="073E35"/>
                </a:solidFill>
                <a:latin typeface="Avenir Next"/>
                <a:ea typeface="Avenir Next"/>
                <a:cs typeface="Avenir Next"/>
              </a:defRPr>
            </a:lvl3pPr>
            <a:lvl4pPr algn="l">
              <a:defRPr sz="2850" b="1" i="0">
                <a:solidFill>
                  <a:srgbClr val="073E35"/>
                </a:solidFill>
                <a:latin typeface="Avenir Next"/>
                <a:ea typeface="Avenir Next"/>
                <a:cs typeface="Avenir Next"/>
              </a:defRPr>
            </a:lvl4pPr>
            <a:lvl5pPr algn="l">
              <a:defRPr sz="2850" b="1" i="0">
                <a:solidFill>
                  <a:srgbClr val="073E35"/>
                </a:solidFill>
                <a:latin typeface="Avenir Next"/>
                <a:ea typeface="Avenir Next"/>
                <a:cs typeface="Avenir Next"/>
              </a:defRPr>
            </a:lvl5pPr>
            <a:lvl6pPr algn="l">
              <a:defRPr sz="2850" b="1" i="0">
                <a:solidFill>
                  <a:srgbClr val="073E35"/>
                </a:solidFill>
                <a:latin typeface="Avenir Next"/>
                <a:ea typeface="Avenir Next"/>
                <a:cs typeface="Avenir Next"/>
              </a:defRPr>
            </a:lvl6pPr>
            <a:lvl7pPr algn="l">
              <a:defRPr sz="2850" b="1" i="0">
                <a:solidFill>
                  <a:srgbClr val="073E35"/>
                </a:solidFill>
                <a:latin typeface="Avenir Next"/>
                <a:ea typeface="Avenir Next"/>
                <a:cs typeface="Avenir Next"/>
              </a:defRPr>
            </a:lvl7pPr>
            <a:lvl8pPr algn="l">
              <a:defRPr sz="2850" b="1" i="0">
                <a:solidFill>
                  <a:srgbClr val="073E35"/>
                </a:solidFill>
                <a:latin typeface="Avenir Next"/>
                <a:ea typeface="Avenir Next"/>
                <a:cs typeface="Avenir Next"/>
              </a:defRPr>
            </a:lvl8pPr>
            <a:lvl9pPr algn="l">
              <a:defRPr sz="2850" b="1" i="0">
                <a:solidFill>
                  <a:srgbClr val="073E35"/>
                </a:solidFill>
                <a:latin typeface="Avenir Next"/>
                <a:ea typeface="Avenir Next"/>
                <a:cs typeface="Avenir Next"/>
              </a:defRPr>
            </a:lvl9pPr>
          </a:lstStyle>
          <a:p xmlns:a="http://schemas.openxmlformats.org/drawingml/2006/main">
            <a:pPr algn="l">
              <a:defRPr sz="2850" b="1" i="0">
                <a:solidFill>
                  <a:srgbClr val="073E35"/>
                </a:solidFill>
                <a:latin typeface="Avenir Next"/>
                <a:ea typeface="Avenir Next"/>
                <a:cs typeface="Avenir Next"/>
              </a:defRPr>
            </a:pPr>
            <a:r>
              <a:rPr sz="2850" b="1" i="0">
                <a:solidFill>
                  <a:srgbClr val="073E35"/>
                </a:solidFill>
                <a:latin typeface="Avenir Next"/>
                <a:ea typeface="Avenir Next"/>
                <a:cs typeface="Avenir Next"/>
              </a:rPr>
              <a:t>≈ $7.0B</a:t>
            </a:r>
          </a:p>
        </p:txBody>
      </p:sp>
      <p:sp>
        <p:nvSpPr>
          <p:cNvPr id="13" name="">
            <a:extLst xmlns:a="http://schemas.openxmlformats.org/drawingml/2006/main">
              <a:ext uri="{FF2B5EF4-FFF2-40B4-BE49-F238E27FC236}">
                <a16:creationId xmlns:a16="http://schemas.microsoft.com/office/drawing/2014/main" id="{1F1FEBF1-AAA1-4071-BFCA-6217518F47DD}"/>
              </a:ext>
            </a:extLst>
          </p:cNvPr>
          <p:cNvSpPr>
            <a:spLocks xmlns:a="http://schemas.openxmlformats.org/drawingml/2006/main" noGrp="1"/>
          </p:cNvSpPr>
          <p:nvPr/>
        </p:nvSpPr>
        <p:spPr>
          <a:xfrm xmlns:a="http://schemas.openxmlformats.org/drawingml/2006/main">
            <a:off x="4381500" y="43243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Estimated annual gap across the same three programs</a:t>
            </a:r>
          </a:p>
        </p:txBody>
      </p:sp>
      <p:sp>
        <p:nvSpPr>
          <p:cNvPr id="14" name="">
            <a:extLst xmlns:a="http://schemas.openxmlformats.org/drawingml/2006/main">
              <a:ext uri="{FF2B5EF4-FFF2-40B4-BE49-F238E27FC236}">
                <a16:creationId xmlns:a16="http://schemas.microsoft.com/office/drawing/2014/main" id="{4CB7AE8D-3EAF-479A-AA50-A8E33B02AA6E}"/>
              </a:ext>
            </a:extLst>
          </p:cNvPr>
          <p:cNvSpPr>
            <a:spLocks xmlns:a="http://schemas.openxmlformats.org/drawingml/2006/main" noGrp="1"/>
          </p:cNvSpPr>
          <p:nvPr/>
        </p:nvSpPr>
        <p:spPr>
          <a:xfrm xmlns:a="http://schemas.openxmlformats.org/drawingml/2006/main">
            <a:off x="7543800" y="2571750"/>
            <a:ext cx="3048000" cy="2476500"/>
          </a:xfrm>
          <a:prstGeom xmlns:a="http://schemas.openxmlformats.org/drawingml/2006/main" prst="roundRect">
            <a:avLst>
              <a:gd name="adj" fmla="val 4615"/>
            </a:avLst>
          </a:prstGeom>
          <a:solidFill xmlns:a="http://schemas.openxmlformats.org/drawingml/2006/main">
            <a:srgbClr val="FFFD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797E191-0A69-45AC-B8F1-A7B91178AB42}"/>
              </a:ext>
            </a:extLst>
          </p:cNvPr>
          <p:cNvSpPr>
            <a:spLocks xmlns:a="http://schemas.openxmlformats.org/drawingml/2006/main" noGrp="1"/>
          </p:cNvSpPr>
          <p:nvPr/>
        </p:nvSpPr>
        <p:spPr>
          <a:xfrm xmlns:a="http://schemas.openxmlformats.org/drawingml/2006/main">
            <a:off x="7810500" y="2876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UNITED STATES</a:t>
            </a:r>
          </a:p>
        </p:txBody>
      </p:sp>
      <p:sp>
        <p:nvSpPr>
          <p:cNvPr id="16" name="">
            <a:extLst xmlns:a="http://schemas.openxmlformats.org/drawingml/2006/main">
              <a:ext uri="{FF2B5EF4-FFF2-40B4-BE49-F238E27FC236}">
                <a16:creationId xmlns:a16="http://schemas.microsoft.com/office/drawing/2014/main" id="{A50ADB1C-FEBF-4DDB-91D2-31DC345B435D}"/>
              </a:ext>
            </a:extLst>
          </p:cNvPr>
          <p:cNvSpPr>
            <a:spLocks xmlns:a="http://schemas.openxmlformats.org/drawingml/2006/main" noGrp="1"/>
          </p:cNvSpPr>
          <p:nvPr/>
        </p:nvSpPr>
        <p:spPr>
          <a:xfrm xmlns:a="http://schemas.openxmlformats.org/drawingml/2006/main">
            <a:off x="7810500" y="33337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73E35"/>
                </a:solidFill>
                <a:latin typeface="Avenir Next"/>
                <a:ea typeface="Avenir Next"/>
                <a:cs typeface="Avenir Next"/>
              </a:defRPr>
            </a:defPPr>
            <a:lvl1pPr algn="l">
              <a:defRPr sz="2850" b="1" i="0">
                <a:solidFill>
                  <a:srgbClr val="073E35"/>
                </a:solidFill>
                <a:latin typeface="Avenir Next"/>
                <a:ea typeface="Avenir Next"/>
                <a:cs typeface="Avenir Next"/>
              </a:defRPr>
            </a:lvl1pPr>
            <a:lvl2pPr algn="l">
              <a:defRPr sz="2850" b="1" i="0">
                <a:solidFill>
                  <a:srgbClr val="073E35"/>
                </a:solidFill>
                <a:latin typeface="Avenir Next"/>
                <a:ea typeface="Avenir Next"/>
                <a:cs typeface="Avenir Next"/>
              </a:defRPr>
            </a:lvl2pPr>
            <a:lvl3pPr algn="l">
              <a:defRPr sz="2850" b="1" i="0">
                <a:solidFill>
                  <a:srgbClr val="073E35"/>
                </a:solidFill>
                <a:latin typeface="Avenir Next"/>
                <a:ea typeface="Avenir Next"/>
                <a:cs typeface="Avenir Next"/>
              </a:defRPr>
            </a:lvl3pPr>
            <a:lvl4pPr algn="l">
              <a:defRPr sz="2850" b="1" i="0">
                <a:solidFill>
                  <a:srgbClr val="073E35"/>
                </a:solidFill>
                <a:latin typeface="Avenir Next"/>
                <a:ea typeface="Avenir Next"/>
                <a:cs typeface="Avenir Next"/>
              </a:defRPr>
            </a:lvl4pPr>
            <a:lvl5pPr algn="l">
              <a:defRPr sz="2850" b="1" i="0">
                <a:solidFill>
                  <a:srgbClr val="073E35"/>
                </a:solidFill>
                <a:latin typeface="Avenir Next"/>
                <a:ea typeface="Avenir Next"/>
                <a:cs typeface="Avenir Next"/>
              </a:defRPr>
            </a:lvl5pPr>
            <a:lvl6pPr algn="l">
              <a:defRPr sz="2850" b="1" i="0">
                <a:solidFill>
                  <a:srgbClr val="073E35"/>
                </a:solidFill>
                <a:latin typeface="Avenir Next"/>
                <a:ea typeface="Avenir Next"/>
                <a:cs typeface="Avenir Next"/>
              </a:defRPr>
            </a:lvl6pPr>
            <a:lvl7pPr algn="l">
              <a:defRPr sz="2850" b="1" i="0">
                <a:solidFill>
                  <a:srgbClr val="073E35"/>
                </a:solidFill>
                <a:latin typeface="Avenir Next"/>
                <a:ea typeface="Avenir Next"/>
                <a:cs typeface="Avenir Next"/>
              </a:defRPr>
            </a:lvl7pPr>
            <a:lvl8pPr algn="l">
              <a:defRPr sz="2850" b="1" i="0">
                <a:solidFill>
                  <a:srgbClr val="073E35"/>
                </a:solidFill>
                <a:latin typeface="Avenir Next"/>
                <a:ea typeface="Avenir Next"/>
                <a:cs typeface="Avenir Next"/>
              </a:defRPr>
            </a:lvl8pPr>
            <a:lvl9pPr algn="l">
              <a:defRPr sz="2850" b="1" i="0">
                <a:solidFill>
                  <a:srgbClr val="073E35"/>
                </a:solidFill>
                <a:latin typeface="Avenir Next"/>
                <a:ea typeface="Avenir Next"/>
                <a:cs typeface="Avenir Next"/>
              </a:defRPr>
            </a:lvl9pPr>
          </a:lstStyle>
          <a:p xmlns:a="http://schemas.openxmlformats.org/drawingml/2006/main">
            <a:pPr algn="l">
              <a:defRPr sz="2850" b="1" i="0">
                <a:solidFill>
                  <a:srgbClr val="073E35"/>
                </a:solidFill>
                <a:latin typeface="Avenir Next"/>
                <a:ea typeface="Avenir Next"/>
                <a:cs typeface="Avenir Next"/>
              </a:defRPr>
            </a:pPr>
            <a:r>
              <a:rPr sz="2850" b="1" i="0">
                <a:solidFill>
                  <a:srgbClr val="073E35"/>
                </a:solidFill>
                <a:latin typeface="Avenir Next"/>
                <a:ea typeface="Avenir Next"/>
                <a:cs typeface="Avenir Next"/>
              </a:rPr>
              <a:t>$58B</a:t>
            </a:r>
          </a:p>
        </p:txBody>
      </p:sp>
      <p:sp>
        <p:nvSpPr>
          <p:cNvPr id="17" name="">
            <a:extLst xmlns:a="http://schemas.openxmlformats.org/drawingml/2006/main">
              <a:ext uri="{FF2B5EF4-FFF2-40B4-BE49-F238E27FC236}">
                <a16:creationId xmlns:a16="http://schemas.microsoft.com/office/drawing/2014/main" id="{76A8EC77-4554-4044-9118-E0E2BD8F2A04}"/>
              </a:ext>
            </a:extLst>
          </p:cNvPr>
          <p:cNvSpPr>
            <a:spLocks xmlns:a="http://schemas.openxmlformats.org/drawingml/2006/main" noGrp="1"/>
          </p:cNvSpPr>
          <p:nvPr/>
        </p:nvSpPr>
        <p:spPr>
          <a:xfrm xmlns:a="http://schemas.openxmlformats.org/drawingml/2006/main">
            <a:off x="7810500" y="43243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NCOA's estimated 2023 annual gap for older adults</a:t>
            </a:r>
          </a:p>
        </p:txBody>
      </p:sp>
      <p:sp>
        <p:nvSpPr>
          <p:cNvPr id="18" name="">
            <a:extLst xmlns:a="http://schemas.openxmlformats.org/drawingml/2006/main">
              <a:ext uri="{FF2B5EF4-FFF2-40B4-BE49-F238E27FC236}">
                <a16:creationId xmlns:a16="http://schemas.microsoft.com/office/drawing/2014/main" id="{75FF9F33-2C80-4E9C-8839-C69B388F25FA}"/>
              </a:ext>
            </a:extLst>
          </p:cNvPr>
          <p:cNvSpPr>
            <a:spLocks xmlns:a="http://schemas.openxmlformats.org/drawingml/2006/main" noGrp="1"/>
          </p:cNvSpPr>
          <p:nvPr/>
        </p:nvSpPr>
        <p:spPr>
          <a:xfrm xmlns:a="http://schemas.openxmlformats.org/drawingml/2006/main">
            <a:off x="3238500" y="5943600"/>
            <a:ext cx="826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0" i="0">
                <a:solidFill>
                  <a:srgbClr val="BEDBCF"/>
                </a:solidFill>
                <a:latin typeface="Avenir Next"/>
                <a:ea typeface="Avenir Next"/>
                <a:cs typeface="Avenir Next"/>
              </a:defRPr>
            </a:defPPr>
            <a:lvl1pPr algn="ctr">
              <a:defRPr sz="1125" b="0" i="0">
                <a:solidFill>
                  <a:srgbClr val="BEDBCF"/>
                </a:solidFill>
                <a:latin typeface="Avenir Next"/>
                <a:ea typeface="Avenir Next"/>
                <a:cs typeface="Avenir Next"/>
              </a:defRPr>
            </a:lvl1pPr>
            <a:lvl2pPr algn="ctr">
              <a:defRPr sz="1125" b="0" i="0">
                <a:solidFill>
                  <a:srgbClr val="BEDBCF"/>
                </a:solidFill>
                <a:latin typeface="Avenir Next"/>
                <a:ea typeface="Avenir Next"/>
                <a:cs typeface="Avenir Next"/>
              </a:defRPr>
            </a:lvl2pPr>
            <a:lvl3pPr algn="ctr">
              <a:defRPr sz="1125" b="0" i="0">
                <a:solidFill>
                  <a:srgbClr val="BEDBCF"/>
                </a:solidFill>
                <a:latin typeface="Avenir Next"/>
                <a:ea typeface="Avenir Next"/>
                <a:cs typeface="Avenir Next"/>
              </a:defRPr>
            </a:lvl3pPr>
            <a:lvl4pPr algn="ctr">
              <a:defRPr sz="1125" b="0" i="0">
                <a:solidFill>
                  <a:srgbClr val="BEDBCF"/>
                </a:solidFill>
                <a:latin typeface="Avenir Next"/>
                <a:ea typeface="Avenir Next"/>
                <a:cs typeface="Avenir Next"/>
              </a:defRPr>
            </a:lvl4pPr>
            <a:lvl5pPr algn="ctr">
              <a:defRPr sz="1125" b="0" i="0">
                <a:solidFill>
                  <a:srgbClr val="BEDBCF"/>
                </a:solidFill>
                <a:latin typeface="Avenir Next"/>
                <a:ea typeface="Avenir Next"/>
                <a:cs typeface="Avenir Next"/>
              </a:defRPr>
            </a:lvl5pPr>
            <a:lvl6pPr algn="ctr">
              <a:defRPr sz="1125" b="0" i="0">
                <a:solidFill>
                  <a:srgbClr val="BEDBCF"/>
                </a:solidFill>
                <a:latin typeface="Avenir Next"/>
                <a:ea typeface="Avenir Next"/>
                <a:cs typeface="Avenir Next"/>
              </a:defRPr>
            </a:lvl6pPr>
            <a:lvl7pPr algn="ctr">
              <a:defRPr sz="1125" b="0" i="0">
                <a:solidFill>
                  <a:srgbClr val="BEDBCF"/>
                </a:solidFill>
                <a:latin typeface="Avenir Next"/>
                <a:ea typeface="Avenir Next"/>
                <a:cs typeface="Avenir Next"/>
              </a:defRPr>
            </a:lvl7pPr>
            <a:lvl8pPr algn="ctr">
              <a:defRPr sz="1125" b="0" i="0">
                <a:solidFill>
                  <a:srgbClr val="BEDBCF"/>
                </a:solidFill>
                <a:latin typeface="Avenir Next"/>
                <a:ea typeface="Avenir Next"/>
                <a:cs typeface="Avenir Next"/>
              </a:defRPr>
            </a:lvl8pPr>
            <a:lvl9pPr algn="ctr">
              <a:defRPr sz="1125" b="0" i="0">
                <a:solidFill>
                  <a:srgbClr val="BEDBCF"/>
                </a:solidFill>
                <a:latin typeface="Avenir Next"/>
                <a:ea typeface="Avenir Next"/>
                <a:cs typeface="Avenir Next"/>
              </a:defRPr>
            </a:lvl9pPr>
          </a:lstStyle>
          <a:p xmlns:a="http://schemas.openxmlformats.org/drawingml/2006/main">
            <a:pPr algn="ctr">
              <a:defRPr sz="1125" b="0" i="0">
                <a:solidFill>
                  <a:srgbClr val="BEDBCF"/>
                </a:solidFill>
                <a:latin typeface="Avenir Next"/>
                <a:ea typeface="Avenir Next"/>
                <a:cs typeface="Avenir Next"/>
              </a:defRPr>
            </a:pPr>
            <a:r>
              <a:rPr sz="1125" b="0" i="0">
                <a:solidFill>
                  <a:srgbClr val="BEDBCF"/>
                </a:solidFill>
                <a:latin typeface="Avenir Next"/>
                <a:ea typeface="Avenir Next"/>
                <a:cs typeface="Avenir Next"/>
              </a:rPr>
              <a:t>County and state values are derived estimates using NCOA nonparticipant counts and benefit assumptions.</a:t>
            </a:r>
          </a:p>
        </p:txBody>
      </p:sp>
    </p:spTree>
    <p:extLst>
      <p:ext uri="{BB962C8B-B14F-4D97-AF65-F5344CB8AC3E}">
        <p14:creationId xmlns:p14="http://schemas.microsoft.com/office/powerpoint/2010/main" val="285440202"/>
      </p:ext>
    </p:extLst>
  </p:cSld>
</p:sld>
</file>

<file path=ppt/slides/slide3.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020C9A9-35BF-4E0B-9F90-0739597686CB}"/>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4F9C9FE2-E45B-4BD5-9C22-1BD239592CC7}"/>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FEBB8B67-D7BE-4249-A0DC-7A9C0055C703}"/>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03</a:t>
            </a:r>
          </a:p>
        </p:txBody>
      </p:sp>
      <p:sp>
        <p:nvSpPr>
          <p:cNvPr id="4" name="">
            <a:extLst xmlns:a="http://schemas.openxmlformats.org/drawingml/2006/main">
              <a:ext uri="{FF2B5EF4-FFF2-40B4-BE49-F238E27FC236}">
                <a16:creationId xmlns:a16="http://schemas.microsoft.com/office/drawing/2014/main" id="{A94FDD91-73F8-4F53-8BBD-2D0CE252B5E1}"/>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Residents should not need to know the system</a:t>
            </a:r>
          </a:p>
        </p:txBody>
      </p:sp>
      <p:sp>
        <p:nvSpPr>
          <p:cNvPr id="5" name="">
            <a:extLst xmlns:a="http://schemas.openxmlformats.org/drawingml/2006/main">
              <a:ext uri="{FF2B5EF4-FFF2-40B4-BE49-F238E27FC236}">
                <a16:creationId xmlns:a16="http://schemas.microsoft.com/office/drawing/2014/main" id="{10FF4676-BCF6-4981-8EA3-D73C567CFB39}"/>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burden today is on the person asking for help.</a:t>
            </a:r>
          </a:p>
        </p:txBody>
      </p:sp>
      <p:sp>
        <p:nvSpPr>
          <p:cNvPr id="6" name="">
            <a:extLst xmlns:a="http://schemas.openxmlformats.org/drawingml/2006/main">
              <a:ext uri="{FF2B5EF4-FFF2-40B4-BE49-F238E27FC236}">
                <a16:creationId xmlns:a16="http://schemas.microsoft.com/office/drawing/2014/main" id="{8F78E36B-73D8-49D7-A8A7-BB4D94C2DBB5}"/>
              </a:ext>
            </a:extLst>
          </p:cNvPr>
          <p:cNvSpPr>
            <a:spLocks xmlns:a="http://schemas.openxmlformats.org/drawingml/2006/main" noGrp="1"/>
          </p:cNvSpPr>
          <p:nvPr/>
        </p:nvSpPr>
        <p:spPr>
          <a:xfrm xmlns:a="http://schemas.openxmlformats.org/drawingml/2006/main">
            <a:off x="762000" y="2457450"/>
            <a:ext cx="514350" cy="5143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2A74887-4A44-4229-BE12-2443C374E78B}"/>
              </a:ext>
            </a:extLst>
          </p:cNvPr>
          <p:cNvSpPr>
            <a:spLocks xmlns:a="http://schemas.openxmlformats.org/drawingml/2006/main" noGrp="1"/>
          </p:cNvSpPr>
          <p:nvPr/>
        </p:nvSpPr>
        <p:spPr>
          <a:xfrm xmlns:a="http://schemas.openxmlformats.org/drawingml/2006/main">
            <a:off x="847725" y="25908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01</a:t>
            </a:r>
          </a:p>
        </p:txBody>
      </p:sp>
      <p:sp>
        <p:nvSpPr>
          <p:cNvPr id="8" name="">
            <a:extLst xmlns:a="http://schemas.openxmlformats.org/drawingml/2006/main">
              <a:ext uri="{FF2B5EF4-FFF2-40B4-BE49-F238E27FC236}">
                <a16:creationId xmlns:a16="http://schemas.microsoft.com/office/drawing/2014/main" id="{64EA0AED-258B-46C9-A992-E9D4D4EBF56E}"/>
              </a:ext>
            </a:extLst>
          </p:cNvPr>
          <p:cNvSpPr>
            <a:spLocks xmlns:a="http://schemas.openxmlformats.org/drawingml/2006/main" noGrp="1"/>
          </p:cNvSpPr>
          <p:nvPr/>
        </p:nvSpPr>
        <p:spPr>
          <a:xfrm xmlns:a="http://schemas.openxmlformats.org/drawingml/2006/main">
            <a:off x="1562100" y="24193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Find the right doorway</a:t>
            </a:r>
          </a:p>
        </p:txBody>
      </p:sp>
      <p:sp>
        <p:nvSpPr>
          <p:cNvPr id="9" name="">
            <a:extLst xmlns:a="http://schemas.openxmlformats.org/drawingml/2006/main">
              <a:ext uri="{FF2B5EF4-FFF2-40B4-BE49-F238E27FC236}">
                <a16:creationId xmlns:a16="http://schemas.microsoft.com/office/drawing/2014/main" id="{FB76835B-BD26-40E5-9839-192552BD911F}"/>
              </a:ext>
            </a:extLst>
          </p:cNvPr>
          <p:cNvSpPr>
            <a:spLocks xmlns:a="http://schemas.openxmlformats.org/drawingml/2006/main" noGrp="1"/>
          </p:cNvSpPr>
          <p:nvPr/>
        </p:nvSpPr>
        <p:spPr>
          <a:xfrm xmlns:a="http://schemas.openxmlformats.org/drawingml/2006/main">
            <a:off x="5524500" y="24003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Programs are scattered across city, county, state, federal, utility, and community websites.</a:t>
            </a:r>
          </a:p>
        </p:txBody>
      </p:sp>
      <p:sp>
        <p:nvSpPr>
          <p:cNvPr id="10" name="">
            <a:extLst xmlns:a="http://schemas.openxmlformats.org/drawingml/2006/main">
              <a:ext uri="{FF2B5EF4-FFF2-40B4-BE49-F238E27FC236}">
                <a16:creationId xmlns:a16="http://schemas.microsoft.com/office/drawing/2014/main" id="{1545174B-CECA-403B-B131-3E9FE96A29A1}"/>
              </a:ext>
            </a:extLst>
          </p:cNvPr>
          <p:cNvSpPr>
            <a:spLocks xmlns:a="http://schemas.openxmlformats.org/drawingml/2006/main" noGrp="1"/>
          </p:cNvSpPr>
          <p:nvPr/>
        </p:nvSpPr>
        <p:spPr>
          <a:xfrm xmlns:a="http://schemas.openxmlformats.org/drawingml/2006/main">
            <a:off x="1019175" y="2971800"/>
            <a:ext cx="19050" cy="4572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563D0D6-A3E5-452C-9A10-9040B9334432}"/>
              </a:ext>
            </a:extLst>
          </p:cNvPr>
          <p:cNvSpPr>
            <a:spLocks xmlns:a="http://schemas.openxmlformats.org/drawingml/2006/main" noGrp="1"/>
          </p:cNvSpPr>
          <p:nvPr/>
        </p:nvSpPr>
        <p:spPr>
          <a:xfrm xmlns:a="http://schemas.openxmlformats.org/drawingml/2006/main">
            <a:off x="762000" y="3524250"/>
            <a:ext cx="514350" cy="51435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A403A8C-8B7E-4268-A44D-A04E25851885}"/>
              </a:ext>
            </a:extLst>
          </p:cNvPr>
          <p:cNvSpPr>
            <a:spLocks xmlns:a="http://schemas.openxmlformats.org/drawingml/2006/main" noGrp="1"/>
          </p:cNvSpPr>
          <p:nvPr/>
        </p:nvSpPr>
        <p:spPr>
          <a:xfrm xmlns:a="http://schemas.openxmlformats.org/drawingml/2006/main">
            <a:off x="847725" y="36576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02</a:t>
            </a:r>
          </a:p>
        </p:txBody>
      </p:sp>
      <p:sp>
        <p:nvSpPr>
          <p:cNvPr id="13" name="">
            <a:extLst xmlns:a="http://schemas.openxmlformats.org/drawingml/2006/main">
              <a:ext uri="{FF2B5EF4-FFF2-40B4-BE49-F238E27FC236}">
                <a16:creationId xmlns:a16="http://schemas.microsoft.com/office/drawing/2014/main" id="{36F97302-23D9-45AB-A7B5-889EC427BD3B}"/>
              </a:ext>
            </a:extLst>
          </p:cNvPr>
          <p:cNvSpPr>
            <a:spLocks xmlns:a="http://schemas.openxmlformats.org/drawingml/2006/main" noGrp="1"/>
          </p:cNvSpPr>
          <p:nvPr/>
        </p:nvSpPr>
        <p:spPr>
          <a:xfrm xmlns:a="http://schemas.openxmlformats.org/drawingml/2006/main">
            <a:off x="1562100" y="34861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Interpret the rules</a:t>
            </a:r>
          </a:p>
        </p:txBody>
      </p:sp>
      <p:sp>
        <p:nvSpPr>
          <p:cNvPr id="14" name="">
            <a:extLst xmlns:a="http://schemas.openxmlformats.org/drawingml/2006/main">
              <a:ext uri="{FF2B5EF4-FFF2-40B4-BE49-F238E27FC236}">
                <a16:creationId xmlns:a16="http://schemas.microsoft.com/office/drawing/2014/main" id="{BDE830B1-2708-4931-841A-B9ED84E3A3BC}"/>
              </a:ext>
            </a:extLst>
          </p:cNvPr>
          <p:cNvSpPr>
            <a:spLocks xmlns:a="http://schemas.openxmlformats.org/drawingml/2006/main" noGrp="1"/>
          </p:cNvSpPr>
          <p:nvPr/>
        </p:nvSpPr>
        <p:spPr>
          <a:xfrm xmlns:a="http://schemas.openxmlformats.org/drawingml/2006/main">
            <a:off x="5524500" y="34671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Eligibility language is hard to compare, and missing information can feel like a rejection.</a:t>
            </a:r>
          </a:p>
        </p:txBody>
      </p:sp>
      <p:sp>
        <p:nvSpPr>
          <p:cNvPr id="15" name="">
            <a:extLst xmlns:a="http://schemas.openxmlformats.org/drawingml/2006/main">
              <a:ext uri="{FF2B5EF4-FFF2-40B4-BE49-F238E27FC236}">
                <a16:creationId xmlns:a16="http://schemas.microsoft.com/office/drawing/2014/main" id="{27482B16-379A-47B3-9AA0-A20D2B17A2CE}"/>
              </a:ext>
            </a:extLst>
          </p:cNvPr>
          <p:cNvSpPr>
            <a:spLocks xmlns:a="http://schemas.openxmlformats.org/drawingml/2006/main" noGrp="1"/>
          </p:cNvSpPr>
          <p:nvPr/>
        </p:nvSpPr>
        <p:spPr>
          <a:xfrm xmlns:a="http://schemas.openxmlformats.org/drawingml/2006/main">
            <a:off x="1019175" y="4038600"/>
            <a:ext cx="19050" cy="4572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3C52BB4-79D8-484C-90DD-B92577924D0A}"/>
              </a:ext>
            </a:extLst>
          </p:cNvPr>
          <p:cNvSpPr>
            <a:spLocks xmlns:a="http://schemas.openxmlformats.org/drawingml/2006/main" noGrp="1"/>
          </p:cNvSpPr>
          <p:nvPr/>
        </p:nvSpPr>
        <p:spPr>
          <a:xfrm xmlns:a="http://schemas.openxmlformats.org/drawingml/2006/main">
            <a:off x="762000" y="4591050"/>
            <a:ext cx="514350" cy="5143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038A24B-9360-4F4A-9BA8-802FF0505AB7}"/>
              </a:ext>
            </a:extLst>
          </p:cNvPr>
          <p:cNvSpPr>
            <a:spLocks xmlns:a="http://schemas.openxmlformats.org/drawingml/2006/main" noGrp="1"/>
          </p:cNvSpPr>
          <p:nvPr/>
        </p:nvSpPr>
        <p:spPr>
          <a:xfrm xmlns:a="http://schemas.openxmlformats.org/drawingml/2006/main">
            <a:off x="847725" y="47244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03</a:t>
            </a:r>
          </a:p>
        </p:txBody>
      </p:sp>
      <p:sp>
        <p:nvSpPr>
          <p:cNvPr id="18" name="">
            <a:extLst xmlns:a="http://schemas.openxmlformats.org/drawingml/2006/main">
              <a:ext uri="{FF2B5EF4-FFF2-40B4-BE49-F238E27FC236}">
                <a16:creationId xmlns:a16="http://schemas.microsoft.com/office/drawing/2014/main" id="{8998991D-A61F-40E5-8016-BEEC3A1DC7A3}"/>
              </a:ext>
            </a:extLst>
          </p:cNvPr>
          <p:cNvSpPr>
            <a:spLocks xmlns:a="http://schemas.openxmlformats.org/drawingml/2006/main" noGrp="1"/>
          </p:cNvSpPr>
          <p:nvPr/>
        </p:nvSpPr>
        <p:spPr>
          <a:xfrm xmlns:a="http://schemas.openxmlformats.org/drawingml/2006/main">
            <a:off x="1562100" y="45529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Finish the application</a:t>
            </a:r>
          </a:p>
        </p:txBody>
      </p:sp>
      <p:sp>
        <p:nvSpPr>
          <p:cNvPr id="19" name="">
            <a:extLst xmlns:a="http://schemas.openxmlformats.org/drawingml/2006/main">
              <a:ext uri="{FF2B5EF4-FFF2-40B4-BE49-F238E27FC236}">
                <a16:creationId xmlns:a16="http://schemas.microsoft.com/office/drawing/2014/main" id="{7DAC2FC5-302C-408D-81CD-4B49BADFDD25}"/>
              </a:ext>
            </a:extLst>
          </p:cNvPr>
          <p:cNvSpPr>
            <a:spLocks xmlns:a="http://schemas.openxmlformats.org/drawingml/2006/main" noGrp="1"/>
          </p:cNvSpPr>
          <p:nvPr/>
        </p:nvSpPr>
        <p:spPr>
          <a:xfrm xmlns:a="http://schemas.openxmlformats.org/drawingml/2006/main">
            <a:off x="5524500" y="45339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The guidance often ends exactly when a resident reaches the official form.</a:t>
            </a:r>
          </a:p>
        </p:txBody>
      </p:sp>
      <p:sp>
        <p:nvSpPr>
          <p:cNvPr id="20" name="">
            <a:extLst xmlns:a="http://schemas.openxmlformats.org/drawingml/2006/main">
              <a:ext uri="{FF2B5EF4-FFF2-40B4-BE49-F238E27FC236}">
                <a16:creationId xmlns:a16="http://schemas.microsoft.com/office/drawing/2014/main" id="{2450073A-3B4D-466D-B86B-62DA46FDE816}"/>
              </a:ext>
            </a:extLst>
          </p:cNvPr>
          <p:cNvSpPr>
            <a:spLocks xmlns:a="http://schemas.openxmlformats.org/drawingml/2006/main" noGrp="1"/>
          </p:cNvSpPr>
          <p:nvPr/>
        </p:nvSpPr>
        <p:spPr>
          <a:xfrm xmlns:a="http://schemas.openxmlformats.org/drawingml/2006/main">
            <a:off x="3238500" y="6191250"/>
            <a:ext cx="8267700" cy="1905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C9B6050-B3CE-4AA7-B30A-B9E14C33EEB2}"/>
              </a:ext>
            </a:extLst>
          </p:cNvPr>
          <p:cNvSpPr>
            <a:spLocks xmlns:a="http://schemas.openxmlformats.org/drawingml/2006/main" noGrp="1"/>
          </p:cNvSpPr>
          <p:nvPr/>
        </p:nvSpPr>
        <p:spPr>
          <a:xfrm xmlns:a="http://schemas.openxmlformats.org/drawingml/2006/main">
            <a:off x="3238500" y="6334125"/>
            <a:ext cx="826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73E35"/>
                </a:solidFill>
                <a:latin typeface="Avenir Next"/>
                <a:ea typeface="Avenir Next"/>
                <a:cs typeface="Avenir Next"/>
              </a:defRPr>
            </a:defPPr>
            <a:lvl1pPr algn="ctr">
              <a:defRPr sz="1350" b="1" i="0">
                <a:solidFill>
                  <a:srgbClr val="073E35"/>
                </a:solidFill>
                <a:latin typeface="Avenir Next"/>
                <a:ea typeface="Avenir Next"/>
                <a:cs typeface="Avenir Next"/>
              </a:defRPr>
            </a:lvl1pPr>
            <a:lvl2pPr algn="ctr">
              <a:defRPr sz="1350" b="1" i="0">
                <a:solidFill>
                  <a:srgbClr val="073E35"/>
                </a:solidFill>
                <a:latin typeface="Avenir Next"/>
                <a:ea typeface="Avenir Next"/>
                <a:cs typeface="Avenir Next"/>
              </a:defRPr>
            </a:lvl2pPr>
            <a:lvl3pPr algn="ctr">
              <a:defRPr sz="1350" b="1" i="0">
                <a:solidFill>
                  <a:srgbClr val="073E35"/>
                </a:solidFill>
                <a:latin typeface="Avenir Next"/>
                <a:ea typeface="Avenir Next"/>
                <a:cs typeface="Avenir Next"/>
              </a:defRPr>
            </a:lvl3pPr>
            <a:lvl4pPr algn="ctr">
              <a:defRPr sz="1350" b="1" i="0">
                <a:solidFill>
                  <a:srgbClr val="073E35"/>
                </a:solidFill>
                <a:latin typeface="Avenir Next"/>
                <a:ea typeface="Avenir Next"/>
                <a:cs typeface="Avenir Next"/>
              </a:defRPr>
            </a:lvl4pPr>
            <a:lvl5pPr algn="ctr">
              <a:defRPr sz="1350" b="1" i="0">
                <a:solidFill>
                  <a:srgbClr val="073E35"/>
                </a:solidFill>
                <a:latin typeface="Avenir Next"/>
                <a:ea typeface="Avenir Next"/>
                <a:cs typeface="Avenir Next"/>
              </a:defRPr>
            </a:lvl5pPr>
            <a:lvl6pPr algn="ctr">
              <a:defRPr sz="1350" b="1" i="0">
                <a:solidFill>
                  <a:srgbClr val="073E35"/>
                </a:solidFill>
                <a:latin typeface="Avenir Next"/>
                <a:ea typeface="Avenir Next"/>
                <a:cs typeface="Avenir Next"/>
              </a:defRPr>
            </a:lvl6pPr>
            <a:lvl7pPr algn="ctr">
              <a:defRPr sz="1350" b="1" i="0">
                <a:solidFill>
                  <a:srgbClr val="073E35"/>
                </a:solidFill>
                <a:latin typeface="Avenir Next"/>
                <a:ea typeface="Avenir Next"/>
                <a:cs typeface="Avenir Next"/>
              </a:defRPr>
            </a:lvl7pPr>
            <a:lvl8pPr algn="ctr">
              <a:defRPr sz="1350" b="1" i="0">
                <a:solidFill>
                  <a:srgbClr val="073E35"/>
                </a:solidFill>
                <a:latin typeface="Avenir Next"/>
                <a:ea typeface="Avenir Next"/>
                <a:cs typeface="Avenir Next"/>
              </a:defRPr>
            </a:lvl8pPr>
            <a:lvl9pPr algn="ctr">
              <a:defRPr sz="1350" b="1" i="0">
                <a:solidFill>
                  <a:srgbClr val="073E35"/>
                </a:solidFill>
                <a:latin typeface="Avenir Next"/>
                <a:ea typeface="Avenir Next"/>
                <a:cs typeface="Avenir Next"/>
              </a:defRPr>
            </a:lvl9pPr>
          </a:lstStyle>
          <a:p xmlns:a="http://schemas.openxmlformats.org/drawingml/2006/main">
            <a:pPr algn="ctr">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The goal is not more information. It is a clear next action.</a:t>
            </a:r>
          </a:p>
        </p:txBody>
      </p:sp>
    </p:spTree>
    <p:extLst>
      <p:ext uri="{BB962C8B-B14F-4D97-AF65-F5344CB8AC3E}">
        <p14:creationId xmlns:p14="http://schemas.microsoft.com/office/powerpoint/2010/main" val="212813708"/>
      </p:ext>
    </p:extLst>
  </p:cSld>
</p:sld>
</file>

<file path=ppt/slides/slide4.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61987F3-FED0-4BB1-95AE-4E02F26FF80A}"/>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CA939939-171F-42A0-B927-3CD1994608E7}"/>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9512DD54-A72E-4CE1-B15B-68F57FC49524}"/>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04</a:t>
            </a:r>
          </a:p>
        </p:txBody>
      </p:sp>
      <p:sp>
        <p:nvSpPr>
          <p:cNvPr id="4" name="">
            <a:extLst xmlns:a="http://schemas.openxmlformats.org/drawingml/2006/main">
              <a:ext uri="{FF2B5EF4-FFF2-40B4-BE49-F238E27FC236}">
                <a16:creationId xmlns:a16="http://schemas.microsoft.com/office/drawing/2014/main" id="{6FA56EAF-FBFE-43C7-9475-AAB9F8CE58ED}"/>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One conversation creates a guided path</a:t>
            </a:r>
          </a:p>
        </p:txBody>
      </p:sp>
      <p:sp>
        <p:nvSpPr>
          <p:cNvPr id="5" name="">
            <a:extLst xmlns:a="http://schemas.openxmlformats.org/drawingml/2006/main">
              <a:ext uri="{FF2B5EF4-FFF2-40B4-BE49-F238E27FC236}">
                <a16:creationId xmlns:a16="http://schemas.microsoft.com/office/drawing/2014/main" id="{0E30EF86-2E65-4600-B811-36BBF92DC2F1}"/>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Questions are optional. The resident stays in control of what they share.</a:t>
            </a:r>
          </a:p>
        </p:txBody>
      </p:sp>
      <p:sp>
        <p:nvSpPr>
          <p:cNvPr id="6" name="">
            <a:extLst xmlns:a="http://schemas.openxmlformats.org/drawingml/2006/main">
              <a:ext uri="{FF2B5EF4-FFF2-40B4-BE49-F238E27FC236}">
                <a16:creationId xmlns:a16="http://schemas.microsoft.com/office/drawing/2014/main" id="{AE7CD8C4-B80C-4733-B2E9-39500D8E92C9}"/>
              </a:ext>
            </a:extLst>
          </p:cNvPr>
          <p:cNvSpPr>
            <a:spLocks xmlns:a="http://schemas.openxmlformats.org/drawingml/2006/main" noGrp="1"/>
          </p:cNvSpPr>
          <p:nvPr/>
        </p:nvSpPr>
        <p:spPr>
          <a:xfrm xmlns:a="http://schemas.openxmlformats.org/drawingml/2006/main">
            <a:off x="1333500" y="2971800"/>
            <a:ext cx="94297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E900BC4-2BC3-47AB-8EA1-0BA4F30F7E79}"/>
              </a:ext>
            </a:extLst>
          </p:cNvPr>
          <p:cNvSpPr>
            <a:spLocks xmlns:a="http://schemas.openxmlformats.org/drawingml/2006/main" noGrp="1"/>
          </p:cNvSpPr>
          <p:nvPr/>
        </p:nvSpPr>
        <p:spPr>
          <a:xfrm xmlns:a="http://schemas.openxmlformats.org/drawingml/2006/main">
            <a:off x="1390650" y="26670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9FF0105-140C-474B-9BEF-7186CEAE8247}"/>
              </a:ext>
            </a:extLst>
          </p:cNvPr>
          <p:cNvSpPr>
            <a:spLocks xmlns:a="http://schemas.openxmlformats.org/drawingml/2006/main" noGrp="1"/>
          </p:cNvSpPr>
          <p:nvPr/>
        </p:nvSpPr>
        <p:spPr>
          <a:xfrm xmlns:a="http://schemas.openxmlformats.org/drawingml/2006/main">
            <a:off x="1581150" y="28479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462A99F7-8DDB-40F5-85AE-A6001203DD0E}"/>
              </a:ext>
            </a:extLst>
          </p:cNvPr>
          <p:cNvSpPr>
            <a:spLocks xmlns:a="http://schemas.openxmlformats.org/drawingml/2006/main" noGrp="1"/>
          </p:cNvSpPr>
          <p:nvPr/>
        </p:nvSpPr>
        <p:spPr>
          <a:xfrm xmlns:a="http://schemas.openxmlformats.org/drawingml/2006/main">
            <a:off x="685800" y="35814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Tell your story</a:t>
            </a:r>
          </a:p>
        </p:txBody>
      </p:sp>
      <p:sp>
        <p:nvSpPr>
          <p:cNvPr id="10" name="">
            <a:extLst xmlns:a="http://schemas.openxmlformats.org/drawingml/2006/main">
              <a:ext uri="{FF2B5EF4-FFF2-40B4-BE49-F238E27FC236}">
                <a16:creationId xmlns:a16="http://schemas.microsoft.com/office/drawing/2014/main" id="{002ED979-BC78-4A7A-B934-0C829FA6FC57}"/>
              </a:ext>
            </a:extLst>
          </p:cNvPr>
          <p:cNvSpPr>
            <a:spLocks xmlns:a="http://schemas.openxmlformats.org/drawingml/2006/main" noGrp="1"/>
          </p:cNvSpPr>
          <p:nvPr/>
        </p:nvSpPr>
        <p:spPr>
          <a:xfrm xmlns:a="http://schemas.openxmlformats.org/drawingml/2006/main">
            <a:off x="609600" y="4248150"/>
            <a:ext cx="2209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Use natural language or choose a sample prompt.</a:t>
            </a:r>
          </a:p>
        </p:txBody>
      </p:sp>
      <p:sp>
        <p:nvSpPr>
          <p:cNvPr id="11" name="">
            <a:extLst xmlns:a="http://schemas.openxmlformats.org/drawingml/2006/main">
              <a:ext uri="{FF2B5EF4-FFF2-40B4-BE49-F238E27FC236}">
                <a16:creationId xmlns:a16="http://schemas.microsoft.com/office/drawing/2014/main" id="{47C725CD-68E9-45AA-B32E-D2C7A9378D5E}"/>
              </a:ext>
            </a:extLst>
          </p:cNvPr>
          <p:cNvSpPr>
            <a:spLocks xmlns:a="http://schemas.openxmlformats.org/drawingml/2006/main" noGrp="1"/>
          </p:cNvSpPr>
          <p:nvPr/>
        </p:nvSpPr>
        <p:spPr>
          <a:xfrm xmlns:a="http://schemas.openxmlformats.org/drawingml/2006/main">
            <a:off x="4076700" y="26670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8928B7E-AF52-4D4E-9163-49CBB13461CB}"/>
              </a:ext>
            </a:extLst>
          </p:cNvPr>
          <p:cNvSpPr>
            <a:spLocks xmlns:a="http://schemas.openxmlformats.org/drawingml/2006/main" noGrp="1"/>
          </p:cNvSpPr>
          <p:nvPr/>
        </p:nvSpPr>
        <p:spPr>
          <a:xfrm xmlns:a="http://schemas.openxmlformats.org/drawingml/2006/main">
            <a:off x="4267200" y="28479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F34E150E-5C4A-4B82-8CCD-A61A0DD33504}"/>
              </a:ext>
            </a:extLst>
          </p:cNvPr>
          <p:cNvSpPr>
            <a:spLocks xmlns:a="http://schemas.openxmlformats.org/drawingml/2006/main" noGrp="1"/>
          </p:cNvSpPr>
          <p:nvPr/>
        </p:nvSpPr>
        <p:spPr>
          <a:xfrm xmlns:a="http://schemas.openxmlformats.org/drawingml/2006/main">
            <a:off x="3371850" y="35814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Clarify only what matters</a:t>
            </a:r>
          </a:p>
        </p:txBody>
      </p:sp>
      <p:sp>
        <p:nvSpPr>
          <p:cNvPr id="14" name="">
            <a:extLst xmlns:a="http://schemas.openxmlformats.org/drawingml/2006/main">
              <a:ext uri="{FF2B5EF4-FFF2-40B4-BE49-F238E27FC236}">
                <a16:creationId xmlns:a16="http://schemas.microsoft.com/office/drawing/2014/main" id="{295CCA4E-3E0F-4FC5-8F8B-2E5E1F155D8D}"/>
              </a:ext>
            </a:extLst>
          </p:cNvPr>
          <p:cNvSpPr>
            <a:spLocks xmlns:a="http://schemas.openxmlformats.org/drawingml/2006/main" noGrp="1"/>
          </p:cNvSpPr>
          <p:nvPr/>
        </p:nvSpPr>
        <p:spPr>
          <a:xfrm xmlns:a="http://schemas.openxmlformats.org/drawingml/2006/main">
            <a:off x="3295650" y="4248150"/>
            <a:ext cx="2209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Answer or skip focused follow-up questions.</a:t>
            </a:r>
          </a:p>
        </p:txBody>
      </p:sp>
      <p:sp>
        <p:nvSpPr>
          <p:cNvPr id="15" name="">
            <a:extLst xmlns:a="http://schemas.openxmlformats.org/drawingml/2006/main">
              <a:ext uri="{FF2B5EF4-FFF2-40B4-BE49-F238E27FC236}">
                <a16:creationId xmlns:a16="http://schemas.microsoft.com/office/drawing/2014/main" id="{7AC4162E-99BB-43C6-BD01-B0C93D95F380}"/>
              </a:ext>
            </a:extLst>
          </p:cNvPr>
          <p:cNvSpPr>
            <a:spLocks xmlns:a="http://schemas.openxmlformats.org/drawingml/2006/main" noGrp="1"/>
          </p:cNvSpPr>
          <p:nvPr/>
        </p:nvSpPr>
        <p:spPr>
          <a:xfrm xmlns:a="http://schemas.openxmlformats.org/drawingml/2006/main">
            <a:off x="6762750" y="26670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C2C3FA1-7D68-4A12-A2A2-8273E9DCD216}"/>
              </a:ext>
            </a:extLst>
          </p:cNvPr>
          <p:cNvSpPr>
            <a:spLocks xmlns:a="http://schemas.openxmlformats.org/drawingml/2006/main" noGrp="1"/>
          </p:cNvSpPr>
          <p:nvPr/>
        </p:nvSpPr>
        <p:spPr>
          <a:xfrm xmlns:a="http://schemas.openxmlformats.org/drawingml/2006/main">
            <a:off x="6953250" y="28479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3</a:t>
            </a:r>
          </a:p>
        </p:txBody>
      </p:sp>
      <p:sp>
        <p:nvSpPr>
          <p:cNvPr id="17" name="">
            <a:extLst xmlns:a="http://schemas.openxmlformats.org/drawingml/2006/main">
              <a:ext uri="{FF2B5EF4-FFF2-40B4-BE49-F238E27FC236}">
                <a16:creationId xmlns:a16="http://schemas.microsoft.com/office/drawing/2014/main" id="{F066B3B9-B595-4206-A080-73A4C0188E2F}"/>
              </a:ext>
            </a:extLst>
          </p:cNvPr>
          <p:cNvSpPr>
            <a:spLocks xmlns:a="http://schemas.openxmlformats.org/drawingml/2006/main" noGrp="1"/>
          </p:cNvSpPr>
          <p:nvPr/>
        </p:nvSpPr>
        <p:spPr>
          <a:xfrm xmlns:a="http://schemas.openxmlformats.org/drawingml/2006/main">
            <a:off x="6057900" y="35814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Compare possibilities</a:t>
            </a:r>
          </a:p>
        </p:txBody>
      </p:sp>
      <p:sp>
        <p:nvSpPr>
          <p:cNvPr id="18" name="">
            <a:extLst xmlns:a="http://schemas.openxmlformats.org/drawingml/2006/main">
              <a:ext uri="{FF2B5EF4-FFF2-40B4-BE49-F238E27FC236}">
                <a16:creationId xmlns:a16="http://schemas.microsoft.com/office/drawing/2014/main" id="{F41FB816-00E6-4A4F-98C9-FAF8E48D1458}"/>
              </a:ext>
            </a:extLst>
          </p:cNvPr>
          <p:cNvSpPr>
            <a:spLocks xmlns:a="http://schemas.openxmlformats.org/drawingml/2006/main" noGrp="1"/>
          </p:cNvSpPr>
          <p:nvPr/>
        </p:nvSpPr>
        <p:spPr>
          <a:xfrm xmlns:a="http://schemas.openxmlformats.org/drawingml/2006/main">
            <a:off x="5981700" y="4248150"/>
            <a:ext cx="2209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See relevant programs with published rules and sources.</a:t>
            </a:r>
          </a:p>
        </p:txBody>
      </p:sp>
      <p:sp>
        <p:nvSpPr>
          <p:cNvPr id="19" name="">
            <a:extLst xmlns:a="http://schemas.openxmlformats.org/drawingml/2006/main">
              <a:ext uri="{FF2B5EF4-FFF2-40B4-BE49-F238E27FC236}">
                <a16:creationId xmlns:a16="http://schemas.microsoft.com/office/drawing/2014/main" id="{69967F70-AC34-4C6F-BDE9-33B4485255BA}"/>
              </a:ext>
            </a:extLst>
          </p:cNvPr>
          <p:cNvSpPr>
            <a:spLocks xmlns:a="http://schemas.openxmlformats.org/drawingml/2006/main" noGrp="1"/>
          </p:cNvSpPr>
          <p:nvPr/>
        </p:nvSpPr>
        <p:spPr>
          <a:xfrm xmlns:a="http://schemas.openxmlformats.org/drawingml/2006/main">
            <a:off x="9448800" y="2667000"/>
            <a:ext cx="647700" cy="647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FC311D4-6D0C-4FCC-B008-745D8D012800}"/>
              </a:ext>
            </a:extLst>
          </p:cNvPr>
          <p:cNvSpPr>
            <a:spLocks xmlns:a="http://schemas.openxmlformats.org/drawingml/2006/main" noGrp="1"/>
          </p:cNvSpPr>
          <p:nvPr/>
        </p:nvSpPr>
        <p:spPr>
          <a:xfrm xmlns:a="http://schemas.openxmlformats.org/drawingml/2006/main">
            <a:off x="9639300" y="28479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4</a:t>
            </a:r>
          </a:p>
        </p:txBody>
      </p:sp>
      <p:sp>
        <p:nvSpPr>
          <p:cNvPr id="21" name="">
            <a:extLst xmlns:a="http://schemas.openxmlformats.org/drawingml/2006/main">
              <a:ext uri="{FF2B5EF4-FFF2-40B4-BE49-F238E27FC236}">
                <a16:creationId xmlns:a16="http://schemas.microsoft.com/office/drawing/2014/main" id="{0F2AABAB-D176-4C9B-89B8-76441C1FD63C}"/>
              </a:ext>
            </a:extLst>
          </p:cNvPr>
          <p:cNvSpPr>
            <a:spLocks xmlns:a="http://schemas.openxmlformats.org/drawingml/2006/main" noGrp="1"/>
          </p:cNvSpPr>
          <p:nvPr/>
        </p:nvSpPr>
        <p:spPr>
          <a:xfrm xmlns:a="http://schemas.openxmlformats.org/drawingml/2006/main">
            <a:off x="8743950" y="35814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Explore and apply</a:t>
            </a:r>
          </a:p>
        </p:txBody>
      </p:sp>
      <p:sp>
        <p:nvSpPr>
          <p:cNvPr id="22" name="">
            <a:extLst xmlns:a="http://schemas.openxmlformats.org/drawingml/2006/main">
              <a:ext uri="{FF2B5EF4-FFF2-40B4-BE49-F238E27FC236}">
                <a16:creationId xmlns:a16="http://schemas.microsoft.com/office/drawing/2014/main" id="{06C92F80-D837-4601-B438-51DC24F56BD9}"/>
              </a:ext>
            </a:extLst>
          </p:cNvPr>
          <p:cNvSpPr>
            <a:spLocks xmlns:a="http://schemas.openxmlformats.org/drawingml/2006/main" noGrp="1"/>
          </p:cNvSpPr>
          <p:nvPr/>
        </p:nvSpPr>
        <p:spPr>
          <a:xfrm xmlns:a="http://schemas.openxmlformats.org/drawingml/2006/main">
            <a:off x="8667750" y="4248150"/>
            <a:ext cx="2209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Ask questions, then continue on the official site with the side-panel guide.</a:t>
            </a:r>
          </a:p>
        </p:txBody>
      </p:sp>
      <p:sp>
        <p:nvSpPr>
          <p:cNvPr id="23" name="">
            <a:extLst xmlns:a="http://schemas.openxmlformats.org/drawingml/2006/main">
              <a:ext uri="{FF2B5EF4-FFF2-40B4-BE49-F238E27FC236}">
                <a16:creationId xmlns:a16="http://schemas.microsoft.com/office/drawing/2014/main" id="{1904A544-0633-4F8A-95B6-2FC7047A4E71}"/>
              </a:ext>
            </a:extLst>
          </p:cNvPr>
          <p:cNvSpPr>
            <a:spLocks xmlns:a="http://schemas.openxmlformats.org/drawingml/2006/main" noGrp="1"/>
          </p:cNvSpPr>
          <p:nvPr/>
        </p:nvSpPr>
        <p:spPr>
          <a:xfrm xmlns:a="http://schemas.openxmlformats.org/drawingml/2006/main">
            <a:off x="3238500" y="5848350"/>
            <a:ext cx="180975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4" name="">
            <a:extLst xmlns:a="http://schemas.openxmlformats.org/drawingml/2006/main">
              <a:ext uri="{FF2B5EF4-FFF2-40B4-BE49-F238E27FC236}">
                <a16:creationId xmlns:a16="http://schemas.microsoft.com/office/drawing/2014/main" id="{5FE089E8-0E17-4BDE-B574-9DC75E965CE4}"/>
              </a:ext>
            </a:extLst>
          </p:cNvPr>
          <p:cNvSpPr>
            <a:spLocks xmlns:a="http://schemas.openxmlformats.org/drawingml/2006/main" noGrp="1"/>
          </p:cNvSpPr>
          <p:nvPr/>
        </p:nvSpPr>
        <p:spPr>
          <a:xfrm xmlns:a="http://schemas.openxmlformats.org/drawingml/2006/main">
            <a:off x="3333750" y="59245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NO ACCOUNT REQUIRED</a:t>
            </a:r>
          </a:p>
        </p:txBody>
      </p:sp>
      <p:sp>
        <p:nvSpPr>
          <p:cNvPr id="25" name="">
            <a:extLst xmlns:a="http://schemas.openxmlformats.org/drawingml/2006/main">
              <a:ext uri="{FF2B5EF4-FFF2-40B4-BE49-F238E27FC236}">
                <a16:creationId xmlns:a16="http://schemas.microsoft.com/office/drawing/2014/main" id="{987FE80A-0ABB-4806-A3A4-64553F072E0C}"/>
              </a:ext>
            </a:extLst>
          </p:cNvPr>
          <p:cNvSpPr>
            <a:spLocks xmlns:a="http://schemas.openxmlformats.org/drawingml/2006/main" noGrp="1"/>
          </p:cNvSpPr>
          <p:nvPr/>
        </p:nvSpPr>
        <p:spPr>
          <a:xfrm xmlns:a="http://schemas.openxmlformats.org/drawingml/2006/main">
            <a:off x="5219700" y="5848350"/>
            <a:ext cx="180975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6" name="">
            <a:extLst xmlns:a="http://schemas.openxmlformats.org/drawingml/2006/main">
              <a:ext uri="{FF2B5EF4-FFF2-40B4-BE49-F238E27FC236}">
                <a16:creationId xmlns:a16="http://schemas.microsoft.com/office/drawing/2014/main" id="{D94D80B0-A023-4BF1-A4F9-93C5C544F91F}"/>
              </a:ext>
            </a:extLst>
          </p:cNvPr>
          <p:cNvSpPr>
            <a:spLocks xmlns:a="http://schemas.openxmlformats.org/drawingml/2006/main" noGrp="1"/>
          </p:cNvSpPr>
          <p:nvPr/>
        </p:nvSpPr>
        <p:spPr>
          <a:xfrm xmlns:a="http://schemas.openxmlformats.org/drawingml/2006/main">
            <a:off x="5314950" y="59245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OPTIONAL QUESTIONS</a:t>
            </a:r>
          </a:p>
        </p:txBody>
      </p:sp>
      <p:sp>
        <p:nvSpPr>
          <p:cNvPr id="27" name="">
            <a:extLst xmlns:a="http://schemas.openxmlformats.org/drawingml/2006/main">
              <a:ext uri="{FF2B5EF4-FFF2-40B4-BE49-F238E27FC236}">
                <a16:creationId xmlns:a16="http://schemas.microsoft.com/office/drawing/2014/main" id="{BC774C90-5488-438B-93CE-4FA1479A5715}"/>
              </a:ext>
            </a:extLst>
          </p:cNvPr>
          <p:cNvSpPr>
            <a:spLocks xmlns:a="http://schemas.openxmlformats.org/drawingml/2006/main" noGrp="1"/>
          </p:cNvSpPr>
          <p:nvPr/>
        </p:nvSpPr>
        <p:spPr>
          <a:xfrm xmlns:a="http://schemas.openxmlformats.org/drawingml/2006/main">
            <a:off x="7200900" y="5848350"/>
            <a:ext cx="180975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8" name="">
            <a:extLst xmlns:a="http://schemas.openxmlformats.org/drawingml/2006/main">
              <a:ext uri="{FF2B5EF4-FFF2-40B4-BE49-F238E27FC236}">
                <a16:creationId xmlns:a16="http://schemas.microsoft.com/office/drawing/2014/main" id="{40B920FA-4D6D-4D1B-BB5A-30518A33AC90}"/>
              </a:ext>
            </a:extLst>
          </p:cNvPr>
          <p:cNvSpPr>
            <a:spLocks xmlns:a="http://schemas.openxmlformats.org/drawingml/2006/main" noGrp="1"/>
          </p:cNvSpPr>
          <p:nvPr/>
        </p:nvSpPr>
        <p:spPr>
          <a:xfrm xmlns:a="http://schemas.openxmlformats.org/drawingml/2006/main">
            <a:off x="7296150" y="59245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OFFICIAL SOURCES</a:t>
            </a:r>
          </a:p>
        </p:txBody>
      </p:sp>
      <p:sp>
        <p:nvSpPr>
          <p:cNvPr id="29" name="">
            <a:extLst xmlns:a="http://schemas.openxmlformats.org/drawingml/2006/main">
              <a:ext uri="{FF2B5EF4-FFF2-40B4-BE49-F238E27FC236}">
                <a16:creationId xmlns:a16="http://schemas.microsoft.com/office/drawing/2014/main" id="{30227453-531A-4FFA-BB98-7DE4D1586E62}"/>
              </a:ext>
            </a:extLst>
          </p:cNvPr>
          <p:cNvSpPr>
            <a:spLocks xmlns:a="http://schemas.openxmlformats.org/drawingml/2006/main" noGrp="1"/>
          </p:cNvSpPr>
          <p:nvPr/>
        </p:nvSpPr>
        <p:spPr>
          <a:xfrm xmlns:a="http://schemas.openxmlformats.org/drawingml/2006/main">
            <a:off x="9182100" y="5848350"/>
            <a:ext cx="232410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30" name="">
            <a:extLst xmlns:a="http://schemas.openxmlformats.org/drawingml/2006/main">
              <a:ext uri="{FF2B5EF4-FFF2-40B4-BE49-F238E27FC236}">
                <a16:creationId xmlns:a16="http://schemas.microsoft.com/office/drawing/2014/main" id="{0108E3D6-BBCE-4EAB-920B-AF9B26527068}"/>
              </a:ext>
            </a:extLst>
          </p:cNvPr>
          <p:cNvSpPr>
            <a:spLocks xmlns:a="http://schemas.openxmlformats.org/drawingml/2006/main" noGrp="1"/>
          </p:cNvSpPr>
          <p:nvPr/>
        </p:nvSpPr>
        <p:spPr>
          <a:xfrm xmlns:a="http://schemas.openxmlformats.org/drawingml/2006/main">
            <a:off x="9277350" y="592455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ACCESSIBLE DESIGN</a:t>
            </a:r>
          </a:p>
        </p:txBody>
      </p:sp>
    </p:spTree>
    <p:extLst>
      <p:ext uri="{BB962C8B-B14F-4D97-AF65-F5344CB8AC3E}">
        <p14:creationId xmlns:p14="http://schemas.microsoft.com/office/powerpoint/2010/main" val="271195162"/>
      </p:ext>
    </p:extLst>
  </p:cSld>
</p:sld>
</file>

<file path=ppt/slides/slide5.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F45D335-D25F-4FBE-A3E4-3AA4601E5DE9}"/>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CAAE5940-70AE-4B73-8A47-9953DB9E6C73}"/>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9F51259E-E350-4CD9-A8E2-9F661BC149C8}"/>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05</a:t>
            </a:r>
          </a:p>
        </p:txBody>
      </p:sp>
      <p:sp>
        <p:nvSpPr>
          <p:cNvPr id="4" name="">
            <a:extLst xmlns:a="http://schemas.openxmlformats.org/drawingml/2006/main">
              <a:ext uri="{FF2B5EF4-FFF2-40B4-BE49-F238E27FC236}">
                <a16:creationId xmlns:a16="http://schemas.microsoft.com/office/drawing/2014/main" id="{66CEFCF9-0740-429C-913A-DA0DA1960162}"/>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Every result is built to be checked</a:t>
            </a:r>
          </a:p>
        </p:txBody>
      </p:sp>
      <p:sp>
        <p:nvSpPr>
          <p:cNvPr id="5" name="">
            <a:extLst xmlns:a="http://schemas.openxmlformats.org/drawingml/2006/main">
              <a:ext uri="{FF2B5EF4-FFF2-40B4-BE49-F238E27FC236}">
                <a16:creationId xmlns:a16="http://schemas.microsoft.com/office/drawing/2014/main" id="{6D7F40E9-3316-4343-9291-B904C2E9B5B2}"/>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AI explains the match. Published rules and program administrators decide.</a:t>
            </a:r>
          </a:p>
        </p:txBody>
      </p:sp>
      <p:sp>
        <p:nvSpPr>
          <p:cNvPr id="6" name="">
            <a:extLst xmlns:a="http://schemas.openxmlformats.org/drawingml/2006/main">
              <a:ext uri="{FF2B5EF4-FFF2-40B4-BE49-F238E27FC236}">
                <a16:creationId xmlns:a16="http://schemas.microsoft.com/office/drawing/2014/main" id="{2A21E34B-F6E2-4BBA-B523-A27C0229781B}"/>
              </a:ext>
            </a:extLst>
          </p:cNvPr>
          <p:cNvSpPr>
            <a:spLocks xmlns:a="http://schemas.openxmlformats.org/drawingml/2006/main" noGrp="1"/>
          </p:cNvSpPr>
          <p:nvPr/>
        </p:nvSpPr>
        <p:spPr>
          <a:xfrm xmlns:a="http://schemas.openxmlformats.org/drawingml/2006/main">
            <a:off x="3143250" y="2476500"/>
            <a:ext cx="4953000" cy="3333750"/>
          </a:xfrm>
          <a:prstGeom xmlns:a="http://schemas.openxmlformats.org/drawingml/2006/main" prst="roundRect">
            <a:avLst>
              <a:gd name="adj" fmla="val 3429"/>
            </a:avLst>
          </a:prstGeom>
          <a:solidFill xmlns:a="http://schemas.openxmlformats.org/drawingml/2006/main">
            <a:srgbClr val="FFFDFC"/>
          </a:solidFill>
          <a:ln xmlns:a="http://schemas.openxmlformats.org/drawingml/2006/main" w="9525">
            <a:solidFill>
              <a:srgbClr val="BEDBCF"/>
            </a:solidFill>
            <a:prstDash val="solid"/>
          </a:ln>
        </p:spPr>
      </p:sp>
      <p:sp>
        <p:nvSpPr>
          <p:cNvPr id="7" name="">
            <a:extLst xmlns:a="http://schemas.openxmlformats.org/drawingml/2006/main">
              <a:ext uri="{FF2B5EF4-FFF2-40B4-BE49-F238E27FC236}">
                <a16:creationId xmlns:a16="http://schemas.microsoft.com/office/drawing/2014/main" id="{711B61A7-BE81-4443-B18A-40DA71C60DAF}"/>
              </a:ext>
            </a:extLst>
          </p:cNvPr>
          <p:cNvSpPr>
            <a:spLocks xmlns:a="http://schemas.openxmlformats.org/drawingml/2006/main" noGrp="1"/>
          </p:cNvSpPr>
          <p:nvPr/>
        </p:nvSpPr>
        <p:spPr>
          <a:xfrm xmlns:a="http://schemas.openxmlformats.org/drawingml/2006/main">
            <a:off x="3476625" y="28194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HOME SUPPORT · SUNNYVALE</a:t>
            </a:r>
          </a:p>
        </p:txBody>
      </p:sp>
      <p:sp>
        <p:nvSpPr>
          <p:cNvPr id="8" name="">
            <a:extLst xmlns:a="http://schemas.openxmlformats.org/drawingml/2006/main">
              <a:ext uri="{FF2B5EF4-FFF2-40B4-BE49-F238E27FC236}">
                <a16:creationId xmlns:a16="http://schemas.microsoft.com/office/drawing/2014/main" id="{6D37EB1C-C814-4D0E-A8AC-635E3A3D9D35}"/>
              </a:ext>
            </a:extLst>
          </p:cNvPr>
          <p:cNvSpPr>
            <a:spLocks xmlns:a="http://schemas.openxmlformats.org/drawingml/2006/main" noGrp="1"/>
          </p:cNvSpPr>
          <p:nvPr/>
        </p:nvSpPr>
        <p:spPr>
          <a:xfrm xmlns:a="http://schemas.openxmlformats.org/drawingml/2006/main">
            <a:off x="3476625" y="3257550"/>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Sunnyvale Home Access Grant</a:t>
            </a:r>
          </a:p>
        </p:txBody>
      </p:sp>
      <p:sp>
        <p:nvSpPr>
          <p:cNvPr id="9" name="">
            <a:extLst xmlns:a="http://schemas.openxmlformats.org/drawingml/2006/main">
              <a:ext uri="{FF2B5EF4-FFF2-40B4-BE49-F238E27FC236}">
                <a16:creationId xmlns:a16="http://schemas.microsoft.com/office/drawing/2014/main" id="{965A816C-BE74-4922-94F3-C2EF9B673AD1}"/>
              </a:ext>
            </a:extLst>
          </p:cNvPr>
          <p:cNvSpPr>
            <a:spLocks xmlns:a="http://schemas.openxmlformats.org/drawingml/2006/main" noGrp="1"/>
          </p:cNvSpPr>
          <p:nvPr/>
        </p:nvSpPr>
        <p:spPr>
          <a:xfrm xmlns:a="http://schemas.openxmlformats.org/drawingml/2006/main">
            <a:off x="3476625" y="390525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145D4F"/>
                </a:solidFill>
                <a:latin typeface="Avenir Next"/>
                <a:ea typeface="Avenir Next"/>
                <a:cs typeface="Avenir Next"/>
              </a:defRPr>
            </a:defPPr>
            <a:lvl1pPr algn="l">
              <a:defRPr sz="1500" b="1" i="0">
                <a:solidFill>
                  <a:srgbClr val="145D4F"/>
                </a:solidFill>
                <a:latin typeface="Avenir Next"/>
                <a:ea typeface="Avenir Next"/>
                <a:cs typeface="Avenir Next"/>
              </a:defRPr>
            </a:lvl1pPr>
            <a:lvl2pPr algn="l">
              <a:defRPr sz="1500" b="1" i="0">
                <a:solidFill>
                  <a:srgbClr val="145D4F"/>
                </a:solidFill>
                <a:latin typeface="Avenir Next"/>
                <a:ea typeface="Avenir Next"/>
                <a:cs typeface="Avenir Next"/>
              </a:defRPr>
            </a:lvl2pPr>
            <a:lvl3pPr algn="l">
              <a:defRPr sz="1500" b="1" i="0">
                <a:solidFill>
                  <a:srgbClr val="145D4F"/>
                </a:solidFill>
                <a:latin typeface="Avenir Next"/>
                <a:ea typeface="Avenir Next"/>
                <a:cs typeface="Avenir Next"/>
              </a:defRPr>
            </a:lvl3pPr>
            <a:lvl4pPr algn="l">
              <a:defRPr sz="1500" b="1" i="0">
                <a:solidFill>
                  <a:srgbClr val="145D4F"/>
                </a:solidFill>
                <a:latin typeface="Avenir Next"/>
                <a:ea typeface="Avenir Next"/>
                <a:cs typeface="Avenir Next"/>
              </a:defRPr>
            </a:lvl4pPr>
            <a:lvl5pPr algn="l">
              <a:defRPr sz="1500" b="1" i="0">
                <a:solidFill>
                  <a:srgbClr val="145D4F"/>
                </a:solidFill>
                <a:latin typeface="Avenir Next"/>
                <a:ea typeface="Avenir Next"/>
                <a:cs typeface="Avenir Next"/>
              </a:defRPr>
            </a:lvl5pPr>
            <a:lvl6pPr algn="l">
              <a:defRPr sz="1500" b="1" i="0">
                <a:solidFill>
                  <a:srgbClr val="145D4F"/>
                </a:solidFill>
                <a:latin typeface="Avenir Next"/>
                <a:ea typeface="Avenir Next"/>
                <a:cs typeface="Avenir Next"/>
              </a:defRPr>
            </a:lvl6pPr>
            <a:lvl7pPr algn="l">
              <a:defRPr sz="1500" b="1" i="0">
                <a:solidFill>
                  <a:srgbClr val="145D4F"/>
                </a:solidFill>
                <a:latin typeface="Avenir Next"/>
                <a:ea typeface="Avenir Next"/>
                <a:cs typeface="Avenir Next"/>
              </a:defRPr>
            </a:lvl7pPr>
            <a:lvl8pPr algn="l">
              <a:defRPr sz="1500" b="1" i="0">
                <a:solidFill>
                  <a:srgbClr val="145D4F"/>
                </a:solidFill>
                <a:latin typeface="Avenir Next"/>
                <a:ea typeface="Avenir Next"/>
                <a:cs typeface="Avenir Next"/>
              </a:defRPr>
            </a:lvl8pPr>
            <a:lvl9pPr algn="l">
              <a:defRPr sz="1500" b="1" i="0">
                <a:solidFill>
                  <a:srgbClr val="145D4F"/>
                </a:solidFill>
                <a:latin typeface="Avenir Next"/>
                <a:ea typeface="Avenir Next"/>
                <a:cs typeface="Avenir Next"/>
              </a:defRPr>
            </a:lvl9pPr>
          </a:lstStyle>
          <a:p xmlns:a="http://schemas.openxmlformats.org/drawingml/2006/main">
            <a:pPr algn="l">
              <a:defRPr sz="1500" b="1" i="0">
                <a:solidFill>
                  <a:srgbClr val="145D4F"/>
                </a:solidFill>
                <a:latin typeface="Avenir Next"/>
                <a:ea typeface="Avenir Next"/>
                <a:cs typeface="Avenir Next"/>
              </a:defRPr>
            </a:pPr>
            <a:r>
              <a:rPr sz="1500" b="1" i="0">
                <a:solidFill>
                  <a:srgbClr val="145D4F"/>
                </a:solidFill>
                <a:latin typeface="Avenir Next"/>
                <a:ea typeface="Avenir Next"/>
                <a:cs typeface="Avenir Next"/>
              </a:rPr>
              <a:t>Up to $9,500 for accessibility improvements</a:t>
            </a:r>
          </a:p>
        </p:txBody>
      </p:sp>
      <p:sp>
        <p:nvSpPr>
          <p:cNvPr id="10" name="">
            <a:extLst xmlns:a="http://schemas.openxmlformats.org/drawingml/2006/main">
              <a:ext uri="{FF2B5EF4-FFF2-40B4-BE49-F238E27FC236}">
                <a16:creationId xmlns:a16="http://schemas.microsoft.com/office/drawing/2014/main" id="{6FA59349-A91D-474F-A096-95520DA6B558}"/>
              </a:ext>
            </a:extLst>
          </p:cNvPr>
          <p:cNvSpPr>
            <a:spLocks xmlns:a="http://schemas.openxmlformats.org/drawingml/2006/main" noGrp="1"/>
          </p:cNvSpPr>
          <p:nvPr/>
        </p:nvSpPr>
        <p:spPr>
          <a:xfrm xmlns:a="http://schemas.openxmlformats.org/drawingml/2006/main">
            <a:off x="3476625" y="46291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3BC5F40-77EF-428A-ACFB-E8E5A831286B}"/>
              </a:ext>
            </a:extLst>
          </p:cNvPr>
          <p:cNvSpPr>
            <a:spLocks xmlns:a="http://schemas.openxmlformats.org/drawingml/2006/main" noGrp="1"/>
          </p:cNvSpPr>
          <p:nvPr/>
        </p:nvSpPr>
        <p:spPr>
          <a:xfrm xmlns:a="http://schemas.openxmlformats.org/drawingml/2006/main">
            <a:off x="3486150" y="46005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12" name="">
            <a:extLst xmlns:a="http://schemas.openxmlformats.org/drawingml/2006/main">
              <a:ext uri="{FF2B5EF4-FFF2-40B4-BE49-F238E27FC236}">
                <a16:creationId xmlns:a16="http://schemas.microsoft.com/office/drawing/2014/main" id="{0AAD1AD4-CEAD-4915-A896-41F5A4C14A9F}"/>
              </a:ext>
            </a:extLst>
          </p:cNvPr>
          <p:cNvSpPr>
            <a:spLocks xmlns:a="http://schemas.openxmlformats.org/drawingml/2006/main" noGrp="1"/>
          </p:cNvSpPr>
          <p:nvPr/>
        </p:nvSpPr>
        <p:spPr>
          <a:xfrm xmlns:a="http://schemas.openxmlformats.org/drawingml/2006/main">
            <a:off x="3810000" y="46101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073E35"/>
                </a:solidFill>
                <a:latin typeface="Avenir Next"/>
                <a:ea typeface="Avenir Next"/>
                <a:cs typeface="Avenir Next"/>
              </a:defRPr>
            </a:defPPr>
            <a:lvl1pPr algn="l">
              <a:defRPr sz="1050" b="1" i="0">
                <a:solidFill>
                  <a:srgbClr val="073E35"/>
                </a:solidFill>
                <a:latin typeface="Avenir Next"/>
                <a:ea typeface="Avenir Next"/>
                <a:cs typeface="Avenir Next"/>
              </a:defRPr>
            </a:lvl1pPr>
            <a:lvl2pPr algn="l">
              <a:defRPr sz="1050" b="1" i="0">
                <a:solidFill>
                  <a:srgbClr val="073E35"/>
                </a:solidFill>
                <a:latin typeface="Avenir Next"/>
                <a:ea typeface="Avenir Next"/>
                <a:cs typeface="Avenir Next"/>
              </a:defRPr>
            </a:lvl2pPr>
            <a:lvl3pPr algn="l">
              <a:defRPr sz="1050" b="1" i="0">
                <a:solidFill>
                  <a:srgbClr val="073E35"/>
                </a:solidFill>
                <a:latin typeface="Avenir Next"/>
                <a:ea typeface="Avenir Next"/>
                <a:cs typeface="Avenir Next"/>
              </a:defRPr>
            </a:lvl3pPr>
            <a:lvl4pPr algn="l">
              <a:defRPr sz="1050" b="1" i="0">
                <a:solidFill>
                  <a:srgbClr val="073E35"/>
                </a:solidFill>
                <a:latin typeface="Avenir Next"/>
                <a:ea typeface="Avenir Next"/>
                <a:cs typeface="Avenir Next"/>
              </a:defRPr>
            </a:lvl4pPr>
            <a:lvl5pPr algn="l">
              <a:defRPr sz="1050" b="1" i="0">
                <a:solidFill>
                  <a:srgbClr val="073E35"/>
                </a:solidFill>
                <a:latin typeface="Avenir Next"/>
                <a:ea typeface="Avenir Next"/>
                <a:cs typeface="Avenir Next"/>
              </a:defRPr>
            </a:lvl5pPr>
            <a:lvl6pPr algn="l">
              <a:defRPr sz="1050" b="1" i="0">
                <a:solidFill>
                  <a:srgbClr val="073E35"/>
                </a:solidFill>
                <a:latin typeface="Avenir Next"/>
                <a:ea typeface="Avenir Next"/>
                <a:cs typeface="Avenir Next"/>
              </a:defRPr>
            </a:lvl6pPr>
            <a:lvl7pPr algn="l">
              <a:defRPr sz="1050" b="1" i="0">
                <a:solidFill>
                  <a:srgbClr val="073E35"/>
                </a:solidFill>
                <a:latin typeface="Avenir Next"/>
                <a:ea typeface="Avenir Next"/>
                <a:cs typeface="Avenir Next"/>
              </a:defRPr>
            </a:lvl7pPr>
            <a:lvl8pPr algn="l">
              <a:defRPr sz="1050" b="1" i="0">
                <a:solidFill>
                  <a:srgbClr val="073E35"/>
                </a:solidFill>
                <a:latin typeface="Avenir Next"/>
                <a:ea typeface="Avenir Next"/>
                <a:cs typeface="Avenir Next"/>
              </a:defRPr>
            </a:lvl8pPr>
            <a:lvl9pPr algn="l">
              <a:defRPr sz="1050" b="1" i="0">
                <a:solidFill>
                  <a:srgbClr val="073E35"/>
                </a:solidFill>
                <a:latin typeface="Avenir Next"/>
                <a:ea typeface="Avenir Next"/>
                <a:cs typeface="Avenir Next"/>
              </a:defRPr>
            </a:lvl9pPr>
          </a:lstStyle>
          <a:p xmlns:a="http://schemas.openxmlformats.org/drawingml/2006/main">
            <a:pPr algn="l">
              <a:defRPr sz="1050" b="1" i="0">
                <a:solidFill>
                  <a:srgbClr val="073E35"/>
                </a:solidFill>
                <a:latin typeface="Avenir Next"/>
                <a:ea typeface="Avenir Next"/>
                <a:cs typeface="Avenir Next"/>
              </a:defRPr>
            </a:pPr>
            <a:r>
              <a:rPr sz="1050" b="1" i="0">
                <a:solidFill>
                  <a:srgbClr val="073E35"/>
                </a:solidFill>
                <a:latin typeface="Avenir Next"/>
                <a:ea typeface="Avenir Next"/>
                <a:cs typeface="Avenir Next"/>
              </a:rPr>
              <a:t>Published eligibility</a:t>
            </a:r>
          </a:p>
        </p:txBody>
      </p:sp>
      <p:sp>
        <p:nvSpPr>
          <p:cNvPr id="13" name="">
            <a:extLst xmlns:a="http://schemas.openxmlformats.org/drawingml/2006/main">
              <a:ext uri="{FF2B5EF4-FFF2-40B4-BE49-F238E27FC236}">
                <a16:creationId xmlns:a16="http://schemas.microsoft.com/office/drawing/2014/main" id="{4E5A9B15-4259-4332-AE24-F9AEFC65B988}"/>
              </a:ext>
            </a:extLst>
          </p:cNvPr>
          <p:cNvSpPr>
            <a:spLocks xmlns:a="http://schemas.openxmlformats.org/drawingml/2006/main" noGrp="1"/>
          </p:cNvSpPr>
          <p:nvPr/>
        </p:nvSpPr>
        <p:spPr>
          <a:xfrm xmlns:a="http://schemas.openxmlformats.org/drawingml/2006/main">
            <a:off x="5191125" y="46101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60716D"/>
                </a:solidFill>
                <a:latin typeface="Avenir Next"/>
                <a:ea typeface="Avenir Next"/>
                <a:cs typeface="Avenir Next"/>
              </a:defRPr>
            </a:defPPr>
            <a:lvl1pPr algn="l">
              <a:defRPr sz="1050" b="0" i="0">
                <a:solidFill>
                  <a:srgbClr val="60716D"/>
                </a:solidFill>
                <a:latin typeface="Avenir Next"/>
                <a:ea typeface="Avenir Next"/>
                <a:cs typeface="Avenir Next"/>
              </a:defRPr>
            </a:lvl1pPr>
            <a:lvl2pPr algn="l">
              <a:defRPr sz="1050" b="0" i="0">
                <a:solidFill>
                  <a:srgbClr val="60716D"/>
                </a:solidFill>
                <a:latin typeface="Avenir Next"/>
                <a:ea typeface="Avenir Next"/>
                <a:cs typeface="Avenir Next"/>
              </a:defRPr>
            </a:lvl2pPr>
            <a:lvl3pPr algn="l">
              <a:defRPr sz="1050" b="0" i="0">
                <a:solidFill>
                  <a:srgbClr val="60716D"/>
                </a:solidFill>
                <a:latin typeface="Avenir Next"/>
                <a:ea typeface="Avenir Next"/>
                <a:cs typeface="Avenir Next"/>
              </a:defRPr>
            </a:lvl3pPr>
            <a:lvl4pPr algn="l">
              <a:defRPr sz="1050" b="0" i="0">
                <a:solidFill>
                  <a:srgbClr val="60716D"/>
                </a:solidFill>
                <a:latin typeface="Avenir Next"/>
                <a:ea typeface="Avenir Next"/>
                <a:cs typeface="Avenir Next"/>
              </a:defRPr>
            </a:lvl4pPr>
            <a:lvl5pPr algn="l">
              <a:defRPr sz="1050" b="0" i="0">
                <a:solidFill>
                  <a:srgbClr val="60716D"/>
                </a:solidFill>
                <a:latin typeface="Avenir Next"/>
                <a:ea typeface="Avenir Next"/>
                <a:cs typeface="Avenir Next"/>
              </a:defRPr>
            </a:lvl5pPr>
            <a:lvl6pPr algn="l">
              <a:defRPr sz="1050" b="0" i="0">
                <a:solidFill>
                  <a:srgbClr val="60716D"/>
                </a:solidFill>
                <a:latin typeface="Avenir Next"/>
                <a:ea typeface="Avenir Next"/>
                <a:cs typeface="Avenir Next"/>
              </a:defRPr>
            </a:lvl6pPr>
            <a:lvl7pPr algn="l">
              <a:defRPr sz="1050" b="0" i="0">
                <a:solidFill>
                  <a:srgbClr val="60716D"/>
                </a:solidFill>
                <a:latin typeface="Avenir Next"/>
                <a:ea typeface="Avenir Next"/>
                <a:cs typeface="Avenir Next"/>
              </a:defRPr>
            </a:lvl7pPr>
            <a:lvl8pPr algn="l">
              <a:defRPr sz="1050" b="0" i="0">
                <a:solidFill>
                  <a:srgbClr val="60716D"/>
                </a:solidFill>
                <a:latin typeface="Avenir Next"/>
                <a:ea typeface="Avenir Next"/>
                <a:cs typeface="Avenir Next"/>
              </a:defRPr>
            </a:lvl8pPr>
            <a:lvl9pPr algn="l">
              <a:defRPr sz="1050" b="0" i="0">
                <a:solidFill>
                  <a:srgbClr val="60716D"/>
                </a:solidFill>
                <a:latin typeface="Avenir Next"/>
                <a:ea typeface="Avenir Next"/>
                <a:cs typeface="Avenir Next"/>
              </a:defRPr>
            </a:lvl9pPr>
          </a:lstStyle>
          <a:p xmlns:a="http://schemas.openxmlformats.org/drawingml/2006/main">
            <a:pPr algn="l">
              <a:defRPr sz="1050" b="0" i="0">
                <a:solidFill>
                  <a:srgbClr val="60716D"/>
                </a:solidFill>
                <a:latin typeface="Avenir Next"/>
                <a:ea typeface="Avenir Next"/>
                <a:cs typeface="Avenir Next"/>
              </a:defRPr>
            </a:pPr>
            <a:r>
              <a:rPr sz="1050" b="0" i="0">
                <a:solidFill>
                  <a:srgbClr val="60716D"/>
                </a:solidFill>
                <a:latin typeface="Avenir Next"/>
                <a:ea typeface="Avenir Next"/>
                <a:cs typeface="Avenir Next"/>
              </a:rPr>
              <a:t>Lower-income Sunnyvale homeowners who are seniors or have a disability</a:t>
            </a:r>
          </a:p>
        </p:txBody>
      </p:sp>
      <p:sp>
        <p:nvSpPr>
          <p:cNvPr id="14" name="">
            <a:extLst xmlns:a="http://schemas.openxmlformats.org/drawingml/2006/main">
              <a:ext uri="{FF2B5EF4-FFF2-40B4-BE49-F238E27FC236}">
                <a16:creationId xmlns:a16="http://schemas.microsoft.com/office/drawing/2014/main" id="{67448831-0F4C-442F-B25F-96F8A4A71A1B}"/>
              </a:ext>
            </a:extLst>
          </p:cNvPr>
          <p:cNvSpPr>
            <a:spLocks xmlns:a="http://schemas.openxmlformats.org/drawingml/2006/main" noGrp="1"/>
          </p:cNvSpPr>
          <p:nvPr/>
        </p:nvSpPr>
        <p:spPr>
          <a:xfrm xmlns:a="http://schemas.openxmlformats.org/drawingml/2006/main">
            <a:off x="3476625" y="50482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800A2EB-C2CA-4687-9687-3ADC21E50EB0}"/>
              </a:ext>
            </a:extLst>
          </p:cNvPr>
          <p:cNvSpPr>
            <a:spLocks xmlns:a="http://schemas.openxmlformats.org/drawingml/2006/main" noGrp="1"/>
          </p:cNvSpPr>
          <p:nvPr/>
        </p:nvSpPr>
        <p:spPr>
          <a:xfrm xmlns:a="http://schemas.openxmlformats.org/drawingml/2006/main">
            <a:off x="3486150" y="50196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16" name="">
            <a:extLst xmlns:a="http://schemas.openxmlformats.org/drawingml/2006/main">
              <a:ext uri="{FF2B5EF4-FFF2-40B4-BE49-F238E27FC236}">
                <a16:creationId xmlns:a16="http://schemas.microsoft.com/office/drawing/2014/main" id="{02F9AFB3-9F60-448C-98DB-E0A49BC2BC46}"/>
              </a:ext>
            </a:extLst>
          </p:cNvPr>
          <p:cNvSpPr>
            <a:spLocks xmlns:a="http://schemas.openxmlformats.org/drawingml/2006/main" noGrp="1"/>
          </p:cNvSpPr>
          <p:nvPr/>
        </p:nvSpPr>
        <p:spPr>
          <a:xfrm xmlns:a="http://schemas.openxmlformats.org/drawingml/2006/main">
            <a:off x="3810000" y="50292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073E35"/>
                </a:solidFill>
                <a:latin typeface="Avenir Next"/>
                <a:ea typeface="Avenir Next"/>
                <a:cs typeface="Avenir Next"/>
              </a:defRPr>
            </a:defPPr>
            <a:lvl1pPr algn="l">
              <a:defRPr sz="1050" b="1" i="0">
                <a:solidFill>
                  <a:srgbClr val="073E35"/>
                </a:solidFill>
                <a:latin typeface="Avenir Next"/>
                <a:ea typeface="Avenir Next"/>
                <a:cs typeface="Avenir Next"/>
              </a:defRPr>
            </a:lvl1pPr>
            <a:lvl2pPr algn="l">
              <a:defRPr sz="1050" b="1" i="0">
                <a:solidFill>
                  <a:srgbClr val="073E35"/>
                </a:solidFill>
                <a:latin typeface="Avenir Next"/>
                <a:ea typeface="Avenir Next"/>
                <a:cs typeface="Avenir Next"/>
              </a:defRPr>
            </a:lvl2pPr>
            <a:lvl3pPr algn="l">
              <a:defRPr sz="1050" b="1" i="0">
                <a:solidFill>
                  <a:srgbClr val="073E35"/>
                </a:solidFill>
                <a:latin typeface="Avenir Next"/>
                <a:ea typeface="Avenir Next"/>
                <a:cs typeface="Avenir Next"/>
              </a:defRPr>
            </a:lvl3pPr>
            <a:lvl4pPr algn="l">
              <a:defRPr sz="1050" b="1" i="0">
                <a:solidFill>
                  <a:srgbClr val="073E35"/>
                </a:solidFill>
                <a:latin typeface="Avenir Next"/>
                <a:ea typeface="Avenir Next"/>
                <a:cs typeface="Avenir Next"/>
              </a:defRPr>
            </a:lvl4pPr>
            <a:lvl5pPr algn="l">
              <a:defRPr sz="1050" b="1" i="0">
                <a:solidFill>
                  <a:srgbClr val="073E35"/>
                </a:solidFill>
                <a:latin typeface="Avenir Next"/>
                <a:ea typeface="Avenir Next"/>
                <a:cs typeface="Avenir Next"/>
              </a:defRPr>
            </a:lvl5pPr>
            <a:lvl6pPr algn="l">
              <a:defRPr sz="1050" b="1" i="0">
                <a:solidFill>
                  <a:srgbClr val="073E35"/>
                </a:solidFill>
                <a:latin typeface="Avenir Next"/>
                <a:ea typeface="Avenir Next"/>
                <a:cs typeface="Avenir Next"/>
              </a:defRPr>
            </a:lvl6pPr>
            <a:lvl7pPr algn="l">
              <a:defRPr sz="1050" b="1" i="0">
                <a:solidFill>
                  <a:srgbClr val="073E35"/>
                </a:solidFill>
                <a:latin typeface="Avenir Next"/>
                <a:ea typeface="Avenir Next"/>
                <a:cs typeface="Avenir Next"/>
              </a:defRPr>
            </a:lvl7pPr>
            <a:lvl8pPr algn="l">
              <a:defRPr sz="1050" b="1" i="0">
                <a:solidFill>
                  <a:srgbClr val="073E35"/>
                </a:solidFill>
                <a:latin typeface="Avenir Next"/>
                <a:ea typeface="Avenir Next"/>
                <a:cs typeface="Avenir Next"/>
              </a:defRPr>
            </a:lvl8pPr>
            <a:lvl9pPr algn="l">
              <a:defRPr sz="1050" b="1" i="0">
                <a:solidFill>
                  <a:srgbClr val="073E35"/>
                </a:solidFill>
                <a:latin typeface="Avenir Next"/>
                <a:ea typeface="Avenir Next"/>
                <a:cs typeface="Avenir Next"/>
              </a:defRPr>
            </a:lvl9pPr>
          </a:lstStyle>
          <a:p xmlns:a="http://schemas.openxmlformats.org/drawingml/2006/main">
            <a:pPr algn="l">
              <a:defRPr sz="1050" b="1" i="0">
                <a:solidFill>
                  <a:srgbClr val="073E35"/>
                </a:solidFill>
                <a:latin typeface="Avenir Next"/>
                <a:ea typeface="Avenir Next"/>
                <a:cs typeface="Avenir Next"/>
              </a:defRPr>
            </a:pPr>
            <a:r>
              <a:rPr sz="1050" b="1" i="0">
                <a:solidFill>
                  <a:srgbClr val="073E35"/>
                </a:solidFill>
                <a:latin typeface="Avenir Next"/>
                <a:ea typeface="Avenir Next"/>
                <a:cs typeface="Avenir Next"/>
              </a:rPr>
              <a:t>Official source</a:t>
            </a:r>
          </a:p>
        </p:txBody>
      </p:sp>
      <p:sp>
        <p:nvSpPr>
          <p:cNvPr id="17" name="">
            <a:extLst xmlns:a="http://schemas.openxmlformats.org/drawingml/2006/main">
              <a:ext uri="{FF2B5EF4-FFF2-40B4-BE49-F238E27FC236}">
                <a16:creationId xmlns:a16="http://schemas.microsoft.com/office/drawing/2014/main" id="{B9AB3F89-CDE9-4AEB-8895-75F59A59DDA4}"/>
              </a:ext>
            </a:extLst>
          </p:cNvPr>
          <p:cNvSpPr>
            <a:spLocks xmlns:a="http://schemas.openxmlformats.org/drawingml/2006/main" noGrp="1"/>
          </p:cNvSpPr>
          <p:nvPr/>
        </p:nvSpPr>
        <p:spPr>
          <a:xfrm xmlns:a="http://schemas.openxmlformats.org/drawingml/2006/main">
            <a:off x="5191125" y="50292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60716D"/>
                </a:solidFill>
                <a:latin typeface="Avenir Next"/>
                <a:ea typeface="Avenir Next"/>
                <a:cs typeface="Avenir Next"/>
              </a:defRPr>
            </a:defPPr>
            <a:lvl1pPr algn="l">
              <a:defRPr sz="1050" b="0" i="0">
                <a:solidFill>
                  <a:srgbClr val="60716D"/>
                </a:solidFill>
                <a:latin typeface="Avenir Next"/>
                <a:ea typeface="Avenir Next"/>
                <a:cs typeface="Avenir Next"/>
              </a:defRPr>
            </a:lvl1pPr>
            <a:lvl2pPr algn="l">
              <a:defRPr sz="1050" b="0" i="0">
                <a:solidFill>
                  <a:srgbClr val="60716D"/>
                </a:solidFill>
                <a:latin typeface="Avenir Next"/>
                <a:ea typeface="Avenir Next"/>
                <a:cs typeface="Avenir Next"/>
              </a:defRPr>
            </a:lvl2pPr>
            <a:lvl3pPr algn="l">
              <a:defRPr sz="1050" b="0" i="0">
                <a:solidFill>
                  <a:srgbClr val="60716D"/>
                </a:solidFill>
                <a:latin typeface="Avenir Next"/>
                <a:ea typeface="Avenir Next"/>
                <a:cs typeface="Avenir Next"/>
              </a:defRPr>
            </a:lvl3pPr>
            <a:lvl4pPr algn="l">
              <a:defRPr sz="1050" b="0" i="0">
                <a:solidFill>
                  <a:srgbClr val="60716D"/>
                </a:solidFill>
                <a:latin typeface="Avenir Next"/>
                <a:ea typeface="Avenir Next"/>
                <a:cs typeface="Avenir Next"/>
              </a:defRPr>
            </a:lvl4pPr>
            <a:lvl5pPr algn="l">
              <a:defRPr sz="1050" b="0" i="0">
                <a:solidFill>
                  <a:srgbClr val="60716D"/>
                </a:solidFill>
                <a:latin typeface="Avenir Next"/>
                <a:ea typeface="Avenir Next"/>
                <a:cs typeface="Avenir Next"/>
              </a:defRPr>
            </a:lvl5pPr>
            <a:lvl6pPr algn="l">
              <a:defRPr sz="1050" b="0" i="0">
                <a:solidFill>
                  <a:srgbClr val="60716D"/>
                </a:solidFill>
                <a:latin typeface="Avenir Next"/>
                <a:ea typeface="Avenir Next"/>
                <a:cs typeface="Avenir Next"/>
              </a:defRPr>
            </a:lvl6pPr>
            <a:lvl7pPr algn="l">
              <a:defRPr sz="1050" b="0" i="0">
                <a:solidFill>
                  <a:srgbClr val="60716D"/>
                </a:solidFill>
                <a:latin typeface="Avenir Next"/>
                <a:ea typeface="Avenir Next"/>
                <a:cs typeface="Avenir Next"/>
              </a:defRPr>
            </a:lvl7pPr>
            <a:lvl8pPr algn="l">
              <a:defRPr sz="1050" b="0" i="0">
                <a:solidFill>
                  <a:srgbClr val="60716D"/>
                </a:solidFill>
                <a:latin typeface="Avenir Next"/>
                <a:ea typeface="Avenir Next"/>
                <a:cs typeface="Avenir Next"/>
              </a:defRPr>
            </a:lvl8pPr>
            <a:lvl9pPr algn="l">
              <a:defRPr sz="1050" b="0" i="0">
                <a:solidFill>
                  <a:srgbClr val="60716D"/>
                </a:solidFill>
                <a:latin typeface="Avenir Next"/>
                <a:ea typeface="Avenir Next"/>
                <a:cs typeface="Avenir Next"/>
              </a:defRPr>
            </a:lvl9pPr>
          </a:lstStyle>
          <a:p xmlns:a="http://schemas.openxmlformats.org/drawingml/2006/main">
            <a:pPr algn="l">
              <a:defRPr sz="1050" b="0" i="0">
                <a:solidFill>
                  <a:srgbClr val="60716D"/>
                </a:solidFill>
                <a:latin typeface="Avenir Next"/>
                <a:ea typeface="Avenir Next"/>
                <a:cs typeface="Avenir Next"/>
              </a:defRPr>
            </a:pPr>
            <a:r>
              <a:rPr sz="1050" b="0" i="0">
                <a:solidFill>
                  <a:srgbClr val="60716D"/>
                </a:solidFill>
                <a:latin typeface="Avenir Next"/>
                <a:ea typeface="Avenir Next"/>
                <a:cs typeface="Avenir Next"/>
              </a:rPr>
              <a:t>City of Sunnyvale</a:t>
            </a:r>
          </a:p>
        </p:txBody>
      </p:sp>
      <p:sp>
        <p:nvSpPr>
          <p:cNvPr id="18" name="">
            <a:extLst xmlns:a="http://schemas.openxmlformats.org/drawingml/2006/main">
              <a:ext uri="{FF2B5EF4-FFF2-40B4-BE49-F238E27FC236}">
                <a16:creationId xmlns:a16="http://schemas.microsoft.com/office/drawing/2014/main" id="{C31DE0CC-D620-4176-9F1A-5960D73EAF95}"/>
              </a:ext>
            </a:extLst>
          </p:cNvPr>
          <p:cNvSpPr>
            <a:spLocks xmlns:a="http://schemas.openxmlformats.org/drawingml/2006/main" noGrp="1"/>
          </p:cNvSpPr>
          <p:nvPr/>
        </p:nvSpPr>
        <p:spPr>
          <a:xfrm xmlns:a="http://schemas.openxmlformats.org/drawingml/2006/main">
            <a:off x="3476625" y="54673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D4BFBDD-AF93-45B1-86B4-DE5B2F49B433}"/>
              </a:ext>
            </a:extLst>
          </p:cNvPr>
          <p:cNvSpPr>
            <a:spLocks xmlns:a="http://schemas.openxmlformats.org/drawingml/2006/main" noGrp="1"/>
          </p:cNvSpPr>
          <p:nvPr/>
        </p:nvSpPr>
        <p:spPr>
          <a:xfrm xmlns:a="http://schemas.openxmlformats.org/drawingml/2006/main">
            <a:off x="3486150" y="54387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20" name="">
            <a:extLst xmlns:a="http://schemas.openxmlformats.org/drawingml/2006/main">
              <a:ext uri="{FF2B5EF4-FFF2-40B4-BE49-F238E27FC236}">
                <a16:creationId xmlns:a16="http://schemas.microsoft.com/office/drawing/2014/main" id="{B8163824-8B91-4C70-93D6-68135036ECE5}"/>
              </a:ext>
            </a:extLst>
          </p:cNvPr>
          <p:cNvSpPr>
            <a:spLocks xmlns:a="http://schemas.openxmlformats.org/drawingml/2006/main" noGrp="1"/>
          </p:cNvSpPr>
          <p:nvPr/>
        </p:nvSpPr>
        <p:spPr>
          <a:xfrm xmlns:a="http://schemas.openxmlformats.org/drawingml/2006/main">
            <a:off x="3810000" y="54483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073E35"/>
                </a:solidFill>
                <a:latin typeface="Avenir Next"/>
                <a:ea typeface="Avenir Next"/>
                <a:cs typeface="Avenir Next"/>
              </a:defRPr>
            </a:defPPr>
            <a:lvl1pPr algn="l">
              <a:defRPr sz="1050" b="1" i="0">
                <a:solidFill>
                  <a:srgbClr val="073E35"/>
                </a:solidFill>
                <a:latin typeface="Avenir Next"/>
                <a:ea typeface="Avenir Next"/>
                <a:cs typeface="Avenir Next"/>
              </a:defRPr>
            </a:lvl1pPr>
            <a:lvl2pPr algn="l">
              <a:defRPr sz="1050" b="1" i="0">
                <a:solidFill>
                  <a:srgbClr val="073E35"/>
                </a:solidFill>
                <a:latin typeface="Avenir Next"/>
                <a:ea typeface="Avenir Next"/>
                <a:cs typeface="Avenir Next"/>
              </a:defRPr>
            </a:lvl2pPr>
            <a:lvl3pPr algn="l">
              <a:defRPr sz="1050" b="1" i="0">
                <a:solidFill>
                  <a:srgbClr val="073E35"/>
                </a:solidFill>
                <a:latin typeface="Avenir Next"/>
                <a:ea typeface="Avenir Next"/>
                <a:cs typeface="Avenir Next"/>
              </a:defRPr>
            </a:lvl3pPr>
            <a:lvl4pPr algn="l">
              <a:defRPr sz="1050" b="1" i="0">
                <a:solidFill>
                  <a:srgbClr val="073E35"/>
                </a:solidFill>
                <a:latin typeface="Avenir Next"/>
                <a:ea typeface="Avenir Next"/>
                <a:cs typeface="Avenir Next"/>
              </a:defRPr>
            </a:lvl4pPr>
            <a:lvl5pPr algn="l">
              <a:defRPr sz="1050" b="1" i="0">
                <a:solidFill>
                  <a:srgbClr val="073E35"/>
                </a:solidFill>
                <a:latin typeface="Avenir Next"/>
                <a:ea typeface="Avenir Next"/>
                <a:cs typeface="Avenir Next"/>
              </a:defRPr>
            </a:lvl5pPr>
            <a:lvl6pPr algn="l">
              <a:defRPr sz="1050" b="1" i="0">
                <a:solidFill>
                  <a:srgbClr val="073E35"/>
                </a:solidFill>
                <a:latin typeface="Avenir Next"/>
                <a:ea typeface="Avenir Next"/>
                <a:cs typeface="Avenir Next"/>
              </a:defRPr>
            </a:lvl6pPr>
            <a:lvl7pPr algn="l">
              <a:defRPr sz="1050" b="1" i="0">
                <a:solidFill>
                  <a:srgbClr val="073E35"/>
                </a:solidFill>
                <a:latin typeface="Avenir Next"/>
                <a:ea typeface="Avenir Next"/>
                <a:cs typeface="Avenir Next"/>
              </a:defRPr>
            </a:lvl7pPr>
            <a:lvl8pPr algn="l">
              <a:defRPr sz="1050" b="1" i="0">
                <a:solidFill>
                  <a:srgbClr val="073E35"/>
                </a:solidFill>
                <a:latin typeface="Avenir Next"/>
                <a:ea typeface="Avenir Next"/>
                <a:cs typeface="Avenir Next"/>
              </a:defRPr>
            </a:lvl8pPr>
            <a:lvl9pPr algn="l">
              <a:defRPr sz="1050" b="1" i="0">
                <a:solidFill>
                  <a:srgbClr val="073E35"/>
                </a:solidFill>
                <a:latin typeface="Avenir Next"/>
                <a:ea typeface="Avenir Next"/>
                <a:cs typeface="Avenir Next"/>
              </a:defRPr>
            </a:lvl9pPr>
          </a:lstStyle>
          <a:p xmlns:a="http://schemas.openxmlformats.org/drawingml/2006/main">
            <a:pPr algn="l">
              <a:defRPr sz="1050" b="1" i="0">
                <a:solidFill>
                  <a:srgbClr val="073E35"/>
                </a:solidFill>
                <a:latin typeface="Avenir Next"/>
                <a:ea typeface="Avenir Next"/>
                <a:cs typeface="Avenir Next"/>
              </a:defRPr>
            </a:pPr>
            <a:r>
              <a:rPr sz="1050" b="1" i="0">
                <a:solidFill>
                  <a:srgbClr val="073E35"/>
                </a:solidFill>
                <a:latin typeface="Avenir Next"/>
                <a:ea typeface="Avenir Next"/>
                <a:cs typeface="Avenir Next"/>
              </a:rPr>
              <a:t>Last checked</a:t>
            </a:r>
          </a:p>
        </p:txBody>
      </p:sp>
      <p:sp>
        <p:nvSpPr>
          <p:cNvPr id="21" name="">
            <a:extLst xmlns:a="http://schemas.openxmlformats.org/drawingml/2006/main">
              <a:ext uri="{FF2B5EF4-FFF2-40B4-BE49-F238E27FC236}">
                <a16:creationId xmlns:a16="http://schemas.microsoft.com/office/drawing/2014/main" id="{1B34AFB9-92F4-46FA-8917-ABF2CA979C14}"/>
              </a:ext>
            </a:extLst>
          </p:cNvPr>
          <p:cNvSpPr>
            <a:spLocks xmlns:a="http://schemas.openxmlformats.org/drawingml/2006/main" noGrp="1"/>
          </p:cNvSpPr>
          <p:nvPr/>
        </p:nvSpPr>
        <p:spPr>
          <a:xfrm xmlns:a="http://schemas.openxmlformats.org/drawingml/2006/main">
            <a:off x="5191125" y="54483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60716D"/>
                </a:solidFill>
                <a:latin typeface="Avenir Next"/>
                <a:ea typeface="Avenir Next"/>
                <a:cs typeface="Avenir Next"/>
              </a:defRPr>
            </a:defPPr>
            <a:lvl1pPr algn="l">
              <a:defRPr sz="1050" b="0" i="0">
                <a:solidFill>
                  <a:srgbClr val="60716D"/>
                </a:solidFill>
                <a:latin typeface="Avenir Next"/>
                <a:ea typeface="Avenir Next"/>
                <a:cs typeface="Avenir Next"/>
              </a:defRPr>
            </a:lvl1pPr>
            <a:lvl2pPr algn="l">
              <a:defRPr sz="1050" b="0" i="0">
                <a:solidFill>
                  <a:srgbClr val="60716D"/>
                </a:solidFill>
                <a:latin typeface="Avenir Next"/>
                <a:ea typeface="Avenir Next"/>
                <a:cs typeface="Avenir Next"/>
              </a:defRPr>
            </a:lvl2pPr>
            <a:lvl3pPr algn="l">
              <a:defRPr sz="1050" b="0" i="0">
                <a:solidFill>
                  <a:srgbClr val="60716D"/>
                </a:solidFill>
                <a:latin typeface="Avenir Next"/>
                <a:ea typeface="Avenir Next"/>
                <a:cs typeface="Avenir Next"/>
              </a:defRPr>
            </a:lvl3pPr>
            <a:lvl4pPr algn="l">
              <a:defRPr sz="1050" b="0" i="0">
                <a:solidFill>
                  <a:srgbClr val="60716D"/>
                </a:solidFill>
                <a:latin typeface="Avenir Next"/>
                <a:ea typeface="Avenir Next"/>
                <a:cs typeface="Avenir Next"/>
              </a:defRPr>
            </a:lvl4pPr>
            <a:lvl5pPr algn="l">
              <a:defRPr sz="1050" b="0" i="0">
                <a:solidFill>
                  <a:srgbClr val="60716D"/>
                </a:solidFill>
                <a:latin typeface="Avenir Next"/>
                <a:ea typeface="Avenir Next"/>
                <a:cs typeface="Avenir Next"/>
              </a:defRPr>
            </a:lvl5pPr>
            <a:lvl6pPr algn="l">
              <a:defRPr sz="1050" b="0" i="0">
                <a:solidFill>
                  <a:srgbClr val="60716D"/>
                </a:solidFill>
                <a:latin typeface="Avenir Next"/>
                <a:ea typeface="Avenir Next"/>
                <a:cs typeface="Avenir Next"/>
              </a:defRPr>
            </a:lvl6pPr>
            <a:lvl7pPr algn="l">
              <a:defRPr sz="1050" b="0" i="0">
                <a:solidFill>
                  <a:srgbClr val="60716D"/>
                </a:solidFill>
                <a:latin typeface="Avenir Next"/>
                <a:ea typeface="Avenir Next"/>
                <a:cs typeface="Avenir Next"/>
              </a:defRPr>
            </a:lvl7pPr>
            <a:lvl8pPr algn="l">
              <a:defRPr sz="1050" b="0" i="0">
                <a:solidFill>
                  <a:srgbClr val="60716D"/>
                </a:solidFill>
                <a:latin typeface="Avenir Next"/>
                <a:ea typeface="Avenir Next"/>
                <a:cs typeface="Avenir Next"/>
              </a:defRPr>
            </a:lvl8pPr>
            <a:lvl9pPr algn="l">
              <a:defRPr sz="1050" b="0" i="0">
                <a:solidFill>
                  <a:srgbClr val="60716D"/>
                </a:solidFill>
                <a:latin typeface="Avenir Next"/>
                <a:ea typeface="Avenir Next"/>
                <a:cs typeface="Avenir Next"/>
              </a:defRPr>
            </a:lvl9pPr>
          </a:lstStyle>
          <a:p xmlns:a="http://schemas.openxmlformats.org/drawingml/2006/main">
            <a:pPr algn="l">
              <a:defRPr sz="1050" b="0" i="0">
                <a:solidFill>
                  <a:srgbClr val="60716D"/>
                </a:solidFill>
                <a:latin typeface="Avenir Next"/>
                <a:ea typeface="Avenir Next"/>
                <a:cs typeface="Avenir Next"/>
              </a:defRPr>
            </a:pPr>
            <a:r>
              <a:rPr sz="1050" b="0" i="0">
                <a:solidFill>
                  <a:srgbClr val="60716D"/>
                </a:solidFill>
                <a:latin typeface="Avenir Next"/>
                <a:ea typeface="Avenir Next"/>
                <a:cs typeface="Avenir Next"/>
              </a:rPr>
              <a:t>October 23, 2026</a:t>
            </a:r>
          </a:p>
        </p:txBody>
      </p:sp>
      <p:sp>
        <p:nvSpPr>
          <p:cNvPr id="22" name="">
            <a:extLst xmlns:a="http://schemas.openxmlformats.org/drawingml/2006/main">
              <a:ext uri="{FF2B5EF4-FFF2-40B4-BE49-F238E27FC236}">
                <a16:creationId xmlns:a16="http://schemas.microsoft.com/office/drawing/2014/main" id="{0BFF6EC9-F255-45AA-9A1D-A712F4693F77}"/>
              </a:ext>
            </a:extLst>
          </p:cNvPr>
          <p:cNvSpPr>
            <a:spLocks xmlns:a="http://schemas.openxmlformats.org/drawingml/2006/main" noGrp="1"/>
          </p:cNvSpPr>
          <p:nvPr/>
        </p:nvSpPr>
        <p:spPr>
          <a:xfrm xmlns:a="http://schemas.openxmlformats.org/drawingml/2006/main">
            <a:off x="8382000" y="2476500"/>
            <a:ext cx="3124200" cy="1524000"/>
          </a:xfrm>
          <a:prstGeom xmlns:a="http://schemas.openxmlformats.org/drawingml/2006/main" prst="roundRect">
            <a:avLst>
              <a:gd name="adj" fmla="val 7500"/>
            </a:avLst>
          </a:prstGeom>
          <a:solidFill xmlns:a="http://schemas.openxmlformats.org/drawingml/2006/main">
            <a:srgbClr val="0C4B4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9155704-5346-4BE0-89CB-6FEAAEC5E62D}"/>
              </a:ext>
            </a:extLst>
          </p:cNvPr>
          <p:cNvSpPr>
            <a:spLocks xmlns:a="http://schemas.openxmlformats.org/drawingml/2006/main" noGrp="1"/>
          </p:cNvSpPr>
          <p:nvPr/>
        </p:nvSpPr>
        <p:spPr>
          <a:xfrm xmlns:a="http://schemas.openxmlformats.org/drawingml/2006/main">
            <a:off x="8686800" y="2819400"/>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i="0">
                <a:solidFill>
                  <a:srgbClr val="FFFFFF"/>
                </a:solidFill>
                <a:latin typeface="Avenir Next"/>
                <a:ea typeface="Avenir Next"/>
                <a:cs typeface="Avenir Next"/>
              </a:defRPr>
            </a:defPPr>
            <a:lvl1pPr algn="l">
              <a:defRPr sz="1800" b="1" i="0">
                <a:solidFill>
                  <a:srgbClr val="FFFFFF"/>
                </a:solidFill>
                <a:latin typeface="Avenir Next"/>
                <a:ea typeface="Avenir Next"/>
                <a:cs typeface="Avenir Next"/>
              </a:defRPr>
            </a:lvl1pPr>
            <a:lvl2pPr algn="l">
              <a:defRPr sz="1800" b="1" i="0">
                <a:solidFill>
                  <a:srgbClr val="FFFFFF"/>
                </a:solidFill>
                <a:latin typeface="Avenir Next"/>
                <a:ea typeface="Avenir Next"/>
                <a:cs typeface="Avenir Next"/>
              </a:defRPr>
            </a:lvl2pPr>
            <a:lvl3pPr algn="l">
              <a:defRPr sz="1800" b="1" i="0">
                <a:solidFill>
                  <a:srgbClr val="FFFFFF"/>
                </a:solidFill>
                <a:latin typeface="Avenir Next"/>
                <a:ea typeface="Avenir Next"/>
                <a:cs typeface="Avenir Next"/>
              </a:defRPr>
            </a:lvl3pPr>
            <a:lvl4pPr algn="l">
              <a:defRPr sz="1800" b="1" i="0">
                <a:solidFill>
                  <a:srgbClr val="FFFFFF"/>
                </a:solidFill>
                <a:latin typeface="Avenir Next"/>
                <a:ea typeface="Avenir Next"/>
                <a:cs typeface="Avenir Next"/>
              </a:defRPr>
            </a:lvl4pPr>
            <a:lvl5pPr algn="l">
              <a:defRPr sz="1800" b="1" i="0">
                <a:solidFill>
                  <a:srgbClr val="FFFFFF"/>
                </a:solidFill>
                <a:latin typeface="Avenir Next"/>
                <a:ea typeface="Avenir Next"/>
                <a:cs typeface="Avenir Next"/>
              </a:defRPr>
            </a:lvl5pPr>
            <a:lvl6pPr algn="l">
              <a:defRPr sz="1800" b="1" i="0">
                <a:solidFill>
                  <a:srgbClr val="FFFFFF"/>
                </a:solidFill>
                <a:latin typeface="Avenir Next"/>
                <a:ea typeface="Avenir Next"/>
                <a:cs typeface="Avenir Next"/>
              </a:defRPr>
            </a:lvl6pPr>
            <a:lvl7pPr algn="l">
              <a:defRPr sz="1800" b="1" i="0">
                <a:solidFill>
                  <a:srgbClr val="FFFFFF"/>
                </a:solidFill>
                <a:latin typeface="Avenir Next"/>
                <a:ea typeface="Avenir Next"/>
                <a:cs typeface="Avenir Next"/>
              </a:defRPr>
            </a:lvl7pPr>
            <a:lvl8pPr algn="l">
              <a:defRPr sz="1800" b="1" i="0">
                <a:solidFill>
                  <a:srgbClr val="FFFFFF"/>
                </a:solidFill>
                <a:latin typeface="Avenir Next"/>
                <a:ea typeface="Avenir Next"/>
                <a:cs typeface="Avenir Next"/>
              </a:defRPr>
            </a:lvl8pPr>
            <a:lvl9pPr algn="l">
              <a:defRPr sz="1800" b="1" i="0">
                <a:solidFill>
                  <a:srgbClr val="FFFFFF"/>
                </a:solidFill>
                <a:latin typeface="Avenir Next"/>
                <a:ea typeface="Avenir Next"/>
                <a:cs typeface="Avenir Next"/>
              </a:defRPr>
            </a:lvl9pPr>
          </a:lstStyle>
          <a:p xmlns:a="http://schemas.openxmlformats.org/drawingml/2006/main">
            <a:pPr algn="l">
              <a:defRPr sz="1800" b="1" i="0">
                <a:solidFill>
                  <a:srgbClr val="FFFFFF"/>
                </a:solidFill>
                <a:latin typeface="Avenir Next"/>
                <a:ea typeface="Avenir Next"/>
                <a:cs typeface="Avenir Next"/>
              </a:defRPr>
            </a:pPr>
            <a:r>
              <a:rPr sz="1800" b="1" i="0">
                <a:solidFill>
                  <a:srgbClr val="FFFFFF"/>
                </a:solidFill>
                <a:latin typeface="Avenir Next"/>
                <a:ea typeface="Avenir Next"/>
                <a:cs typeface="Avenir Next"/>
              </a:rPr>
              <a:t>Why it may fit</a:t>
            </a:r>
          </a:p>
        </p:txBody>
      </p:sp>
      <p:sp>
        <p:nvSpPr>
          <p:cNvPr id="24" name="">
            <a:extLst xmlns:a="http://schemas.openxmlformats.org/drawingml/2006/main">
              <a:ext uri="{FF2B5EF4-FFF2-40B4-BE49-F238E27FC236}">
                <a16:creationId xmlns:a16="http://schemas.microsoft.com/office/drawing/2014/main" id="{63C7CC2D-C23C-40B5-8F4E-7AE50576E287}"/>
              </a:ext>
            </a:extLst>
          </p:cNvPr>
          <p:cNvSpPr>
            <a:spLocks xmlns:a="http://schemas.openxmlformats.org/drawingml/2006/main" noGrp="1"/>
          </p:cNvSpPr>
          <p:nvPr/>
        </p:nvSpPr>
        <p:spPr>
          <a:xfrm xmlns:a="http://schemas.openxmlformats.org/drawingml/2006/main">
            <a:off x="8686800" y="3352800"/>
            <a:ext cx="2419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BEDBCF"/>
                </a:solidFill>
                <a:latin typeface="Avenir Next"/>
                <a:ea typeface="Avenir Next"/>
                <a:cs typeface="Avenir Next"/>
              </a:defRPr>
            </a:defPPr>
            <a:lvl1pPr algn="l">
              <a:defRPr sz="1200" b="0" i="0">
                <a:solidFill>
                  <a:srgbClr val="BEDBCF"/>
                </a:solidFill>
                <a:latin typeface="Avenir Next"/>
                <a:ea typeface="Avenir Next"/>
                <a:cs typeface="Avenir Next"/>
              </a:defRPr>
            </a:lvl1pPr>
            <a:lvl2pPr algn="l">
              <a:defRPr sz="1200" b="0" i="0">
                <a:solidFill>
                  <a:srgbClr val="BEDBCF"/>
                </a:solidFill>
                <a:latin typeface="Avenir Next"/>
                <a:ea typeface="Avenir Next"/>
                <a:cs typeface="Avenir Next"/>
              </a:defRPr>
            </a:lvl2pPr>
            <a:lvl3pPr algn="l">
              <a:defRPr sz="1200" b="0" i="0">
                <a:solidFill>
                  <a:srgbClr val="BEDBCF"/>
                </a:solidFill>
                <a:latin typeface="Avenir Next"/>
                <a:ea typeface="Avenir Next"/>
                <a:cs typeface="Avenir Next"/>
              </a:defRPr>
            </a:lvl3pPr>
            <a:lvl4pPr algn="l">
              <a:defRPr sz="1200" b="0" i="0">
                <a:solidFill>
                  <a:srgbClr val="BEDBCF"/>
                </a:solidFill>
                <a:latin typeface="Avenir Next"/>
                <a:ea typeface="Avenir Next"/>
                <a:cs typeface="Avenir Next"/>
              </a:defRPr>
            </a:lvl4pPr>
            <a:lvl5pPr algn="l">
              <a:defRPr sz="1200" b="0" i="0">
                <a:solidFill>
                  <a:srgbClr val="BEDBCF"/>
                </a:solidFill>
                <a:latin typeface="Avenir Next"/>
                <a:ea typeface="Avenir Next"/>
                <a:cs typeface="Avenir Next"/>
              </a:defRPr>
            </a:lvl5pPr>
            <a:lvl6pPr algn="l">
              <a:defRPr sz="1200" b="0" i="0">
                <a:solidFill>
                  <a:srgbClr val="BEDBCF"/>
                </a:solidFill>
                <a:latin typeface="Avenir Next"/>
                <a:ea typeface="Avenir Next"/>
                <a:cs typeface="Avenir Next"/>
              </a:defRPr>
            </a:lvl6pPr>
            <a:lvl7pPr algn="l">
              <a:defRPr sz="1200" b="0" i="0">
                <a:solidFill>
                  <a:srgbClr val="BEDBCF"/>
                </a:solidFill>
                <a:latin typeface="Avenir Next"/>
                <a:ea typeface="Avenir Next"/>
                <a:cs typeface="Avenir Next"/>
              </a:defRPr>
            </a:lvl7pPr>
            <a:lvl8pPr algn="l">
              <a:defRPr sz="1200" b="0" i="0">
                <a:solidFill>
                  <a:srgbClr val="BEDBCF"/>
                </a:solidFill>
                <a:latin typeface="Avenir Next"/>
                <a:ea typeface="Avenir Next"/>
                <a:cs typeface="Avenir Next"/>
              </a:defRPr>
            </a:lvl8pPr>
            <a:lvl9pPr algn="l">
              <a:defRPr sz="1200" b="0" i="0">
                <a:solidFill>
                  <a:srgbClr val="BEDBCF"/>
                </a:solidFill>
                <a:latin typeface="Avenir Next"/>
                <a:ea typeface="Avenir Next"/>
                <a:cs typeface="Avenir Next"/>
              </a:defRPr>
            </a:lvl9pPr>
          </a:lstStyle>
          <a:p xmlns:a="http://schemas.openxmlformats.org/drawingml/2006/main">
            <a:pPr algn="l">
              <a:defRPr sz="1200" b="0" i="0">
                <a:solidFill>
                  <a:srgbClr val="BEDBCF"/>
                </a:solidFill>
                <a:latin typeface="Avenir Next"/>
                <a:ea typeface="Avenir Next"/>
                <a:cs typeface="Avenir Next"/>
              </a:defRPr>
            </a:pPr>
            <a:r>
              <a:rPr sz="1200" b="0" i="0">
                <a:solidFill>
                  <a:srgbClr val="BEDBCF"/>
                </a:solidFill>
                <a:latin typeface="Avenir Next"/>
                <a:ea typeface="Avenir Next"/>
                <a:cs typeface="Avenir Next"/>
              </a:rPr>
              <a:t>A short explanation based only on the facts the resident chose to share.</a:t>
            </a:r>
          </a:p>
        </p:txBody>
      </p:sp>
      <p:sp>
        <p:nvSpPr>
          <p:cNvPr id="25" name="">
            <a:extLst xmlns:a="http://schemas.openxmlformats.org/drawingml/2006/main">
              <a:ext uri="{FF2B5EF4-FFF2-40B4-BE49-F238E27FC236}">
                <a16:creationId xmlns:a16="http://schemas.microsoft.com/office/drawing/2014/main" id="{2E66EA03-90C5-4CEE-8BC9-AE34244DF83E}"/>
              </a:ext>
            </a:extLst>
          </p:cNvPr>
          <p:cNvSpPr>
            <a:spLocks xmlns:a="http://schemas.openxmlformats.org/drawingml/2006/main" noGrp="1"/>
          </p:cNvSpPr>
          <p:nvPr/>
        </p:nvSpPr>
        <p:spPr>
          <a:xfrm xmlns:a="http://schemas.openxmlformats.org/drawingml/2006/main">
            <a:off x="8382000" y="4267200"/>
            <a:ext cx="3124200" cy="1543050"/>
          </a:xfrm>
          <a:prstGeom xmlns:a="http://schemas.openxmlformats.org/drawingml/2006/main" prst="roundRect">
            <a:avLst>
              <a:gd name="adj" fmla="val 7407"/>
            </a:avLst>
          </a:prstGeom>
          <a:solidFill xmlns:a="http://schemas.openxmlformats.org/drawingml/2006/main">
            <a:srgbClr val="FF6B4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11DF50A-4609-4379-A5F7-6CB33432BC24}"/>
              </a:ext>
            </a:extLst>
          </p:cNvPr>
          <p:cNvSpPr>
            <a:spLocks xmlns:a="http://schemas.openxmlformats.org/drawingml/2006/main" noGrp="1"/>
          </p:cNvSpPr>
          <p:nvPr/>
        </p:nvSpPr>
        <p:spPr>
          <a:xfrm xmlns:a="http://schemas.openxmlformats.org/drawingml/2006/main">
            <a:off x="8686800" y="457200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i="0">
                <a:solidFill>
                  <a:srgbClr val="073E35"/>
                </a:solidFill>
                <a:latin typeface="Avenir Next"/>
                <a:ea typeface="Avenir Next"/>
                <a:cs typeface="Avenir Next"/>
              </a:defRPr>
            </a:defPPr>
            <a:lvl1pPr algn="l">
              <a:defRPr sz="1800" b="1" i="0">
                <a:solidFill>
                  <a:srgbClr val="073E35"/>
                </a:solidFill>
                <a:latin typeface="Avenir Next"/>
                <a:ea typeface="Avenir Next"/>
                <a:cs typeface="Avenir Next"/>
              </a:defRPr>
            </a:lvl1pPr>
            <a:lvl2pPr algn="l">
              <a:defRPr sz="1800" b="1" i="0">
                <a:solidFill>
                  <a:srgbClr val="073E35"/>
                </a:solidFill>
                <a:latin typeface="Avenir Next"/>
                <a:ea typeface="Avenir Next"/>
                <a:cs typeface="Avenir Next"/>
              </a:defRPr>
            </a:lvl2pPr>
            <a:lvl3pPr algn="l">
              <a:defRPr sz="1800" b="1" i="0">
                <a:solidFill>
                  <a:srgbClr val="073E35"/>
                </a:solidFill>
                <a:latin typeface="Avenir Next"/>
                <a:ea typeface="Avenir Next"/>
                <a:cs typeface="Avenir Next"/>
              </a:defRPr>
            </a:lvl3pPr>
            <a:lvl4pPr algn="l">
              <a:defRPr sz="1800" b="1" i="0">
                <a:solidFill>
                  <a:srgbClr val="073E35"/>
                </a:solidFill>
                <a:latin typeface="Avenir Next"/>
                <a:ea typeface="Avenir Next"/>
                <a:cs typeface="Avenir Next"/>
              </a:defRPr>
            </a:lvl4pPr>
            <a:lvl5pPr algn="l">
              <a:defRPr sz="1800" b="1" i="0">
                <a:solidFill>
                  <a:srgbClr val="073E35"/>
                </a:solidFill>
                <a:latin typeface="Avenir Next"/>
                <a:ea typeface="Avenir Next"/>
                <a:cs typeface="Avenir Next"/>
              </a:defRPr>
            </a:lvl5pPr>
            <a:lvl6pPr algn="l">
              <a:defRPr sz="1800" b="1" i="0">
                <a:solidFill>
                  <a:srgbClr val="073E35"/>
                </a:solidFill>
                <a:latin typeface="Avenir Next"/>
                <a:ea typeface="Avenir Next"/>
                <a:cs typeface="Avenir Next"/>
              </a:defRPr>
            </a:lvl6pPr>
            <a:lvl7pPr algn="l">
              <a:defRPr sz="1800" b="1" i="0">
                <a:solidFill>
                  <a:srgbClr val="073E35"/>
                </a:solidFill>
                <a:latin typeface="Avenir Next"/>
                <a:ea typeface="Avenir Next"/>
                <a:cs typeface="Avenir Next"/>
              </a:defRPr>
            </a:lvl7pPr>
            <a:lvl8pPr algn="l">
              <a:defRPr sz="1800" b="1" i="0">
                <a:solidFill>
                  <a:srgbClr val="073E35"/>
                </a:solidFill>
                <a:latin typeface="Avenir Next"/>
                <a:ea typeface="Avenir Next"/>
                <a:cs typeface="Avenir Next"/>
              </a:defRPr>
            </a:lvl8pPr>
            <a:lvl9pPr algn="l">
              <a:defRPr sz="1800" b="1" i="0">
                <a:solidFill>
                  <a:srgbClr val="073E35"/>
                </a:solidFill>
                <a:latin typeface="Avenir Next"/>
                <a:ea typeface="Avenir Next"/>
                <a:cs typeface="Avenir Next"/>
              </a:defRPr>
            </a:lvl9pPr>
          </a:lstStyle>
          <a:p xmlns:a="http://schemas.openxmlformats.org/drawingml/2006/main">
            <a:pPr algn="l">
              <a:defRPr sz="1800" b="1" i="0">
                <a:solidFill>
                  <a:srgbClr val="073E35"/>
                </a:solidFill>
                <a:latin typeface="Avenir Next"/>
                <a:ea typeface="Avenir Next"/>
                <a:cs typeface="Avenir Next"/>
              </a:defRPr>
            </a:pPr>
            <a:r>
              <a:rPr sz="1800" b="1" i="0">
                <a:solidFill>
                  <a:srgbClr val="073E35"/>
                </a:solidFill>
                <a:latin typeface="Avenir Next"/>
                <a:ea typeface="Avenir Next"/>
                <a:cs typeface="Avenir Next"/>
              </a:rPr>
              <a:t>Explore this</a:t>
            </a:r>
          </a:p>
        </p:txBody>
      </p:sp>
      <p:sp>
        <p:nvSpPr>
          <p:cNvPr id="27" name="">
            <a:extLst xmlns:a="http://schemas.openxmlformats.org/drawingml/2006/main">
              <a:ext uri="{FF2B5EF4-FFF2-40B4-BE49-F238E27FC236}">
                <a16:creationId xmlns:a16="http://schemas.microsoft.com/office/drawing/2014/main" id="{299255A1-A37D-4EFF-9388-242DF389E1DB}"/>
              </a:ext>
            </a:extLst>
          </p:cNvPr>
          <p:cNvSpPr>
            <a:spLocks xmlns:a="http://schemas.openxmlformats.org/drawingml/2006/main" noGrp="1"/>
          </p:cNvSpPr>
          <p:nvPr/>
        </p:nvSpPr>
        <p:spPr>
          <a:xfrm xmlns:a="http://schemas.openxmlformats.org/drawingml/2006/main">
            <a:off x="8686800" y="504825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111816"/>
                </a:solidFill>
                <a:latin typeface="Avenir Next"/>
                <a:ea typeface="Avenir Next"/>
                <a:cs typeface="Avenir Next"/>
              </a:defRPr>
            </a:defPPr>
            <a:lvl1pPr algn="l">
              <a:defRPr sz="1200" b="0" i="0">
                <a:solidFill>
                  <a:srgbClr val="111816"/>
                </a:solidFill>
                <a:latin typeface="Avenir Next"/>
                <a:ea typeface="Avenir Next"/>
                <a:cs typeface="Avenir Next"/>
              </a:defRPr>
            </a:lvl1pPr>
            <a:lvl2pPr algn="l">
              <a:defRPr sz="1200" b="0" i="0">
                <a:solidFill>
                  <a:srgbClr val="111816"/>
                </a:solidFill>
                <a:latin typeface="Avenir Next"/>
                <a:ea typeface="Avenir Next"/>
                <a:cs typeface="Avenir Next"/>
              </a:defRPr>
            </a:lvl2pPr>
            <a:lvl3pPr algn="l">
              <a:defRPr sz="1200" b="0" i="0">
                <a:solidFill>
                  <a:srgbClr val="111816"/>
                </a:solidFill>
                <a:latin typeface="Avenir Next"/>
                <a:ea typeface="Avenir Next"/>
                <a:cs typeface="Avenir Next"/>
              </a:defRPr>
            </a:lvl3pPr>
            <a:lvl4pPr algn="l">
              <a:defRPr sz="1200" b="0" i="0">
                <a:solidFill>
                  <a:srgbClr val="111816"/>
                </a:solidFill>
                <a:latin typeface="Avenir Next"/>
                <a:ea typeface="Avenir Next"/>
                <a:cs typeface="Avenir Next"/>
              </a:defRPr>
            </a:lvl4pPr>
            <a:lvl5pPr algn="l">
              <a:defRPr sz="1200" b="0" i="0">
                <a:solidFill>
                  <a:srgbClr val="111816"/>
                </a:solidFill>
                <a:latin typeface="Avenir Next"/>
                <a:ea typeface="Avenir Next"/>
                <a:cs typeface="Avenir Next"/>
              </a:defRPr>
            </a:lvl5pPr>
            <a:lvl6pPr algn="l">
              <a:defRPr sz="1200" b="0" i="0">
                <a:solidFill>
                  <a:srgbClr val="111816"/>
                </a:solidFill>
                <a:latin typeface="Avenir Next"/>
                <a:ea typeface="Avenir Next"/>
                <a:cs typeface="Avenir Next"/>
              </a:defRPr>
            </a:lvl6pPr>
            <a:lvl7pPr algn="l">
              <a:defRPr sz="1200" b="0" i="0">
                <a:solidFill>
                  <a:srgbClr val="111816"/>
                </a:solidFill>
                <a:latin typeface="Avenir Next"/>
                <a:ea typeface="Avenir Next"/>
                <a:cs typeface="Avenir Next"/>
              </a:defRPr>
            </a:lvl7pPr>
            <a:lvl8pPr algn="l">
              <a:defRPr sz="1200" b="0" i="0">
                <a:solidFill>
                  <a:srgbClr val="111816"/>
                </a:solidFill>
                <a:latin typeface="Avenir Next"/>
                <a:ea typeface="Avenir Next"/>
                <a:cs typeface="Avenir Next"/>
              </a:defRPr>
            </a:lvl8pPr>
            <a:lvl9pPr algn="l">
              <a:defRPr sz="1200" b="0" i="0">
                <a:solidFill>
                  <a:srgbClr val="111816"/>
                </a:solidFill>
                <a:latin typeface="Avenir Next"/>
                <a:ea typeface="Avenir Next"/>
                <a:cs typeface="Avenir Next"/>
              </a:defRPr>
            </a:lvl9pPr>
          </a:lstStyle>
          <a:p xmlns:a="http://schemas.openxmlformats.org/drawingml/2006/main">
            <a:pPr algn="l">
              <a:defRPr sz="1200" b="0" i="0">
                <a:solidFill>
                  <a:srgbClr val="111816"/>
                </a:solidFill>
                <a:latin typeface="Avenir Next"/>
                <a:ea typeface="Avenir Next"/>
                <a:cs typeface="Avenir Next"/>
              </a:defRPr>
            </a:pPr>
            <a:r>
              <a:rPr sz="1200" b="0" i="0">
                <a:solidFill>
                  <a:srgbClr val="111816"/>
                </a:solidFill>
                <a:latin typeface="Avenir Next"/>
                <a:ea typeface="Avenir Next"/>
                <a:cs typeface="Avenir Next"/>
              </a:rPr>
              <a:t>Ask about documents, next steps, deadlines, or published eligibility.</a:t>
            </a:r>
          </a:p>
        </p:txBody>
      </p:sp>
    </p:spTree>
    <p:extLst>
      <p:ext uri="{BB962C8B-B14F-4D97-AF65-F5344CB8AC3E}">
        <p14:creationId xmlns:p14="http://schemas.microsoft.com/office/powerpoint/2010/main" val="1293806242"/>
      </p:ext>
    </p:extLst>
  </p:cSld>
</p:sld>
</file>

<file path=ppt/slides/slide6.xml><?xml version="1.0" encoding="utf-8"?>
<p:sld xmlns:p="http://schemas.openxmlformats.org/presentationml/2006/main">
  <p:cSld>
    <p:bg>
      <p:bgPr>
        <a:solidFill xmlns:a="http://schemas.openxmlformats.org/drawingml/2006/main">
          <a:srgbClr val="0C4B4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EF6DDBC-0D38-4F0B-B030-CA43DB7C5CDF}"/>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7F1E7"/>
                </a:solidFill>
                <a:latin typeface="Avenir Next"/>
                <a:ea typeface="Avenir Next"/>
                <a:cs typeface="Avenir Next"/>
              </a:defRPr>
            </a:defPPr>
            <a:lvl1pPr algn="l">
              <a:defRPr sz="1350" b="1" i="0">
                <a:solidFill>
                  <a:srgbClr val="F7F1E7"/>
                </a:solidFill>
                <a:latin typeface="Avenir Next"/>
                <a:ea typeface="Avenir Next"/>
                <a:cs typeface="Avenir Next"/>
              </a:defRPr>
            </a:lvl1pPr>
            <a:lvl2pPr algn="l">
              <a:defRPr sz="1350" b="1" i="0">
                <a:solidFill>
                  <a:srgbClr val="F7F1E7"/>
                </a:solidFill>
                <a:latin typeface="Avenir Next"/>
                <a:ea typeface="Avenir Next"/>
                <a:cs typeface="Avenir Next"/>
              </a:defRPr>
            </a:lvl2pPr>
            <a:lvl3pPr algn="l">
              <a:defRPr sz="1350" b="1" i="0">
                <a:solidFill>
                  <a:srgbClr val="F7F1E7"/>
                </a:solidFill>
                <a:latin typeface="Avenir Next"/>
                <a:ea typeface="Avenir Next"/>
                <a:cs typeface="Avenir Next"/>
              </a:defRPr>
            </a:lvl3pPr>
            <a:lvl4pPr algn="l">
              <a:defRPr sz="1350" b="1" i="0">
                <a:solidFill>
                  <a:srgbClr val="F7F1E7"/>
                </a:solidFill>
                <a:latin typeface="Avenir Next"/>
                <a:ea typeface="Avenir Next"/>
                <a:cs typeface="Avenir Next"/>
              </a:defRPr>
            </a:lvl4pPr>
            <a:lvl5pPr algn="l">
              <a:defRPr sz="1350" b="1" i="0">
                <a:solidFill>
                  <a:srgbClr val="F7F1E7"/>
                </a:solidFill>
                <a:latin typeface="Avenir Next"/>
                <a:ea typeface="Avenir Next"/>
                <a:cs typeface="Avenir Next"/>
              </a:defRPr>
            </a:lvl5pPr>
            <a:lvl6pPr algn="l">
              <a:defRPr sz="1350" b="1" i="0">
                <a:solidFill>
                  <a:srgbClr val="F7F1E7"/>
                </a:solidFill>
                <a:latin typeface="Avenir Next"/>
                <a:ea typeface="Avenir Next"/>
                <a:cs typeface="Avenir Next"/>
              </a:defRPr>
            </a:lvl6pPr>
            <a:lvl7pPr algn="l">
              <a:defRPr sz="1350" b="1" i="0">
                <a:solidFill>
                  <a:srgbClr val="F7F1E7"/>
                </a:solidFill>
                <a:latin typeface="Avenir Next"/>
                <a:ea typeface="Avenir Next"/>
                <a:cs typeface="Avenir Next"/>
              </a:defRPr>
            </a:lvl7pPr>
            <a:lvl8pPr algn="l">
              <a:defRPr sz="1350" b="1" i="0">
                <a:solidFill>
                  <a:srgbClr val="F7F1E7"/>
                </a:solidFill>
                <a:latin typeface="Avenir Next"/>
                <a:ea typeface="Avenir Next"/>
                <a:cs typeface="Avenir Next"/>
              </a:defRPr>
            </a:lvl8pPr>
            <a:lvl9pPr algn="l">
              <a:defRPr sz="1350" b="1" i="0">
                <a:solidFill>
                  <a:srgbClr val="F7F1E7"/>
                </a:solidFill>
                <a:latin typeface="Avenir Next"/>
                <a:ea typeface="Avenir Next"/>
                <a:cs typeface="Avenir Next"/>
              </a:defRPr>
            </a:lvl9pPr>
          </a:lstStyle>
          <a:p xmlns:a="http://schemas.openxmlformats.org/drawingml/2006/main">
            <a:pPr algn="l">
              <a:defRPr sz="1350" b="1" i="0">
                <a:solidFill>
                  <a:srgbClr val="F7F1E7"/>
                </a:solidFill>
                <a:latin typeface="Avenir Next"/>
                <a:ea typeface="Avenir Next"/>
                <a:cs typeface="Avenir Next"/>
              </a:defRPr>
            </a:pPr>
            <a:r>
              <a:rPr sz="1350" b="1" i="0">
                <a:solidFill>
                  <a:srgbClr val="F7F1E7"/>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A1199E94-96FD-48AE-BBFB-92A2FEB2A7F2}"/>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BEDBCF"/>
                </a:solidFill>
                <a:latin typeface="Avenir Next"/>
                <a:ea typeface="Avenir Next"/>
                <a:cs typeface="Avenir Next"/>
              </a:defRPr>
            </a:defPPr>
            <a:lvl1pPr algn="l">
              <a:defRPr sz="750" b="1" i="0">
                <a:solidFill>
                  <a:srgbClr val="BEDBCF"/>
                </a:solidFill>
                <a:latin typeface="Avenir Next"/>
                <a:ea typeface="Avenir Next"/>
                <a:cs typeface="Avenir Next"/>
              </a:defRPr>
            </a:lvl1pPr>
            <a:lvl2pPr algn="l">
              <a:defRPr sz="750" b="1" i="0">
                <a:solidFill>
                  <a:srgbClr val="BEDBCF"/>
                </a:solidFill>
                <a:latin typeface="Avenir Next"/>
                <a:ea typeface="Avenir Next"/>
                <a:cs typeface="Avenir Next"/>
              </a:defRPr>
            </a:lvl2pPr>
            <a:lvl3pPr algn="l">
              <a:defRPr sz="750" b="1" i="0">
                <a:solidFill>
                  <a:srgbClr val="BEDBCF"/>
                </a:solidFill>
                <a:latin typeface="Avenir Next"/>
                <a:ea typeface="Avenir Next"/>
                <a:cs typeface="Avenir Next"/>
              </a:defRPr>
            </a:lvl3pPr>
            <a:lvl4pPr algn="l">
              <a:defRPr sz="750" b="1" i="0">
                <a:solidFill>
                  <a:srgbClr val="BEDBCF"/>
                </a:solidFill>
                <a:latin typeface="Avenir Next"/>
                <a:ea typeface="Avenir Next"/>
                <a:cs typeface="Avenir Next"/>
              </a:defRPr>
            </a:lvl4pPr>
            <a:lvl5pPr algn="l">
              <a:defRPr sz="750" b="1" i="0">
                <a:solidFill>
                  <a:srgbClr val="BEDBCF"/>
                </a:solidFill>
                <a:latin typeface="Avenir Next"/>
                <a:ea typeface="Avenir Next"/>
                <a:cs typeface="Avenir Next"/>
              </a:defRPr>
            </a:lvl5pPr>
            <a:lvl6pPr algn="l">
              <a:defRPr sz="750" b="1" i="0">
                <a:solidFill>
                  <a:srgbClr val="BEDBCF"/>
                </a:solidFill>
                <a:latin typeface="Avenir Next"/>
                <a:ea typeface="Avenir Next"/>
                <a:cs typeface="Avenir Next"/>
              </a:defRPr>
            </a:lvl6pPr>
            <a:lvl7pPr algn="l">
              <a:defRPr sz="750" b="1" i="0">
                <a:solidFill>
                  <a:srgbClr val="BEDBCF"/>
                </a:solidFill>
                <a:latin typeface="Avenir Next"/>
                <a:ea typeface="Avenir Next"/>
                <a:cs typeface="Avenir Next"/>
              </a:defRPr>
            </a:lvl7pPr>
            <a:lvl8pPr algn="l">
              <a:defRPr sz="750" b="1" i="0">
                <a:solidFill>
                  <a:srgbClr val="BEDBCF"/>
                </a:solidFill>
                <a:latin typeface="Avenir Next"/>
                <a:ea typeface="Avenir Next"/>
                <a:cs typeface="Avenir Next"/>
              </a:defRPr>
            </a:lvl8pPr>
            <a:lvl9pPr algn="l">
              <a:defRPr sz="750" b="1" i="0">
                <a:solidFill>
                  <a:srgbClr val="BEDBCF"/>
                </a:solidFill>
                <a:latin typeface="Avenir Next"/>
                <a:ea typeface="Avenir Next"/>
                <a:cs typeface="Avenir Next"/>
              </a:defRPr>
            </a:lvl9pPr>
          </a:lstStyle>
          <a:p xmlns:a="http://schemas.openxmlformats.org/drawingml/2006/main">
            <a:pPr algn="l">
              <a:defRPr sz="750" b="1" i="0">
                <a:solidFill>
                  <a:srgbClr val="BEDBCF"/>
                </a:solidFill>
                <a:latin typeface="Avenir Next"/>
                <a:ea typeface="Avenir Next"/>
                <a:cs typeface="Avenir Next"/>
              </a:defRPr>
            </a:pPr>
            <a:r>
              <a:rPr sz="750" b="1" i="0">
                <a:solidFill>
                  <a:srgbClr val="BEDBCF"/>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24BC3080-2FA0-4A83-B358-1186C1403713}"/>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B08C"/>
                </a:solidFill>
                <a:latin typeface="Avenir Next"/>
                <a:ea typeface="Avenir Next"/>
                <a:cs typeface="Avenir Next"/>
              </a:defRPr>
            </a:defPPr>
            <a:lvl1pPr algn="r">
              <a:defRPr sz="975" b="1" i="0">
                <a:solidFill>
                  <a:srgbClr val="FFB08C"/>
                </a:solidFill>
                <a:latin typeface="Avenir Next"/>
                <a:ea typeface="Avenir Next"/>
                <a:cs typeface="Avenir Next"/>
              </a:defRPr>
            </a:lvl1pPr>
            <a:lvl2pPr algn="r">
              <a:defRPr sz="975" b="1" i="0">
                <a:solidFill>
                  <a:srgbClr val="FFB08C"/>
                </a:solidFill>
                <a:latin typeface="Avenir Next"/>
                <a:ea typeface="Avenir Next"/>
                <a:cs typeface="Avenir Next"/>
              </a:defRPr>
            </a:lvl2pPr>
            <a:lvl3pPr algn="r">
              <a:defRPr sz="975" b="1" i="0">
                <a:solidFill>
                  <a:srgbClr val="FFB08C"/>
                </a:solidFill>
                <a:latin typeface="Avenir Next"/>
                <a:ea typeface="Avenir Next"/>
                <a:cs typeface="Avenir Next"/>
              </a:defRPr>
            </a:lvl3pPr>
            <a:lvl4pPr algn="r">
              <a:defRPr sz="975" b="1" i="0">
                <a:solidFill>
                  <a:srgbClr val="FFB08C"/>
                </a:solidFill>
                <a:latin typeface="Avenir Next"/>
                <a:ea typeface="Avenir Next"/>
                <a:cs typeface="Avenir Next"/>
              </a:defRPr>
            </a:lvl4pPr>
            <a:lvl5pPr algn="r">
              <a:defRPr sz="975" b="1" i="0">
                <a:solidFill>
                  <a:srgbClr val="FFB08C"/>
                </a:solidFill>
                <a:latin typeface="Avenir Next"/>
                <a:ea typeface="Avenir Next"/>
                <a:cs typeface="Avenir Next"/>
              </a:defRPr>
            </a:lvl5pPr>
            <a:lvl6pPr algn="r">
              <a:defRPr sz="975" b="1" i="0">
                <a:solidFill>
                  <a:srgbClr val="FFB08C"/>
                </a:solidFill>
                <a:latin typeface="Avenir Next"/>
                <a:ea typeface="Avenir Next"/>
                <a:cs typeface="Avenir Next"/>
              </a:defRPr>
            </a:lvl6pPr>
            <a:lvl7pPr algn="r">
              <a:defRPr sz="975" b="1" i="0">
                <a:solidFill>
                  <a:srgbClr val="FFB08C"/>
                </a:solidFill>
                <a:latin typeface="Avenir Next"/>
                <a:ea typeface="Avenir Next"/>
                <a:cs typeface="Avenir Next"/>
              </a:defRPr>
            </a:lvl7pPr>
            <a:lvl8pPr algn="r">
              <a:defRPr sz="975" b="1" i="0">
                <a:solidFill>
                  <a:srgbClr val="FFB08C"/>
                </a:solidFill>
                <a:latin typeface="Avenir Next"/>
                <a:ea typeface="Avenir Next"/>
                <a:cs typeface="Avenir Next"/>
              </a:defRPr>
            </a:lvl8pPr>
            <a:lvl9pPr algn="r">
              <a:defRPr sz="975" b="1" i="0">
                <a:solidFill>
                  <a:srgbClr val="FFB08C"/>
                </a:solidFill>
                <a:latin typeface="Avenir Next"/>
                <a:ea typeface="Avenir Next"/>
                <a:cs typeface="Avenir Next"/>
              </a:defRPr>
            </a:lvl9pPr>
          </a:lstStyle>
          <a:p xmlns:a="http://schemas.openxmlformats.org/drawingml/2006/main">
            <a:pPr algn="r">
              <a:defRPr sz="975" b="1" i="0">
                <a:solidFill>
                  <a:srgbClr val="FFB08C"/>
                </a:solidFill>
                <a:latin typeface="Avenir Next"/>
                <a:ea typeface="Avenir Next"/>
                <a:cs typeface="Avenir Next"/>
              </a:defRPr>
            </a:pPr>
            <a:r>
              <a:rPr sz="975" b="1" i="0">
                <a:solidFill>
                  <a:srgbClr val="FFB08C"/>
                </a:solidFill>
                <a:latin typeface="Avenir Next"/>
                <a:ea typeface="Avenir Next"/>
                <a:cs typeface="Avenir Next"/>
              </a:rPr>
              <a:t>06</a:t>
            </a:r>
          </a:p>
        </p:txBody>
      </p:sp>
      <p:sp>
        <p:nvSpPr>
          <p:cNvPr id="4" name="">
            <a:extLst xmlns:a="http://schemas.openxmlformats.org/drawingml/2006/main">
              <a:ext uri="{FF2B5EF4-FFF2-40B4-BE49-F238E27FC236}">
                <a16:creationId xmlns:a16="http://schemas.microsoft.com/office/drawing/2014/main" id="{F4E0151F-1C34-41EC-B73D-7A72A62D89C3}"/>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F7F1E7"/>
                </a:solidFill>
                <a:latin typeface="Avenir Next"/>
                <a:ea typeface="Avenir Next"/>
                <a:cs typeface="Avenir Next"/>
              </a:defRPr>
            </a:defPPr>
            <a:lvl1pPr algn="l">
              <a:defRPr sz="3150" b="1" i="0">
                <a:solidFill>
                  <a:srgbClr val="F7F1E7"/>
                </a:solidFill>
                <a:latin typeface="Avenir Next"/>
                <a:ea typeface="Avenir Next"/>
                <a:cs typeface="Avenir Next"/>
              </a:defRPr>
            </a:lvl1pPr>
            <a:lvl2pPr algn="l">
              <a:defRPr sz="3150" b="1" i="0">
                <a:solidFill>
                  <a:srgbClr val="F7F1E7"/>
                </a:solidFill>
                <a:latin typeface="Avenir Next"/>
                <a:ea typeface="Avenir Next"/>
                <a:cs typeface="Avenir Next"/>
              </a:defRPr>
            </a:lvl2pPr>
            <a:lvl3pPr algn="l">
              <a:defRPr sz="3150" b="1" i="0">
                <a:solidFill>
                  <a:srgbClr val="F7F1E7"/>
                </a:solidFill>
                <a:latin typeface="Avenir Next"/>
                <a:ea typeface="Avenir Next"/>
                <a:cs typeface="Avenir Next"/>
              </a:defRPr>
            </a:lvl3pPr>
            <a:lvl4pPr algn="l">
              <a:defRPr sz="3150" b="1" i="0">
                <a:solidFill>
                  <a:srgbClr val="F7F1E7"/>
                </a:solidFill>
                <a:latin typeface="Avenir Next"/>
                <a:ea typeface="Avenir Next"/>
                <a:cs typeface="Avenir Next"/>
              </a:defRPr>
            </a:lvl4pPr>
            <a:lvl5pPr algn="l">
              <a:defRPr sz="3150" b="1" i="0">
                <a:solidFill>
                  <a:srgbClr val="F7F1E7"/>
                </a:solidFill>
                <a:latin typeface="Avenir Next"/>
                <a:ea typeface="Avenir Next"/>
                <a:cs typeface="Avenir Next"/>
              </a:defRPr>
            </a:lvl5pPr>
            <a:lvl6pPr algn="l">
              <a:defRPr sz="3150" b="1" i="0">
                <a:solidFill>
                  <a:srgbClr val="F7F1E7"/>
                </a:solidFill>
                <a:latin typeface="Avenir Next"/>
                <a:ea typeface="Avenir Next"/>
                <a:cs typeface="Avenir Next"/>
              </a:defRPr>
            </a:lvl6pPr>
            <a:lvl7pPr algn="l">
              <a:defRPr sz="3150" b="1" i="0">
                <a:solidFill>
                  <a:srgbClr val="F7F1E7"/>
                </a:solidFill>
                <a:latin typeface="Avenir Next"/>
                <a:ea typeface="Avenir Next"/>
                <a:cs typeface="Avenir Next"/>
              </a:defRPr>
            </a:lvl7pPr>
            <a:lvl8pPr algn="l">
              <a:defRPr sz="3150" b="1" i="0">
                <a:solidFill>
                  <a:srgbClr val="F7F1E7"/>
                </a:solidFill>
                <a:latin typeface="Avenir Next"/>
                <a:ea typeface="Avenir Next"/>
                <a:cs typeface="Avenir Next"/>
              </a:defRPr>
            </a:lvl8pPr>
            <a:lvl9pPr algn="l">
              <a:defRPr sz="3150" b="1" i="0">
                <a:solidFill>
                  <a:srgbClr val="F7F1E7"/>
                </a:solidFill>
                <a:latin typeface="Avenir Next"/>
                <a:ea typeface="Avenir Next"/>
                <a:cs typeface="Avenir Next"/>
              </a:defRPr>
            </a:lvl9pPr>
          </a:lstStyle>
          <a:p xmlns:a="http://schemas.openxmlformats.org/drawingml/2006/main">
            <a:pPr algn="l">
              <a:defRPr sz="3150" b="1" i="0">
                <a:solidFill>
                  <a:srgbClr val="F7F1E7"/>
                </a:solidFill>
                <a:latin typeface="Avenir Next"/>
                <a:ea typeface="Avenir Next"/>
                <a:cs typeface="Avenir Next"/>
              </a:defRPr>
            </a:pPr>
            <a:r>
              <a:rPr sz="3150" b="1" i="0">
                <a:solidFill>
                  <a:srgbClr val="F7F1E7"/>
                </a:solidFill>
                <a:latin typeface="Avenir Next"/>
                <a:ea typeface="Avenir Next"/>
                <a:cs typeface="Avenir Next"/>
              </a:rPr>
              <a:t>The guide stays beside the official application</a:t>
            </a:r>
          </a:p>
        </p:txBody>
      </p:sp>
      <p:sp>
        <p:nvSpPr>
          <p:cNvPr id="5" name="">
            <a:extLst xmlns:a="http://schemas.openxmlformats.org/drawingml/2006/main">
              <a:ext uri="{FF2B5EF4-FFF2-40B4-BE49-F238E27FC236}">
                <a16:creationId xmlns:a16="http://schemas.microsoft.com/office/drawing/2014/main" id="{279354D1-A541-409F-993F-138EC19D2656}"/>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BEDBCF"/>
                </a:solidFill>
                <a:latin typeface="Avenir Next"/>
                <a:ea typeface="Avenir Next"/>
                <a:cs typeface="Avenir Next"/>
              </a:defRPr>
            </a:defPPr>
            <a:lvl1pPr algn="l">
              <a:defRPr sz="1500" b="0" i="0">
                <a:solidFill>
                  <a:srgbClr val="BEDBCF"/>
                </a:solidFill>
                <a:latin typeface="Avenir Next"/>
                <a:ea typeface="Avenir Next"/>
                <a:cs typeface="Avenir Next"/>
              </a:defRPr>
            </a:lvl1pPr>
            <a:lvl2pPr algn="l">
              <a:defRPr sz="1500" b="0" i="0">
                <a:solidFill>
                  <a:srgbClr val="BEDBCF"/>
                </a:solidFill>
                <a:latin typeface="Avenir Next"/>
                <a:ea typeface="Avenir Next"/>
                <a:cs typeface="Avenir Next"/>
              </a:defRPr>
            </a:lvl2pPr>
            <a:lvl3pPr algn="l">
              <a:defRPr sz="1500" b="0" i="0">
                <a:solidFill>
                  <a:srgbClr val="BEDBCF"/>
                </a:solidFill>
                <a:latin typeface="Avenir Next"/>
                <a:ea typeface="Avenir Next"/>
                <a:cs typeface="Avenir Next"/>
              </a:defRPr>
            </a:lvl3pPr>
            <a:lvl4pPr algn="l">
              <a:defRPr sz="1500" b="0" i="0">
                <a:solidFill>
                  <a:srgbClr val="BEDBCF"/>
                </a:solidFill>
                <a:latin typeface="Avenir Next"/>
                <a:ea typeface="Avenir Next"/>
                <a:cs typeface="Avenir Next"/>
              </a:defRPr>
            </a:lvl4pPr>
            <a:lvl5pPr algn="l">
              <a:defRPr sz="1500" b="0" i="0">
                <a:solidFill>
                  <a:srgbClr val="BEDBCF"/>
                </a:solidFill>
                <a:latin typeface="Avenir Next"/>
                <a:ea typeface="Avenir Next"/>
                <a:cs typeface="Avenir Next"/>
              </a:defRPr>
            </a:lvl5pPr>
            <a:lvl6pPr algn="l">
              <a:defRPr sz="1500" b="0" i="0">
                <a:solidFill>
                  <a:srgbClr val="BEDBCF"/>
                </a:solidFill>
                <a:latin typeface="Avenir Next"/>
                <a:ea typeface="Avenir Next"/>
                <a:cs typeface="Avenir Next"/>
              </a:defRPr>
            </a:lvl6pPr>
            <a:lvl7pPr algn="l">
              <a:defRPr sz="1500" b="0" i="0">
                <a:solidFill>
                  <a:srgbClr val="BEDBCF"/>
                </a:solidFill>
                <a:latin typeface="Avenir Next"/>
                <a:ea typeface="Avenir Next"/>
                <a:cs typeface="Avenir Next"/>
              </a:defRPr>
            </a:lvl7pPr>
            <a:lvl8pPr algn="l">
              <a:defRPr sz="1500" b="0" i="0">
                <a:solidFill>
                  <a:srgbClr val="BEDBCF"/>
                </a:solidFill>
                <a:latin typeface="Avenir Next"/>
                <a:ea typeface="Avenir Next"/>
                <a:cs typeface="Avenir Next"/>
              </a:defRPr>
            </a:lvl8pPr>
            <a:lvl9pPr algn="l">
              <a:defRPr sz="1500" b="0" i="0">
                <a:solidFill>
                  <a:srgbClr val="BEDBCF"/>
                </a:solidFill>
                <a:latin typeface="Avenir Next"/>
                <a:ea typeface="Avenir Next"/>
                <a:cs typeface="Avenir Next"/>
              </a:defRPr>
            </a:lvl9pPr>
          </a:lstStyle>
          <a:p xmlns:a="http://schemas.openxmlformats.org/drawingml/2006/main">
            <a:pPr algn="l">
              <a:defRPr sz="1500" b="0" i="0">
                <a:solidFill>
                  <a:srgbClr val="BEDBCF"/>
                </a:solidFill>
                <a:latin typeface="Avenir Next"/>
                <a:ea typeface="Avenir Next"/>
                <a:cs typeface="Avenir Next"/>
              </a:defRPr>
            </a:pPr>
            <a:r>
              <a:rPr sz="1500" b="0" i="0">
                <a:solidFill>
                  <a:srgbClr val="BEDBCF"/>
                </a:solidFill>
                <a:latin typeface="Avenir Next"/>
                <a:ea typeface="Avenir Next"/>
                <a:cs typeface="Avenir Next"/>
              </a:rPr>
              <a:t>The resident does not lose context when they leave the discovery page.</a:t>
            </a:r>
          </a:p>
        </p:txBody>
      </p:sp>
      <p:sp>
        <p:nvSpPr>
          <p:cNvPr id="6" name="">
            <a:extLst xmlns:a="http://schemas.openxmlformats.org/drawingml/2006/main">
              <a:ext uri="{FF2B5EF4-FFF2-40B4-BE49-F238E27FC236}">
                <a16:creationId xmlns:a16="http://schemas.microsoft.com/office/drawing/2014/main" id="{80724BF9-0A15-4B2C-9A3F-6E248AF30142}"/>
              </a:ext>
            </a:extLst>
          </p:cNvPr>
          <p:cNvSpPr>
            <a:spLocks xmlns:a="http://schemas.openxmlformats.org/drawingml/2006/main" noGrp="1"/>
          </p:cNvSpPr>
          <p:nvPr/>
        </p:nvSpPr>
        <p:spPr>
          <a:xfrm xmlns:a="http://schemas.openxmlformats.org/drawingml/2006/main">
            <a:off x="685800" y="2476500"/>
            <a:ext cx="3238500" cy="2476500"/>
          </a:xfrm>
          <a:prstGeom xmlns:a="http://schemas.openxmlformats.org/drawingml/2006/main" prst="roundRect">
            <a:avLst>
              <a:gd name="adj" fmla="val 4615"/>
            </a:avLst>
          </a:prstGeom>
          <a:solidFill xmlns:a="http://schemas.openxmlformats.org/drawingml/2006/main">
            <a:srgbClr val="FFFD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BA7EC8D-1A5E-453A-B00C-25B1FB7B27EB}"/>
              </a:ext>
            </a:extLst>
          </p:cNvPr>
          <p:cNvSpPr>
            <a:spLocks xmlns:a="http://schemas.openxmlformats.org/drawingml/2006/main" noGrp="1"/>
          </p:cNvSpPr>
          <p:nvPr/>
        </p:nvSpPr>
        <p:spPr>
          <a:xfrm xmlns:a="http://schemas.openxmlformats.org/drawingml/2006/main">
            <a:off x="952500" y="27622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DISCOVER</a:t>
            </a:r>
          </a:p>
        </p:txBody>
      </p:sp>
      <p:sp>
        <p:nvSpPr>
          <p:cNvPr id="8" name="">
            <a:extLst xmlns:a="http://schemas.openxmlformats.org/drawingml/2006/main">
              <a:ext uri="{FF2B5EF4-FFF2-40B4-BE49-F238E27FC236}">
                <a16:creationId xmlns:a16="http://schemas.microsoft.com/office/drawing/2014/main" id="{9C87D58F-0D26-4677-B1F2-EEDA86F870AE}"/>
              </a:ext>
            </a:extLst>
          </p:cNvPr>
          <p:cNvSpPr>
            <a:spLocks xmlns:a="http://schemas.openxmlformats.org/drawingml/2006/main" noGrp="1"/>
          </p:cNvSpPr>
          <p:nvPr/>
        </p:nvSpPr>
        <p:spPr>
          <a:xfrm xmlns:a="http://schemas.openxmlformats.org/drawingml/2006/main">
            <a:off x="952500" y="32385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BenefitBeacon</a:t>
            </a:r>
          </a:p>
        </p:txBody>
      </p:sp>
      <p:sp>
        <p:nvSpPr>
          <p:cNvPr id="9" name="">
            <a:extLst xmlns:a="http://schemas.openxmlformats.org/drawingml/2006/main">
              <a:ext uri="{FF2B5EF4-FFF2-40B4-BE49-F238E27FC236}">
                <a16:creationId xmlns:a16="http://schemas.microsoft.com/office/drawing/2014/main" id="{3001206F-CF9B-4272-A93D-C981EC62DC3F}"/>
              </a:ext>
            </a:extLst>
          </p:cNvPr>
          <p:cNvSpPr>
            <a:spLocks xmlns:a="http://schemas.openxmlformats.org/drawingml/2006/main" noGrp="1"/>
          </p:cNvSpPr>
          <p:nvPr/>
        </p:nvSpPr>
        <p:spPr>
          <a:xfrm xmlns:a="http://schemas.openxmlformats.org/drawingml/2006/main">
            <a:off x="952500" y="39052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Find a relevant program and understand why it may apply.</a:t>
            </a:r>
          </a:p>
        </p:txBody>
      </p:sp>
      <p:sp>
        <p:nvSpPr>
          <p:cNvPr id="10" name="">
            <a:extLst xmlns:a="http://schemas.openxmlformats.org/drawingml/2006/main">
              <a:ext uri="{FF2B5EF4-FFF2-40B4-BE49-F238E27FC236}">
                <a16:creationId xmlns:a16="http://schemas.microsoft.com/office/drawing/2014/main" id="{286AEEC8-A082-4E7F-BB36-818611183CBC}"/>
              </a:ext>
            </a:extLst>
          </p:cNvPr>
          <p:cNvSpPr>
            <a:spLocks xmlns:a="http://schemas.openxmlformats.org/drawingml/2006/main" noGrp="1"/>
          </p:cNvSpPr>
          <p:nvPr/>
        </p:nvSpPr>
        <p:spPr>
          <a:xfrm xmlns:a="http://schemas.openxmlformats.org/drawingml/2006/main">
            <a:off x="3924300" y="37147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DE11273-51DB-43AB-9EBE-F21DDF0681DD}"/>
              </a:ext>
            </a:extLst>
          </p:cNvPr>
          <p:cNvSpPr>
            <a:spLocks xmlns:a="http://schemas.openxmlformats.org/drawingml/2006/main" noGrp="1"/>
          </p:cNvSpPr>
          <p:nvPr/>
        </p:nvSpPr>
        <p:spPr>
          <a:xfrm xmlns:a="http://schemas.openxmlformats.org/drawingml/2006/main">
            <a:off x="4210050" y="3600450"/>
            <a:ext cx="266700" cy="266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9DF603-DE3B-43F9-A749-0C5878ACBB17}"/>
              </a:ext>
            </a:extLst>
          </p:cNvPr>
          <p:cNvSpPr>
            <a:spLocks xmlns:a="http://schemas.openxmlformats.org/drawingml/2006/main" noGrp="1"/>
          </p:cNvSpPr>
          <p:nvPr/>
        </p:nvSpPr>
        <p:spPr>
          <a:xfrm xmlns:a="http://schemas.openxmlformats.org/drawingml/2006/main">
            <a:off x="4400550" y="2476500"/>
            <a:ext cx="3238500" cy="2476500"/>
          </a:xfrm>
          <a:prstGeom xmlns:a="http://schemas.openxmlformats.org/drawingml/2006/main" prst="roundRect">
            <a:avLst>
              <a:gd name="adj" fmla="val 4615"/>
            </a:avLst>
          </a:prstGeom>
          <a:solidFill xmlns:a="http://schemas.openxmlformats.org/drawingml/2006/main">
            <a:srgbClr val="FFFD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2ADF666-C45D-4A0B-B32E-A836B83CC5DE}"/>
              </a:ext>
            </a:extLst>
          </p:cNvPr>
          <p:cNvSpPr>
            <a:spLocks xmlns:a="http://schemas.openxmlformats.org/drawingml/2006/main" noGrp="1"/>
          </p:cNvSpPr>
          <p:nvPr/>
        </p:nvSpPr>
        <p:spPr>
          <a:xfrm xmlns:a="http://schemas.openxmlformats.org/drawingml/2006/main">
            <a:off x="4667250" y="27622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UNDERSTAND</a:t>
            </a:r>
          </a:p>
        </p:txBody>
      </p:sp>
      <p:sp>
        <p:nvSpPr>
          <p:cNvPr id="14" name="">
            <a:extLst xmlns:a="http://schemas.openxmlformats.org/drawingml/2006/main">
              <a:ext uri="{FF2B5EF4-FFF2-40B4-BE49-F238E27FC236}">
                <a16:creationId xmlns:a16="http://schemas.microsoft.com/office/drawing/2014/main" id="{80EB5331-C86A-4663-A605-39DF1B55C4F1}"/>
              </a:ext>
            </a:extLst>
          </p:cNvPr>
          <p:cNvSpPr>
            <a:spLocks xmlns:a="http://schemas.openxmlformats.org/drawingml/2006/main" noGrp="1"/>
          </p:cNvSpPr>
          <p:nvPr/>
        </p:nvSpPr>
        <p:spPr>
          <a:xfrm xmlns:a="http://schemas.openxmlformats.org/drawingml/2006/main">
            <a:off x="4667250" y="32385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Explore this</a:t>
            </a:r>
          </a:p>
        </p:txBody>
      </p:sp>
      <p:sp>
        <p:nvSpPr>
          <p:cNvPr id="15" name="">
            <a:extLst xmlns:a="http://schemas.openxmlformats.org/drawingml/2006/main">
              <a:ext uri="{FF2B5EF4-FFF2-40B4-BE49-F238E27FC236}">
                <a16:creationId xmlns:a16="http://schemas.microsoft.com/office/drawing/2014/main" id="{56FE1C50-DEB9-4DC6-8453-AD40F3FDD45B}"/>
              </a:ext>
            </a:extLst>
          </p:cNvPr>
          <p:cNvSpPr>
            <a:spLocks xmlns:a="http://schemas.openxmlformats.org/drawingml/2006/main" noGrp="1"/>
          </p:cNvSpPr>
          <p:nvPr/>
        </p:nvSpPr>
        <p:spPr>
          <a:xfrm xmlns:a="http://schemas.openxmlformats.org/drawingml/2006/main">
            <a:off x="4667250" y="39052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Ask source-grounded questions about eligibility and documents.</a:t>
            </a:r>
          </a:p>
        </p:txBody>
      </p:sp>
      <p:sp>
        <p:nvSpPr>
          <p:cNvPr id="16" name="">
            <a:extLst xmlns:a="http://schemas.openxmlformats.org/drawingml/2006/main">
              <a:ext uri="{FF2B5EF4-FFF2-40B4-BE49-F238E27FC236}">
                <a16:creationId xmlns:a16="http://schemas.microsoft.com/office/drawing/2014/main" id="{E2C7B95B-2490-4209-81FF-2CB7916EEA3A}"/>
              </a:ext>
            </a:extLst>
          </p:cNvPr>
          <p:cNvSpPr>
            <a:spLocks xmlns:a="http://schemas.openxmlformats.org/drawingml/2006/main" noGrp="1"/>
          </p:cNvSpPr>
          <p:nvPr/>
        </p:nvSpPr>
        <p:spPr>
          <a:xfrm xmlns:a="http://schemas.openxmlformats.org/drawingml/2006/main">
            <a:off x="7639050" y="37147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655CFBE-F426-4A10-AEA4-1F0A60F66DA9}"/>
              </a:ext>
            </a:extLst>
          </p:cNvPr>
          <p:cNvSpPr>
            <a:spLocks xmlns:a="http://schemas.openxmlformats.org/drawingml/2006/main" noGrp="1"/>
          </p:cNvSpPr>
          <p:nvPr/>
        </p:nvSpPr>
        <p:spPr>
          <a:xfrm xmlns:a="http://schemas.openxmlformats.org/drawingml/2006/main">
            <a:off x="7924800" y="3600450"/>
            <a:ext cx="266700" cy="266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474623F-68D8-45B1-BDD6-AA482E87FBB9}"/>
              </a:ext>
            </a:extLst>
          </p:cNvPr>
          <p:cNvSpPr>
            <a:spLocks xmlns:a="http://schemas.openxmlformats.org/drawingml/2006/main" noGrp="1"/>
          </p:cNvSpPr>
          <p:nvPr/>
        </p:nvSpPr>
        <p:spPr>
          <a:xfrm xmlns:a="http://schemas.openxmlformats.org/drawingml/2006/main">
            <a:off x="8115300" y="2476500"/>
            <a:ext cx="3238500" cy="2476500"/>
          </a:xfrm>
          <a:prstGeom xmlns:a="http://schemas.openxmlformats.org/drawingml/2006/main" prst="roundRect">
            <a:avLst>
              <a:gd name="adj" fmla="val 4615"/>
            </a:avLst>
          </a:prstGeom>
          <a:solidFill xmlns:a="http://schemas.openxmlformats.org/drawingml/2006/main">
            <a:srgbClr val="FFFDF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12C0EAC-028C-41C7-A62D-84AA6BE333D7}"/>
              </a:ext>
            </a:extLst>
          </p:cNvPr>
          <p:cNvSpPr>
            <a:spLocks xmlns:a="http://schemas.openxmlformats.org/drawingml/2006/main" noGrp="1"/>
          </p:cNvSpPr>
          <p:nvPr/>
        </p:nvSpPr>
        <p:spPr>
          <a:xfrm xmlns:a="http://schemas.openxmlformats.org/drawingml/2006/main">
            <a:off x="8382000" y="27622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APPLY</a:t>
            </a:r>
          </a:p>
        </p:txBody>
      </p:sp>
      <p:sp>
        <p:nvSpPr>
          <p:cNvPr id="20" name="">
            <a:extLst xmlns:a="http://schemas.openxmlformats.org/drawingml/2006/main">
              <a:ext uri="{FF2B5EF4-FFF2-40B4-BE49-F238E27FC236}">
                <a16:creationId xmlns:a16="http://schemas.microsoft.com/office/drawing/2014/main" id="{C5A2BFBC-F790-45E8-96FD-05FF84AEBECF}"/>
              </a:ext>
            </a:extLst>
          </p:cNvPr>
          <p:cNvSpPr>
            <a:spLocks xmlns:a="http://schemas.openxmlformats.org/drawingml/2006/main" noGrp="1"/>
          </p:cNvSpPr>
          <p:nvPr/>
        </p:nvSpPr>
        <p:spPr>
          <a:xfrm xmlns:a="http://schemas.openxmlformats.org/drawingml/2006/main">
            <a:off x="8382000" y="32385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Browser side panel</a:t>
            </a:r>
          </a:p>
        </p:txBody>
      </p:sp>
      <p:sp>
        <p:nvSpPr>
          <p:cNvPr id="21" name="">
            <a:extLst xmlns:a="http://schemas.openxmlformats.org/drawingml/2006/main">
              <a:ext uri="{FF2B5EF4-FFF2-40B4-BE49-F238E27FC236}">
                <a16:creationId xmlns:a16="http://schemas.microsoft.com/office/drawing/2014/main" id="{77D504DC-A8EA-4140-BFD9-ADB529B1DFEE}"/>
              </a:ext>
            </a:extLst>
          </p:cNvPr>
          <p:cNvSpPr>
            <a:spLocks xmlns:a="http://schemas.openxmlformats.org/drawingml/2006/main" noGrp="1"/>
          </p:cNvSpPr>
          <p:nvPr/>
        </p:nvSpPr>
        <p:spPr>
          <a:xfrm xmlns:a="http://schemas.openxmlformats.org/drawingml/2006/main">
            <a:off x="8382000" y="39052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Explain visible fields and offer resident-approved safe fills.</a:t>
            </a:r>
          </a:p>
        </p:txBody>
      </p:sp>
      <p:sp>
        <p:nvSpPr>
          <p:cNvPr id="22" name="">
            <a:extLst xmlns:a="http://schemas.openxmlformats.org/drawingml/2006/main">
              <a:ext uri="{FF2B5EF4-FFF2-40B4-BE49-F238E27FC236}">
                <a16:creationId xmlns:a16="http://schemas.microsoft.com/office/drawing/2014/main" id="{EE3048D6-463A-4F36-823C-98733013AA7C}"/>
              </a:ext>
            </a:extLst>
          </p:cNvPr>
          <p:cNvSpPr>
            <a:spLocks xmlns:a="http://schemas.openxmlformats.org/drawingml/2006/main" noGrp="1"/>
          </p:cNvSpPr>
          <p:nvPr/>
        </p:nvSpPr>
        <p:spPr>
          <a:xfrm xmlns:a="http://schemas.openxmlformats.org/drawingml/2006/main">
            <a:off x="3238500" y="56959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FB08C"/>
                </a:solidFill>
                <a:latin typeface="Avenir Next"/>
                <a:ea typeface="Avenir Next"/>
                <a:cs typeface="Avenir Next"/>
              </a:defRPr>
            </a:defPPr>
            <a:lvl1pPr algn="l">
              <a:defRPr sz="1350" b="1" i="0">
                <a:solidFill>
                  <a:srgbClr val="FFB08C"/>
                </a:solidFill>
                <a:latin typeface="Avenir Next"/>
                <a:ea typeface="Avenir Next"/>
                <a:cs typeface="Avenir Next"/>
              </a:defRPr>
            </a:lvl1pPr>
            <a:lvl2pPr algn="l">
              <a:defRPr sz="1350" b="1" i="0">
                <a:solidFill>
                  <a:srgbClr val="FFB08C"/>
                </a:solidFill>
                <a:latin typeface="Avenir Next"/>
                <a:ea typeface="Avenir Next"/>
                <a:cs typeface="Avenir Next"/>
              </a:defRPr>
            </a:lvl2pPr>
            <a:lvl3pPr algn="l">
              <a:defRPr sz="1350" b="1" i="0">
                <a:solidFill>
                  <a:srgbClr val="FFB08C"/>
                </a:solidFill>
                <a:latin typeface="Avenir Next"/>
                <a:ea typeface="Avenir Next"/>
                <a:cs typeface="Avenir Next"/>
              </a:defRPr>
            </a:lvl3pPr>
            <a:lvl4pPr algn="l">
              <a:defRPr sz="1350" b="1" i="0">
                <a:solidFill>
                  <a:srgbClr val="FFB08C"/>
                </a:solidFill>
                <a:latin typeface="Avenir Next"/>
                <a:ea typeface="Avenir Next"/>
                <a:cs typeface="Avenir Next"/>
              </a:defRPr>
            </a:lvl4pPr>
            <a:lvl5pPr algn="l">
              <a:defRPr sz="1350" b="1" i="0">
                <a:solidFill>
                  <a:srgbClr val="FFB08C"/>
                </a:solidFill>
                <a:latin typeface="Avenir Next"/>
                <a:ea typeface="Avenir Next"/>
                <a:cs typeface="Avenir Next"/>
              </a:defRPr>
            </a:lvl5pPr>
            <a:lvl6pPr algn="l">
              <a:defRPr sz="1350" b="1" i="0">
                <a:solidFill>
                  <a:srgbClr val="FFB08C"/>
                </a:solidFill>
                <a:latin typeface="Avenir Next"/>
                <a:ea typeface="Avenir Next"/>
                <a:cs typeface="Avenir Next"/>
              </a:defRPr>
            </a:lvl6pPr>
            <a:lvl7pPr algn="l">
              <a:defRPr sz="1350" b="1" i="0">
                <a:solidFill>
                  <a:srgbClr val="FFB08C"/>
                </a:solidFill>
                <a:latin typeface="Avenir Next"/>
                <a:ea typeface="Avenir Next"/>
                <a:cs typeface="Avenir Next"/>
              </a:defRPr>
            </a:lvl7pPr>
            <a:lvl8pPr algn="l">
              <a:defRPr sz="1350" b="1" i="0">
                <a:solidFill>
                  <a:srgbClr val="FFB08C"/>
                </a:solidFill>
                <a:latin typeface="Avenir Next"/>
                <a:ea typeface="Avenir Next"/>
                <a:cs typeface="Avenir Next"/>
              </a:defRPr>
            </a:lvl8pPr>
            <a:lvl9pPr algn="l">
              <a:defRPr sz="1350" b="1" i="0">
                <a:solidFill>
                  <a:srgbClr val="FFB08C"/>
                </a:solidFill>
                <a:latin typeface="Avenir Next"/>
                <a:ea typeface="Avenir Next"/>
                <a:cs typeface="Avenir Next"/>
              </a:defRPr>
            </a:lvl9pPr>
          </a:lstStyle>
          <a:p xmlns:a="http://schemas.openxmlformats.org/drawingml/2006/main">
            <a:pPr algn="l">
              <a:defRPr sz="1350" b="1" i="0">
                <a:solidFill>
                  <a:srgbClr val="FFB08C"/>
                </a:solidFill>
                <a:latin typeface="Avenir Next"/>
                <a:ea typeface="Avenir Next"/>
                <a:cs typeface="Avenir Next"/>
              </a:defRPr>
            </a:pPr>
            <a:r>
              <a:rPr sz="1350" b="1" i="0">
                <a:solidFill>
                  <a:srgbClr val="FFB08C"/>
                </a:solidFill>
                <a:latin typeface="Avenir Next"/>
                <a:ea typeface="Avenir Next"/>
                <a:cs typeface="Avenir Next"/>
              </a:rPr>
              <a:t>Safety boundary</a:t>
            </a:r>
          </a:p>
        </p:txBody>
      </p:sp>
      <p:sp>
        <p:nvSpPr>
          <p:cNvPr id="23" name="">
            <a:extLst xmlns:a="http://schemas.openxmlformats.org/drawingml/2006/main">
              <a:ext uri="{FF2B5EF4-FFF2-40B4-BE49-F238E27FC236}">
                <a16:creationId xmlns:a16="http://schemas.microsoft.com/office/drawing/2014/main" id="{9510F675-A575-465F-B40E-ABBB554059FD}"/>
              </a:ext>
            </a:extLst>
          </p:cNvPr>
          <p:cNvSpPr>
            <a:spLocks xmlns:a="http://schemas.openxmlformats.org/drawingml/2006/main" noGrp="1"/>
          </p:cNvSpPr>
          <p:nvPr/>
        </p:nvSpPr>
        <p:spPr>
          <a:xfrm xmlns:a="http://schemas.openxmlformats.org/drawingml/2006/main">
            <a:off x="4953000" y="5695950"/>
            <a:ext cx="628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F7F1E7"/>
                </a:solidFill>
                <a:latin typeface="Avenir Next"/>
                <a:ea typeface="Avenir Next"/>
                <a:cs typeface="Avenir Next"/>
              </a:defRPr>
            </a:defPPr>
            <a:lvl1pPr algn="l">
              <a:defRPr sz="1275" b="0" i="0">
                <a:solidFill>
                  <a:srgbClr val="F7F1E7"/>
                </a:solidFill>
                <a:latin typeface="Avenir Next"/>
                <a:ea typeface="Avenir Next"/>
                <a:cs typeface="Avenir Next"/>
              </a:defRPr>
            </a:lvl1pPr>
            <a:lvl2pPr algn="l">
              <a:defRPr sz="1275" b="0" i="0">
                <a:solidFill>
                  <a:srgbClr val="F7F1E7"/>
                </a:solidFill>
                <a:latin typeface="Avenir Next"/>
                <a:ea typeface="Avenir Next"/>
                <a:cs typeface="Avenir Next"/>
              </a:defRPr>
            </a:lvl2pPr>
            <a:lvl3pPr algn="l">
              <a:defRPr sz="1275" b="0" i="0">
                <a:solidFill>
                  <a:srgbClr val="F7F1E7"/>
                </a:solidFill>
                <a:latin typeface="Avenir Next"/>
                <a:ea typeface="Avenir Next"/>
                <a:cs typeface="Avenir Next"/>
              </a:defRPr>
            </a:lvl3pPr>
            <a:lvl4pPr algn="l">
              <a:defRPr sz="1275" b="0" i="0">
                <a:solidFill>
                  <a:srgbClr val="F7F1E7"/>
                </a:solidFill>
                <a:latin typeface="Avenir Next"/>
                <a:ea typeface="Avenir Next"/>
                <a:cs typeface="Avenir Next"/>
              </a:defRPr>
            </a:lvl4pPr>
            <a:lvl5pPr algn="l">
              <a:defRPr sz="1275" b="0" i="0">
                <a:solidFill>
                  <a:srgbClr val="F7F1E7"/>
                </a:solidFill>
                <a:latin typeface="Avenir Next"/>
                <a:ea typeface="Avenir Next"/>
                <a:cs typeface="Avenir Next"/>
              </a:defRPr>
            </a:lvl5pPr>
            <a:lvl6pPr algn="l">
              <a:defRPr sz="1275" b="0" i="0">
                <a:solidFill>
                  <a:srgbClr val="F7F1E7"/>
                </a:solidFill>
                <a:latin typeface="Avenir Next"/>
                <a:ea typeface="Avenir Next"/>
                <a:cs typeface="Avenir Next"/>
              </a:defRPr>
            </a:lvl6pPr>
            <a:lvl7pPr algn="l">
              <a:defRPr sz="1275" b="0" i="0">
                <a:solidFill>
                  <a:srgbClr val="F7F1E7"/>
                </a:solidFill>
                <a:latin typeface="Avenir Next"/>
                <a:ea typeface="Avenir Next"/>
                <a:cs typeface="Avenir Next"/>
              </a:defRPr>
            </a:lvl7pPr>
            <a:lvl8pPr algn="l">
              <a:defRPr sz="1275" b="0" i="0">
                <a:solidFill>
                  <a:srgbClr val="F7F1E7"/>
                </a:solidFill>
                <a:latin typeface="Avenir Next"/>
                <a:ea typeface="Avenir Next"/>
                <a:cs typeface="Avenir Next"/>
              </a:defRPr>
            </a:lvl8pPr>
            <a:lvl9pPr algn="l">
              <a:defRPr sz="1275" b="0" i="0">
                <a:solidFill>
                  <a:srgbClr val="F7F1E7"/>
                </a:solidFill>
                <a:latin typeface="Avenir Next"/>
                <a:ea typeface="Avenir Next"/>
                <a:cs typeface="Avenir Next"/>
              </a:defRPr>
            </a:lvl9pPr>
          </a:lstStyle>
          <a:p xmlns:a="http://schemas.openxmlformats.org/drawingml/2006/main">
            <a:pPr algn="l">
              <a:defRPr sz="1275" b="0" i="0">
                <a:solidFill>
                  <a:srgbClr val="F7F1E7"/>
                </a:solidFill>
                <a:latin typeface="Avenir Next"/>
                <a:ea typeface="Avenir Next"/>
                <a:cs typeface="Avenir Next"/>
              </a:defRPr>
            </a:pPr>
            <a:r>
              <a:rPr sz="1275" b="0" i="0">
                <a:solidFill>
                  <a:srgbClr val="F7F1E7"/>
                </a:solidFill>
                <a:latin typeface="Avenir Next"/>
                <a:ea typeface="Avenir Next"/>
                <a:cs typeface="Avenir Next"/>
              </a:rPr>
              <a:t>No form submission, signature, sensitive identifier, consent, or verification bypass.</a:t>
            </a:r>
          </a:p>
        </p:txBody>
      </p:sp>
    </p:spTree>
    <p:extLst>
      <p:ext uri="{BB962C8B-B14F-4D97-AF65-F5344CB8AC3E}">
        <p14:creationId xmlns:p14="http://schemas.microsoft.com/office/powerpoint/2010/main" val="15178683"/>
      </p:ext>
    </p:extLst>
  </p:cSld>
</p:sld>
</file>

<file path=ppt/slides/slide7.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00881C8-7EF1-4CEC-B0A3-95AB26608BE2}"/>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162A5ACC-012E-4C9B-B9C5-923973CB1E94}"/>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B5217BB4-385E-49D2-9AAA-B0D2FE2C324E}"/>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07</a:t>
            </a:r>
          </a:p>
        </p:txBody>
      </p:sp>
      <p:sp>
        <p:nvSpPr>
          <p:cNvPr id="4" name="">
            <a:extLst xmlns:a="http://schemas.openxmlformats.org/drawingml/2006/main">
              <a:ext uri="{FF2B5EF4-FFF2-40B4-BE49-F238E27FC236}">
                <a16:creationId xmlns:a16="http://schemas.microsoft.com/office/drawing/2014/main" id="{52ECD650-3857-424C-BA48-E99B59C40382}"/>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AI helps inside firm boundaries</a:t>
            </a:r>
          </a:p>
        </p:txBody>
      </p:sp>
      <p:sp>
        <p:nvSpPr>
          <p:cNvPr id="5" name="">
            <a:extLst xmlns:a="http://schemas.openxmlformats.org/drawingml/2006/main">
              <a:ext uri="{FF2B5EF4-FFF2-40B4-BE49-F238E27FC236}">
                <a16:creationId xmlns:a16="http://schemas.microsoft.com/office/drawing/2014/main" id="{6C537DE7-5CDF-4B53-B4DA-0E3DFB54D004}"/>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model supports judgment. It does not become the source of truth.</a:t>
            </a:r>
          </a:p>
        </p:txBody>
      </p:sp>
      <p:sp>
        <p:nvSpPr>
          <p:cNvPr id="6" name="">
            <a:extLst xmlns:a="http://schemas.openxmlformats.org/drawingml/2006/main">
              <a:ext uri="{FF2B5EF4-FFF2-40B4-BE49-F238E27FC236}">
                <a16:creationId xmlns:a16="http://schemas.microsoft.com/office/drawing/2014/main" id="{4CD8C3AF-50F8-4556-92CB-E3D2D9F9B785}"/>
              </a:ext>
            </a:extLst>
          </p:cNvPr>
          <p:cNvSpPr>
            <a:spLocks xmlns:a="http://schemas.openxmlformats.org/drawingml/2006/main" noGrp="1"/>
          </p:cNvSpPr>
          <p:nvPr/>
        </p:nvSpPr>
        <p:spPr>
          <a:xfrm xmlns:a="http://schemas.openxmlformats.org/drawingml/2006/main">
            <a:off x="1552575"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C3F0027-D5CD-444E-92FC-C5191EF55DAF}"/>
              </a:ext>
            </a:extLst>
          </p:cNvPr>
          <p:cNvSpPr>
            <a:spLocks xmlns:a="http://schemas.openxmlformats.org/drawingml/2006/main" noGrp="1"/>
          </p:cNvSpPr>
          <p:nvPr/>
        </p:nvSpPr>
        <p:spPr>
          <a:xfrm xmlns:a="http://schemas.openxmlformats.org/drawingml/2006/main">
            <a:off x="1762125"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73FD586F-1167-4EF8-BF6D-E5DF9680DD90}"/>
              </a:ext>
            </a:extLst>
          </p:cNvPr>
          <p:cNvSpPr>
            <a:spLocks xmlns:a="http://schemas.openxmlformats.org/drawingml/2006/main" noGrp="1"/>
          </p:cNvSpPr>
          <p:nvPr/>
        </p:nvSpPr>
        <p:spPr>
          <a:xfrm xmlns:a="http://schemas.openxmlformats.org/drawingml/2006/main">
            <a:off x="685800"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UNDERSTAND</a:t>
            </a:r>
          </a:p>
        </p:txBody>
      </p:sp>
      <p:sp>
        <p:nvSpPr>
          <p:cNvPr id="9" name="">
            <a:extLst xmlns:a="http://schemas.openxmlformats.org/drawingml/2006/main">
              <a:ext uri="{FF2B5EF4-FFF2-40B4-BE49-F238E27FC236}">
                <a16:creationId xmlns:a16="http://schemas.microsoft.com/office/drawing/2014/main" id="{56F7EC24-974D-4C3B-BAB4-697C6943C5A0}"/>
              </a:ext>
            </a:extLst>
          </p:cNvPr>
          <p:cNvSpPr>
            <a:spLocks xmlns:a="http://schemas.openxmlformats.org/drawingml/2006/main" noGrp="1"/>
          </p:cNvSpPr>
          <p:nvPr/>
        </p:nvSpPr>
        <p:spPr>
          <a:xfrm xmlns:a="http://schemas.openxmlformats.org/drawingml/2006/main">
            <a:off x="685800"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Extract explicit facts from the resident’s words</a:t>
            </a:r>
          </a:p>
        </p:txBody>
      </p:sp>
      <p:sp>
        <p:nvSpPr>
          <p:cNvPr id="10" name="">
            <a:extLst xmlns:a="http://schemas.openxmlformats.org/drawingml/2006/main">
              <a:ext uri="{FF2B5EF4-FFF2-40B4-BE49-F238E27FC236}">
                <a16:creationId xmlns:a16="http://schemas.microsoft.com/office/drawing/2014/main" id="{F638B537-ADE6-42BF-B3B1-B4BFE6958C6A}"/>
              </a:ext>
            </a:extLst>
          </p:cNvPr>
          <p:cNvSpPr>
            <a:spLocks xmlns:a="http://schemas.openxmlformats.org/drawingml/2006/main" noGrp="1"/>
          </p:cNvSpPr>
          <p:nvPr/>
        </p:nvSpPr>
        <p:spPr>
          <a:xfrm xmlns:a="http://schemas.openxmlformats.org/drawingml/2006/main">
            <a:off x="4267200"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F03CF55-6287-4D05-9114-5CF37806C7BA}"/>
              </a:ext>
            </a:extLst>
          </p:cNvPr>
          <p:cNvSpPr>
            <a:spLocks xmlns:a="http://schemas.openxmlformats.org/drawingml/2006/main" noGrp="1"/>
          </p:cNvSpPr>
          <p:nvPr/>
        </p:nvSpPr>
        <p:spPr>
          <a:xfrm xmlns:a="http://schemas.openxmlformats.org/drawingml/2006/main">
            <a:off x="4476750"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2</a:t>
            </a:r>
          </a:p>
        </p:txBody>
      </p:sp>
      <p:sp>
        <p:nvSpPr>
          <p:cNvPr id="12" name="">
            <a:extLst xmlns:a="http://schemas.openxmlformats.org/drawingml/2006/main">
              <a:ext uri="{FF2B5EF4-FFF2-40B4-BE49-F238E27FC236}">
                <a16:creationId xmlns:a16="http://schemas.microsoft.com/office/drawing/2014/main" id="{8B2E4431-3617-4B21-A50D-0B826466FD70}"/>
              </a:ext>
            </a:extLst>
          </p:cNvPr>
          <p:cNvSpPr>
            <a:spLocks xmlns:a="http://schemas.openxmlformats.org/drawingml/2006/main" noGrp="1"/>
          </p:cNvSpPr>
          <p:nvPr/>
        </p:nvSpPr>
        <p:spPr>
          <a:xfrm xmlns:a="http://schemas.openxmlformats.org/drawingml/2006/main">
            <a:off x="3400425"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ASK</a:t>
            </a:r>
          </a:p>
        </p:txBody>
      </p:sp>
      <p:sp>
        <p:nvSpPr>
          <p:cNvPr id="13" name="">
            <a:extLst xmlns:a="http://schemas.openxmlformats.org/drawingml/2006/main">
              <a:ext uri="{FF2B5EF4-FFF2-40B4-BE49-F238E27FC236}">
                <a16:creationId xmlns:a16="http://schemas.microsoft.com/office/drawing/2014/main" id="{0CDDEC72-D65E-4096-862C-558426B30E57}"/>
              </a:ext>
            </a:extLst>
          </p:cNvPr>
          <p:cNvSpPr>
            <a:spLocks xmlns:a="http://schemas.openxmlformats.org/drawingml/2006/main" noGrp="1"/>
          </p:cNvSpPr>
          <p:nvPr/>
        </p:nvSpPr>
        <p:spPr>
          <a:xfrm xmlns:a="http://schemas.openxmlformats.org/drawingml/2006/main">
            <a:off x="3400425"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Request only the missing detail that changes the answer</a:t>
            </a:r>
          </a:p>
        </p:txBody>
      </p:sp>
      <p:sp>
        <p:nvSpPr>
          <p:cNvPr id="14" name="">
            <a:extLst xmlns:a="http://schemas.openxmlformats.org/drawingml/2006/main">
              <a:ext uri="{FF2B5EF4-FFF2-40B4-BE49-F238E27FC236}">
                <a16:creationId xmlns:a16="http://schemas.microsoft.com/office/drawing/2014/main" id="{383F4D10-9B76-487B-A072-9CF3FE65FB92}"/>
              </a:ext>
            </a:extLst>
          </p:cNvPr>
          <p:cNvSpPr>
            <a:spLocks xmlns:a="http://schemas.openxmlformats.org/drawingml/2006/main" noGrp="1"/>
          </p:cNvSpPr>
          <p:nvPr/>
        </p:nvSpPr>
        <p:spPr>
          <a:xfrm xmlns:a="http://schemas.openxmlformats.org/drawingml/2006/main">
            <a:off x="6981825"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E32D8B2-C9EE-4A73-BD2B-7AA61E4B47AC}"/>
              </a:ext>
            </a:extLst>
          </p:cNvPr>
          <p:cNvSpPr>
            <a:spLocks xmlns:a="http://schemas.openxmlformats.org/drawingml/2006/main" noGrp="1"/>
          </p:cNvSpPr>
          <p:nvPr/>
        </p:nvSpPr>
        <p:spPr>
          <a:xfrm xmlns:a="http://schemas.openxmlformats.org/drawingml/2006/main">
            <a:off x="7191375"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B50765A8-9916-48C1-B663-0C8213B2AF3D}"/>
              </a:ext>
            </a:extLst>
          </p:cNvPr>
          <p:cNvSpPr>
            <a:spLocks xmlns:a="http://schemas.openxmlformats.org/drawingml/2006/main" noGrp="1"/>
          </p:cNvSpPr>
          <p:nvPr/>
        </p:nvSpPr>
        <p:spPr>
          <a:xfrm xmlns:a="http://schemas.openxmlformats.org/drawingml/2006/main">
            <a:off x="6115050"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RANK</a:t>
            </a:r>
          </a:p>
        </p:txBody>
      </p:sp>
      <p:sp>
        <p:nvSpPr>
          <p:cNvPr id="17" name="">
            <a:extLst xmlns:a="http://schemas.openxmlformats.org/drawingml/2006/main">
              <a:ext uri="{FF2B5EF4-FFF2-40B4-BE49-F238E27FC236}">
                <a16:creationId xmlns:a16="http://schemas.microsoft.com/office/drawing/2014/main" id="{A32B9F23-AC5B-4240-B008-671E39C897B6}"/>
              </a:ext>
            </a:extLst>
          </p:cNvPr>
          <p:cNvSpPr>
            <a:spLocks xmlns:a="http://schemas.openxmlformats.org/drawingml/2006/main" noGrp="1"/>
          </p:cNvSpPr>
          <p:nvPr/>
        </p:nvSpPr>
        <p:spPr>
          <a:xfrm xmlns:a="http://schemas.openxmlformats.org/drawingml/2006/main">
            <a:off x="6115050"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Reorder known record IDs after rule-based filtering</a:t>
            </a:r>
          </a:p>
        </p:txBody>
      </p:sp>
      <p:sp>
        <p:nvSpPr>
          <p:cNvPr id="18" name="">
            <a:extLst xmlns:a="http://schemas.openxmlformats.org/drawingml/2006/main">
              <a:ext uri="{FF2B5EF4-FFF2-40B4-BE49-F238E27FC236}">
                <a16:creationId xmlns:a16="http://schemas.microsoft.com/office/drawing/2014/main" id="{875017BF-AB7B-4A7A-A540-1488D8340536}"/>
              </a:ext>
            </a:extLst>
          </p:cNvPr>
          <p:cNvSpPr>
            <a:spLocks xmlns:a="http://schemas.openxmlformats.org/drawingml/2006/main" noGrp="1"/>
          </p:cNvSpPr>
          <p:nvPr/>
        </p:nvSpPr>
        <p:spPr>
          <a:xfrm xmlns:a="http://schemas.openxmlformats.org/drawingml/2006/main">
            <a:off x="9696450" y="2571750"/>
            <a:ext cx="704850" cy="70485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9E348C4-5674-43CB-8932-6E3B17710F0B}"/>
              </a:ext>
            </a:extLst>
          </p:cNvPr>
          <p:cNvSpPr>
            <a:spLocks xmlns:a="http://schemas.openxmlformats.org/drawingml/2006/main" noGrp="1"/>
          </p:cNvSpPr>
          <p:nvPr/>
        </p:nvSpPr>
        <p:spPr>
          <a:xfrm xmlns:a="http://schemas.openxmlformats.org/drawingml/2006/main">
            <a:off x="9906000"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4</a:t>
            </a:r>
          </a:p>
        </p:txBody>
      </p:sp>
      <p:sp>
        <p:nvSpPr>
          <p:cNvPr id="20" name="">
            <a:extLst xmlns:a="http://schemas.openxmlformats.org/drawingml/2006/main">
              <a:ext uri="{FF2B5EF4-FFF2-40B4-BE49-F238E27FC236}">
                <a16:creationId xmlns:a16="http://schemas.microsoft.com/office/drawing/2014/main" id="{14F3FFB0-7EDA-472D-B086-5DFCE3F7DB30}"/>
              </a:ext>
            </a:extLst>
          </p:cNvPr>
          <p:cNvSpPr>
            <a:spLocks xmlns:a="http://schemas.openxmlformats.org/drawingml/2006/main" noGrp="1"/>
          </p:cNvSpPr>
          <p:nvPr/>
        </p:nvSpPr>
        <p:spPr>
          <a:xfrm xmlns:a="http://schemas.openxmlformats.org/drawingml/2006/main">
            <a:off x="8829675"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EXPLAIN</a:t>
            </a:r>
          </a:p>
        </p:txBody>
      </p:sp>
      <p:sp>
        <p:nvSpPr>
          <p:cNvPr id="21" name="">
            <a:extLst xmlns:a="http://schemas.openxmlformats.org/drawingml/2006/main">
              <a:ext uri="{FF2B5EF4-FFF2-40B4-BE49-F238E27FC236}">
                <a16:creationId xmlns:a16="http://schemas.microsoft.com/office/drawing/2014/main" id="{57B92B42-C231-400C-965A-8DBD852C0127}"/>
              </a:ext>
            </a:extLst>
          </p:cNvPr>
          <p:cNvSpPr>
            <a:spLocks xmlns:a="http://schemas.openxmlformats.org/drawingml/2006/main" noGrp="1"/>
          </p:cNvSpPr>
          <p:nvPr/>
        </p:nvSpPr>
        <p:spPr>
          <a:xfrm xmlns:a="http://schemas.openxmlformats.org/drawingml/2006/main">
            <a:off x="8829675"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Describe why a published program may fit</a:t>
            </a:r>
          </a:p>
        </p:txBody>
      </p:sp>
      <p:sp>
        <p:nvSpPr>
          <p:cNvPr id="22" name="">
            <a:extLst xmlns:a="http://schemas.openxmlformats.org/drawingml/2006/main">
              <a:ext uri="{FF2B5EF4-FFF2-40B4-BE49-F238E27FC236}">
                <a16:creationId xmlns:a16="http://schemas.microsoft.com/office/drawing/2014/main" id="{9C585A08-C581-41D6-90A0-0F6817678CCE}"/>
              </a:ext>
            </a:extLst>
          </p:cNvPr>
          <p:cNvSpPr>
            <a:spLocks xmlns:a="http://schemas.openxmlformats.org/drawingml/2006/main" noGrp="1"/>
          </p:cNvSpPr>
          <p:nvPr/>
        </p:nvSpPr>
        <p:spPr>
          <a:xfrm xmlns:a="http://schemas.openxmlformats.org/drawingml/2006/main">
            <a:off x="3238500" y="5219700"/>
            <a:ext cx="8267700" cy="895350"/>
          </a:xfrm>
          <a:prstGeom xmlns:a="http://schemas.openxmlformats.org/drawingml/2006/main" prst="roundRect">
            <a:avLst>
              <a:gd name="adj" fmla="val 12766"/>
            </a:avLst>
          </a:prstGeom>
          <a:solidFill xmlns:a="http://schemas.openxmlformats.org/drawingml/2006/main">
            <a:srgbClr val="E8F0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2E949F2-0EC0-4A64-987D-4526AA37BEB2}"/>
              </a:ext>
            </a:extLst>
          </p:cNvPr>
          <p:cNvSpPr>
            <a:spLocks xmlns:a="http://schemas.openxmlformats.org/drawingml/2006/main" noGrp="1"/>
          </p:cNvSpPr>
          <p:nvPr/>
        </p:nvSpPr>
        <p:spPr>
          <a:xfrm xmlns:a="http://schemas.openxmlformats.org/drawingml/2006/main">
            <a:off x="3524250" y="54864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i="0">
                <a:solidFill>
                  <a:srgbClr val="073E35"/>
                </a:solidFill>
                <a:latin typeface="Avenir Next"/>
                <a:ea typeface="Avenir Next"/>
                <a:cs typeface="Avenir Next"/>
              </a:defRPr>
            </a:defPPr>
            <a:lvl1pPr algn="l">
              <a:defRPr sz="1650" b="1" i="0">
                <a:solidFill>
                  <a:srgbClr val="073E35"/>
                </a:solidFill>
                <a:latin typeface="Avenir Next"/>
                <a:ea typeface="Avenir Next"/>
                <a:cs typeface="Avenir Next"/>
              </a:defRPr>
            </a:lvl1pPr>
            <a:lvl2pPr algn="l">
              <a:defRPr sz="1650" b="1" i="0">
                <a:solidFill>
                  <a:srgbClr val="073E35"/>
                </a:solidFill>
                <a:latin typeface="Avenir Next"/>
                <a:ea typeface="Avenir Next"/>
                <a:cs typeface="Avenir Next"/>
              </a:defRPr>
            </a:lvl2pPr>
            <a:lvl3pPr algn="l">
              <a:defRPr sz="1650" b="1" i="0">
                <a:solidFill>
                  <a:srgbClr val="073E35"/>
                </a:solidFill>
                <a:latin typeface="Avenir Next"/>
                <a:ea typeface="Avenir Next"/>
                <a:cs typeface="Avenir Next"/>
              </a:defRPr>
            </a:lvl3pPr>
            <a:lvl4pPr algn="l">
              <a:defRPr sz="1650" b="1" i="0">
                <a:solidFill>
                  <a:srgbClr val="073E35"/>
                </a:solidFill>
                <a:latin typeface="Avenir Next"/>
                <a:ea typeface="Avenir Next"/>
                <a:cs typeface="Avenir Next"/>
              </a:defRPr>
            </a:lvl4pPr>
            <a:lvl5pPr algn="l">
              <a:defRPr sz="1650" b="1" i="0">
                <a:solidFill>
                  <a:srgbClr val="073E35"/>
                </a:solidFill>
                <a:latin typeface="Avenir Next"/>
                <a:ea typeface="Avenir Next"/>
                <a:cs typeface="Avenir Next"/>
              </a:defRPr>
            </a:lvl5pPr>
            <a:lvl6pPr algn="l">
              <a:defRPr sz="1650" b="1" i="0">
                <a:solidFill>
                  <a:srgbClr val="073E35"/>
                </a:solidFill>
                <a:latin typeface="Avenir Next"/>
                <a:ea typeface="Avenir Next"/>
                <a:cs typeface="Avenir Next"/>
              </a:defRPr>
            </a:lvl6pPr>
            <a:lvl7pPr algn="l">
              <a:defRPr sz="1650" b="1" i="0">
                <a:solidFill>
                  <a:srgbClr val="073E35"/>
                </a:solidFill>
                <a:latin typeface="Avenir Next"/>
                <a:ea typeface="Avenir Next"/>
                <a:cs typeface="Avenir Next"/>
              </a:defRPr>
            </a:lvl7pPr>
            <a:lvl8pPr algn="l">
              <a:defRPr sz="1650" b="1" i="0">
                <a:solidFill>
                  <a:srgbClr val="073E35"/>
                </a:solidFill>
                <a:latin typeface="Avenir Next"/>
                <a:ea typeface="Avenir Next"/>
                <a:cs typeface="Avenir Next"/>
              </a:defRPr>
            </a:lvl8pPr>
            <a:lvl9pPr algn="l">
              <a:defRPr sz="1650" b="1" i="0">
                <a:solidFill>
                  <a:srgbClr val="073E35"/>
                </a:solidFill>
                <a:latin typeface="Avenir Next"/>
                <a:ea typeface="Avenir Next"/>
                <a:cs typeface="Avenir Next"/>
              </a:defRPr>
            </a:lvl9pPr>
          </a:lstStyle>
          <a:p xmlns:a="http://schemas.openxmlformats.org/drawingml/2006/main">
            <a:pPr algn="l">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Program facts stay locked</a:t>
            </a:r>
          </a:p>
        </p:txBody>
      </p:sp>
      <p:sp>
        <p:nvSpPr>
          <p:cNvPr id="24" name="">
            <a:extLst xmlns:a="http://schemas.openxmlformats.org/drawingml/2006/main">
              <a:ext uri="{FF2B5EF4-FFF2-40B4-BE49-F238E27FC236}">
                <a16:creationId xmlns:a16="http://schemas.microsoft.com/office/drawing/2014/main" id="{D42C5530-E676-425C-B343-C7F16BB25CC4}"/>
              </a:ext>
            </a:extLst>
          </p:cNvPr>
          <p:cNvSpPr>
            <a:spLocks xmlns:a="http://schemas.openxmlformats.org/drawingml/2006/main" noGrp="1"/>
          </p:cNvSpPr>
          <p:nvPr/>
        </p:nvSpPr>
        <p:spPr>
          <a:xfrm xmlns:a="http://schemas.openxmlformats.org/drawingml/2006/main">
            <a:off x="6191250" y="5410200"/>
            <a:ext cx="4857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60716D"/>
                </a:solidFill>
                <a:latin typeface="Avenir Next"/>
                <a:ea typeface="Avenir Next"/>
                <a:cs typeface="Avenir Next"/>
              </a:defRPr>
            </a:defPPr>
            <a:lvl1pPr algn="l">
              <a:defRPr sz="1200" b="0" i="0">
                <a:solidFill>
                  <a:srgbClr val="60716D"/>
                </a:solidFill>
                <a:latin typeface="Avenir Next"/>
                <a:ea typeface="Avenir Next"/>
                <a:cs typeface="Avenir Next"/>
              </a:defRPr>
            </a:lvl1pPr>
            <a:lvl2pPr algn="l">
              <a:defRPr sz="1200" b="0" i="0">
                <a:solidFill>
                  <a:srgbClr val="60716D"/>
                </a:solidFill>
                <a:latin typeface="Avenir Next"/>
                <a:ea typeface="Avenir Next"/>
                <a:cs typeface="Avenir Next"/>
              </a:defRPr>
            </a:lvl2pPr>
            <a:lvl3pPr algn="l">
              <a:defRPr sz="1200" b="0" i="0">
                <a:solidFill>
                  <a:srgbClr val="60716D"/>
                </a:solidFill>
                <a:latin typeface="Avenir Next"/>
                <a:ea typeface="Avenir Next"/>
                <a:cs typeface="Avenir Next"/>
              </a:defRPr>
            </a:lvl3pPr>
            <a:lvl4pPr algn="l">
              <a:defRPr sz="1200" b="0" i="0">
                <a:solidFill>
                  <a:srgbClr val="60716D"/>
                </a:solidFill>
                <a:latin typeface="Avenir Next"/>
                <a:ea typeface="Avenir Next"/>
                <a:cs typeface="Avenir Next"/>
              </a:defRPr>
            </a:lvl4pPr>
            <a:lvl5pPr algn="l">
              <a:defRPr sz="1200" b="0" i="0">
                <a:solidFill>
                  <a:srgbClr val="60716D"/>
                </a:solidFill>
                <a:latin typeface="Avenir Next"/>
                <a:ea typeface="Avenir Next"/>
                <a:cs typeface="Avenir Next"/>
              </a:defRPr>
            </a:lvl5pPr>
            <a:lvl6pPr algn="l">
              <a:defRPr sz="1200" b="0" i="0">
                <a:solidFill>
                  <a:srgbClr val="60716D"/>
                </a:solidFill>
                <a:latin typeface="Avenir Next"/>
                <a:ea typeface="Avenir Next"/>
                <a:cs typeface="Avenir Next"/>
              </a:defRPr>
            </a:lvl6pPr>
            <a:lvl7pPr algn="l">
              <a:defRPr sz="1200" b="0" i="0">
                <a:solidFill>
                  <a:srgbClr val="60716D"/>
                </a:solidFill>
                <a:latin typeface="Avenir Next"/>
                <a:ea typeface="Avenir Next"/>
                <a:cs typeface="Avenir Next"/>
              </a:defRPr>
            </a:lvl7pPr>
            <a:lvl8pPr algn="l">
              <a:defRPr sz="1200" b="0" i="0">
                <a:solidFill>
                  <a:srgbClr val="60716D"/>
                </a:solidFill>
                <a:latin typeface="Avenir Next"/>
                <a:ea typeface="Avenir Next"/>
                <a:cs typeface="Avenir Next"/>
              </a:defRPr>
            </a:lvl8pPr>
            <a:lvl9pPr algn="l">
              <a:defRPr sz="1200" b="0" i="0">
                <a:solidFill>
                  <a:srgbClr val="60716D"/>
                </a:solidFill>
                <a:latin typeface="Avenir Next"/>
                <a:ea typeface="Avenir Next"/>
                <a:cs typeface="Avenir Next"/>
              </a:defRPr>
            </a:lvl9pPr>
          </a:lstStyle>
          <a:p xmlns:a="http://schemas.openxmlformats.org/drawingml/2006/main">
            <a:pPr algn="l">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Names, amounts, rules, URLs, and freshness dates come from the local index. Unknown resident details are never treated as disqualifying facts.</a:t>
            </a:r>
          </a:p>
        </p:txBody>
      </p:sp>
    </p:spTree>
    <p:extLst>
      <p:ext uri="{BB962C8B-B14F-4D97-AF65-F5344CB8AC3E}">
        <p14:creationId xmlns:p14="http://schemas.microsoft.com/office/powerpoint/2010/main" val="1209639179"/>
      </p:ext>
    </p:extLst>
  </p:cSld>
</p:sld>
</file>

<file path=ppt/slides/slide8.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9727DC3-35F5-4AA6-A7C4-DA3C325D957F}"/>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1D31E31D-01EC-4F20-8F10-7FEFAFDB53F9}"/>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ED1CC8DE-B04F-4A74-8A29-19FE95ED1101}"/>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08</a:t>
            </a:r>
          </a:p>
        </p:txBody>
      </p:sp>
      <p:sp>
        <p:nvSpPr>
          <p:cNvPr id="4" name="">
            <a:extLst xmlns:a="http://schemas.openxmlformats.org/drawingml/2006/main">
              <a:ext uri="{FF2B5EF4-FFF2-40B4-BE49-F238E27FC236}">
                <a16:creationId xmlns:a16="http://schemas.microsoft.com/office/drawing/2014/main" id="{9EACD343-DEC0-4EC6-BCB3-A37C8FB0C799}"/>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A practical architecture built for reliability</a:t>
            </a:r>
          </a:p>
        </p:txBody>
      </p:sp>
      <p:sp>
        <p:nvSpPr>
          <p:cNvPr id="5" name="">
            <a:extLst xmlns:a="http://schemas.openxmlformats.org/drawingml/2006/main">
              <a:ext uri="{FF2B5EF4-FFF2-40B4-BE49-F238E27FC236}">
                <a16:creationId xmlns:a16="http://schemas.microsoft.com/office/drawing/2014/main" id="{B7BCBAC9-248F-48DC-B06E-76EF6A1D733B}"/>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normal discovery path still works when AI or live search is unavailable.</a:t>
            </a:r>
          </a:p>
        </p:txBody>
      </p:sp>
      <p:sp>
        <p:nvSpPr>
          <p:cNvPr id="6" name="">
            <a:extLst xmlns:a="http://schemas.openxmlformats.org/drawingml/2006/main">
              <a:ext uri="{FF2B5EF4-FFF2-40B4-BE49-F238E27FC236}">
                <a16:creationId xmlns:a16="http://schemas.microsoft.com/office/drawing/2014/main" id="{8FA8D0C6-6FCC-4B21-A88A-29AB20C286D8}"/>
              </a:ext>
            </a:extLst>
          </p:cNvPr>
          <p:cNvSpPr>
            <a:spLocks xmlns:a="http://schemas.openxmlformats.org/drawingml/2006/main" noGrp="1"/>
          </p:cNvSpPr>
          <p:nvPr/>
        </p:nvSpPr>
        <p:spPr>
          <a:xfrm xmlns:a="http://schemas.openxmlformats.org/drawingml/2006/main">
            <a:off x="685800" y="2724150"/>
            <a:ext cx="190500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7" name="">
            <a:extLst xmlns:a="http://schemas.openxmlformats.org/drawingml/2006/main">
              <a:ext uri="{FF2B5EF4-FFF2-40B4-BE49-F238E27FC236}">
                <a16:creationId xmlns:a16="http://schemas.microsoft.com/office/drawing/2014/main" id="{A9BCECBE-9044-4E10-BCB4-2710DF5928E1}"/>
              </a:ext>
            </a:extLst>
          </p:cNvPr>
          <p:cNvSpPr>
            <a:spLocks xmlns:a="http://schemas.openxmlformats.org/drawingml/2006/main" noGrp="1"/>
          </p:cNvSpPr>
          <p:nvPr/>
        </p:nvSpPr>
        <p:spPr>
          <a:xfrm xmlns:a="http://schemas.openxmlformats.org/drawingml/2006/main">
            <a:off x="857250" y="289560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React PWA</a:t>
            </a:r>
          </a:p>
        </p:txBody>
      </p:sp>
      <p:sp>
        <p:nvSpPr>
          <p:cNvPr id="8" name="">
            <a:extLst xmlns:a="http://schemas.openxmlformats.org/drawingml/2006/main">
              <a:ext uri="{FF2B5EF4-FFF2-40B4-BE49-F238E27FC236}">
                <a16:creationId xmlns:a16="http://schemas.microsoft.com/office/drawing/2014/main" id="{7E3F26D5-A51D-42B2-AA60-30DA48D4D9BC}"/>
              </a:ext>
            </a:extLst>
          </p:cNvPr>
          <p:cNvSpPr>
            <a:spLocks xmlns:a="http://schemas.openxmlformats.org/drawingml/2006/main" noGrp="1"/>
          </p:cNvSpPr>
          <p:nvPr/>
        </p:nvSpPr>
        <p:spPr>
          <a:xfrm xmlns:a="http://schemas.openxmlformats.org/drawingml/2006/main">
            <a:off x="857250" y="3257550"/>
            <a:ext cx="156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Web + mobile</a:t>
            </a:r>
          </a:p>
        </p:txBody>
      </p:sp>
      <p:sp>
        <p:nvSpPr>
          <p:cNvPr id="9" name="">
            <a:extLst xmlns:a="http://schemas.openxmlformats.org/drawingml/2006/main">
              <a:ext uri="{FF2B5EF4-FFF2-40B4-BE49-F238E27FC236}">
                <a16:creationId xmlns:a16="http://schemas.microsoft.com/office/drawing/2014/main" id="{E5D98D69-2A75-47B8-9948-1D2CFEB1AE0B}"/>
              </a:ext>
            </a:extLst>
          </p:cNvPr>
          <p:cNvSpPr>
            <a:spLocks xmlns:a="http://schemas.openxmlformats.org/drawingml/2006/main" noGrp="1"/>
          </p:cNvSpPr>
          <p:nvPr/>
        </p:nvSpPr>
        <p:spPr>
          <a:xfrm xmlns:a="http://schemas.openxmlformats.org/drawingml/2006/main">
            <a:off x="3048000" y="2724150"/>
            <a:ext cx="209550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27BB9AF0-E1F8-4336-A965-F3E589B98D4C}"/>
              </a:ext>
            </a:extLst>
          </p:cNvPr>
          <p:cNvSpPr>
            <a:spLocks xmlns:a="http://schemas.openxmlformats.org/drawingml/2006/main" noGrp="1"/>
          </p:cNvSpPr>
          <p:nvPr/>
        </p:nvSpPr>
        <p:spPr>
          <a:xfrm xmlns:a="http://schemas.openxmlformats.org/drawingml/2006/main">
            <a:off x="3219450" y="28956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Worker APIs</a:t>
            </a:r>
          </a:p>
        </p:txBody>
      </p:sp>
      <p:sp>
        <p:nvSpPr>
          <p:cNvPr id="11" name="">
            <a:extLst xmlns:a="http://schemas.openxmlformats.org/drawingml/2006/main">
              <a:ext uri="{FF2B5EF4-FFF2-40B4-BE49-F238E27FC236}">
                <a16:creationId xmlns:a16="http://schemas.microsoft.com/office/drawing/2014/main" id="{01E3F061-684C-4669-AFBF-5723C7BAD146}"/>
              </a:ext>
            </a:extLst>
          </p:cNvPr>
          <p:cNvSpPr>
            <a:spLocks xmlns:a="http://schemas.openxmlformats.org/drawingml/2006/main" noGrp="1"/>
          </p:cNvSpPr>
          <p:nvPr/>
        </p:nvSpPr>
        <p:spPr>
          <a:xfrm xmlns:a="http://schemas.openxmlformats.org/drawingml/2006/main">
            <a:off x="3219450" y="32575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Intake · discovery · chat</a:t>
            </a:r>
          </a:p>
        </p:txBody>
      </p:sp>
      <p:sp>
        <p:nvSpPr>
          <p:cNvPr id="12" name="">
            <a:extLst xmlns:a="http://schemas.openxmlformats.org/drawingml/2006/main">
              <a:ext uri="{FF2B5EF4-FFF2-40B4-BE49-F238E27FC236}">
                <a16:creationId xmlns:a16="http://schemas.microsoft.com/office/drawing/2014/main" id="{50D07D7A-ED76-4E25-83C6-549C33AE4BA1}"/>
              </a:ext>
            </a:extLst>
          </p:cNvPr>
          <p:cNvSpPr>
            <a:spLocks xmlns:a="http://schemas.openxmlformats.org/drawingml/2006/main" noGrp="1"/>
          </p:cNvSpPr>
          <p:nvPr/>
        </p:nvSpPr>
        <p:spPr>
          <a:xfrm xmlns:a="http://schemas.openxmlformats.org/drawingml/2006/main">
            <a:off x="5619750" y="2209800"/>
            <a:ext cx="2381250" cy="933450"/>
          </a:xfrm>
          <a:prstGeom xmlns:a="http://schemas.openxmlformats.org/drawingml/2006/main" prst="roundRect">
            <a:avLst>
              <a:gd name="adj" fmla="val 12245"/>
            </a:avLst>
          </a:prstGeom>
          <a:solidFill xmlns:a="http://schemas.openxmlformats.org/drawingml/2006/main">
            <a:srgbClr val="0C4B40"/>
          </a:solidFill>
          <a:ln xmlns:a="http://schemas.openxmlformats.org/drawingml/2006/main" w="0">
            <a:solidFill>
              <a:srgbClr val="0C4B40"/>
            </a:solidFill>
            <a:prstDash val="solid"/>
          </a:ln>
        </p:spPr>
      </p:sp>
      <p:sp>
        <p:nvSpPr>
          <p:cNvPr id="13" name="">
            <a:extLst xmlns:a="http://schemas.openxmlformats.org/drawingml/2006/main">
              <a:ext uri="{FF2B5EF4-FFF2-40B4-BE49-F238E27FC236}">
                <a16:creationId xmlns:a16="http://schemas.microsoft.com/office/drawing/2014/main" id="{BCADF9B0-95A3-478F-9BC9-AC009A8AB8C7}"/>
              </a:ext>
            </a:extLst>
          </p:cNvPr>
          <p:cNvSpPr>
            <a:spLocks xmlns:a="http://schemas.openxmlformats.org/drawingml/2006/main" noGrp="1"/>
          </p:cNvSpPr>
          <p:nvPr/>
        </p:nvSpPr>
        <p:spPr>
          <a:xfrm xmlns:a="http://schemas.openxmlformats.org/drawingml/2006/main">
            <a:off x="5791200" y="2381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venir Next"/>
                <a:ea typeface="Avenir Next"/>
                <a:cs typeface="Avenir Next"/>
              </a:defRPr>
            </a:defPPr>
            <a:lvl1pPr algn="ctr">
              <a:defRPr sz="1500" b="1" i="0">
                <a:solidFill>
                  <a:srgbClr val="FFFFFF"/>
                </a:solidFill>
                <a:latin typeface="Avenir Next"/>
                <a:ea typeface="Avenir Next"/>
                <a:cs typeface="Avenir Next"/>
              </a:defRPr>
            </a:lvl1pPr>
            <a:lvl2pPr algn="ctr">
              <a:defRPr sz="1500" b="1" i="0">
                <a:solidFill>
                  <a:srgbClr val="FFFFFF"/>
                </a:solidFill>
                <a:latin typeface="Avenir Next"/>
                <a:ea typeface="Avenir Next"/>
                <a:cs typeface="Avenir Next"/>
              </a:defRPr>
            </a:lvl2pPr>
            <a:lvl3pPr algn="ctr">
              <a:defRPr sz="1500" b="1" i="0">
                <a:solidFill>
                  <a:srgbClr val="FFFFFF"/>
                </a:solidFill>
                <a:latin typeface="Avenir Next"/>
                <a:ea typeface="Avenir Next"/>
                <a:cs typeface="Avenir Next"/>
              </a:defRPr>
            </a:lvl3pPr>
            <a:lvl4pPr algn="ctr">
              <a:defRPr sz="1500" b="1" i="0">
                <a:solidFill>
                  <a:srgbClr val="FFFFFF"/>
                </a:solidFill>
                <a:latin typeface="Avenir Next"/>
                <a:ea typeface="Avenir Next"/>
                <a:cs typeface="Avenir Next"/>
              </a:defRPr>
            </a:lvl4pPr>
            <a:lvl5pPr algn="ctr">
              <a:defRPr sz="1500" b="1" i="0">
                <a:solidFill>
                  <a:srgbClr val="FFFFFF"/>
                </a:solidFill>
                <a:latin typeface="Avenir Next"/>
                <a:ea typeface="Avenir Next"/>
                <a:cs typeface="Avenir Next"/>
              </a:defRPr>
            </a:lvl5pPr>
            <a:lvl6pPr algn="ctr">
              <a:defRPr sz="1500" b="1" i="0">
                <a:solidFill>
                  <a:srgbClr val="FFFFFF"/>
                </a:solidFill>
                <a:latin typeface="Avenir Next"/>
                <a:ea typeface="Avenir Next"/>
                <a:cs typeface="Avenir Next"/>
              </a:defRPr>
            </a:lvl6pPr>
            <a:lvl7pPr algn="ctr">
              <a:defRPr sz="1500" b="1" i="0">
                <a:solidFill>
                  <a:srgbClr val="FFFFFF"/>
                </a:solidFill>
                <a:latin typeface="Avenir Next"/>
                <a:ea typeface="Avenir Next"/>
                <a:cs typeface="Avenir Next"/>
              </a:defRPr>
            </a:lvl7pPr>
            <a:lvl8pPr algn="ctr">
              <a:defRPr sz="1500" b="1" i="0">
                <a:solidFill>
                  <a:srgbClr val="FFFFFF"/>
                </a:solidFill>
                <a:latin typeface="Avenir Next"/>
                <a:ea typeface="Avenir Next"/>
                <a:cs typeface="Avenir Next"/>
              </a:defRPr>
            </a:lvl8pPr>
            <a:lvl9pPr algn="ctr">
              <a:defRPr sz="1500" b="1" i="0">
                <a:solidFill>
                  <a:srgbClr val="FFFFFF"/>
                </a:solidFill>
                <a:latin typeface="Avenir Next"/>
                <a:ea typeface="Avenir Next"/>
                <a:cs typeface="Avenir Next"/>
              </a:defRPr>
            </a:lvl9pPr>
          </a:lstStyle>
          <a:p xmlns:a="http://schemas.openxmlformats.org/drawingml/2006/main">
            <a:pPr algn="ctr">
              <a:defRPr sz="1500" b="1" i="0">
                <a:solidFill>
                  <a:srgbClr val="FFFFFF"/>
                </a:solidFill>
                <a:latin typeface="Avenir Next"/>
                <a:ea typeface="Avenir Next"/>
                <a:cs typeface="Avenir Next"/>
              </a:defRPr>
            </a:pPr>
            <a:r>
              <a:rPr sz="1500" b="1" i="0">
                <a:solidFill>
                  <a:srgbClr val="FFFFFF"/>
                </a:solidFill>
                <a:latin typeface="Avenir Next"/>
                <a:ea typeface="Avenir Next"/>
                <a:cs typeface="Avenir Next"/>
              </a:rPr>
              <a:t>D1 / SQLite</a:t>
            </a:r>
          </a:p>
        </p:txBody>
      </p:sp>
      <p:sp>
        <p:nvSpPr>
          <p:cNvPr id="14" name="">
            <a:extLst xmlns:a="http://schemas.openxmlformats.org/drawingml/2006/main">
              <a:ext uri="{FF2B5EF4-FFF2-40B4-BE49-F238E27FC236}">
                <a16:creationId xmlns:a16="http://schemas.microsoft.com/office/drawing/2014/main" id="{2683E2F0-22F3-48F9-A65F-83691832A128}"/>
              </a:ext>
            </a:extLst>
          </p:cNvPr>
          <p:cNvSpPr>
            <a:spLocks xmlns:a="http://schemas.openxmlformats.org/drawingml/2006/main" noGrp="1"/>
          </p:cNvSpPr>
          <p:nvPr/>
        </p:nvSpPr>
        <p:spPr>
          <a:xfrm xmlns:a="http://schemas.openxmlformats.org/drawingml/2006/main">
            <a:off x="5791200" y="27432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BEDBCF"/>
                </a:solidFill>
                <a:latin typeface="Avenir Next"/>
                <a:ea typeface="Avenir Next"/>
                <a:cs typeface="Avenir Next"/>
              </a:defRPr>
            </a:defPPr>
            <a:lvl1pPr algn="ctr">
              <a:defRPr sz="975" b="0" i="0">
                <a:solidFill>
                  <a:srgbClr val="BEDBCF"/>
                </a:solidFill>
                <a:latin typeface="Avenir Next"/>
                <a:ea typeface="Avenir Next"/>
                <a:cs typeface="Avenir Next"/>
              </a:defRPr>
            </a:lvl1pPr>
            <a:lvl2pPr algn="ctr">
              <a:defRPr sz="975" b="0" i="0">
                <a:solidFill>
                  <a:srgbClr val="BEDBCF"/>
                </a:solidFill>
                <a:latin typeface="Avenir Next"/>
                <a:ea typeface="Avenir Next"/>
                <a:cs typeface="Avenir Next"/>
              </a:defRPr>
            </a:lvl2pPr>
            <a:lvl3pPr algn="ctr">
              <a:defRPr sz="975" b="0" i="0">
                <a:solidFill>
                  <a:srgbClr val="BEDBCF"/>
                </a:solidFill>
                <a:latin typeface="Avenir Next"/>
                <a:ea typeface="Avenir Next"/>
                <a:cs typeface="Avenir Next"/>
              </a:defRPr>
            </a:lvl3pPr>
            <a:lvl4pPr algn="ctr">
              <a:defRPr sz="975" b="0" i="0">
                <a:solidFill>
                  <a:srgbClr val="BEDBCF"/>
                </a:solidFill>
                <a:latin typeface="Avenir Next"/>
                <a:ea typeface="Avenir Next"/>
                <a:cs typeface="Avenir Next"/>
              </a:defRPr>
            </a:lvl4pPr>
            <a:lvl5pPr algn="ctr">
              <a:defRPr sz="975" b="0" i="0">
                <a:solidFill>
                  <a:srgbClr val="BEDBCF"/>
                </a:solidFill>
                <a:latin typeface="Avenir Next"/>
                <a:ea typeface="Avenir Next"/>
                <a:cs typeface="Avenir Next"/>
              </a:defRPr>
            </a:lvl5pPr>
            <a:lvl6pPr algn="ctr">
              <a:defRPr sz="975" b="0" i="0">
                <a:solidFill>
                  <a:srgbClr val="BEDBCF"/>
                </a:solidFill>
                <a:latin typeface="Avenir Next"/>
                <a:ea typeface="Avenir Next"/>
                <a:cs typeface="Avenir Next"/>
              </a:defRPr>
            </a:lvl6pPr>
            <a:lvl7pPr algn="ctr">
              <a:defRPr sz="975" b="0" i="0">
                <a:solidFill>
                  <a:srgbClr val="BEDBCF"/>
                </a:solidFill>
                <a:latin typeface="Avenir Next"/>
                <a:ea typeface="Avenir Next"/>
                <a:cs typeface="Avenir Next"/>
              </a:defRPr>
            </a:lvl7pPr>
            <a:lvl8pPr algn="ctr">
              <a:defRPr sz="975" b="0" i="0">
                <a:solidFill>
                  <a:srgbClr val="BEDBCF"/>
                </a:solidFill>
                <a:latin typeface="Avenir Next"/>
                <a:ea typeface="Avenir Next"/>
                <a:cs typeface="Avenir Next"/>
              </a:defRPr>
            </a:lvl8pPr>
            <a:lvl9pPr algn="ctr">
              <a:defRPr sz="975" b="0" i="0">
                <a:solidFill>
                  <a:srgbClr val="BEDBCF"/>
                </a:solidFill>
                <a:latin typeface="Avenir Next"/>
                <a:ea typeface="Avenir Next"/>
                <a:cs typeface="Avenir Next"/>
              </a:defRPr>
            </a:lvl9pPr>
          </a:lstStyle>
          <a:p xmlns:a="http://schemas.openxmlformats.org/drawingml/2006/main">
            <a:pPr algn="ctr">
              <a:defRPr sz="975" b="0" i="0">
                <a:solidFill>
                  <a:srgbClr val="BEDBCF"/>
                </a:solidFill>
                <a:latin typeface="Avenir Next"/>
                <a:ea typeface="Avenir Next"/>
                <a:cs typeface="Avenir Next"/>
              </a:defRPr>
            </a:pPr>
            <a:r>
              <a:rPr sz="975" b="0" i="0">
                <a:solidFill>
                  <a:srgbClr val="BEDBCF"/>
                </a:solidFill>
                <a:latin typeface="Avenir Next"/>
                <a:ea typeface="Avenir Next"/>
                <a:cs typeface="Avenir Next"/>
              </a:rPr>
              <a:t>62 records · 52 serve Sunnyvale</a:t>
            </a:r>
          </a:p>
        </p:txBody>
      </p:sp>
      <p:sp>
        <p:nvSpPr>
          <p:cNvPr id="15" name="">
            <a:extLst xmlns:a="http://schemas.openxmlformats.org/drawingml/2006/main">
              <a:ext uri="{FF2B5EF4-FFF2-40B4-BE49-F238E27FC236}">
                <a16:creationId xmlns:a16="http://schemas.microsoft.com/office/drawing/2014/main" id="{85BF5475-1A9C-4D22-9DDB-559CEDB441A9}"/>
              </a:ext>
            </a:extLst>
          </p:cNvPr>
          <p:cNvSpPr>
            <a:spLocks xmlns:a="http://schemas.openxmlformats.org/drawingml/2006/main" noGrp="1"/>
          </p:cNvSpPr>
          <p:nvPr/>
        </p:nvSpPr>
        <p:spPr>
          <a:xfrm xmlns:a="http://schemas.openxmlformats.org/drawingml/2006/main">
            <a:off x="5619750" y="3733800"/>
            <a:ext cx="238125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16" name="">
            <a:extLst xmlns:a="http://schemas.openxmlformats.org/drawingml/2006/main">
              <a:ext uri="{FF2B5EF4-FFF2-40B4-BE49-F238E27FC236}">
                <a16:creationId xmlns:a16="http://schemas.microsoft.com/office/drawing/2014/main" id="{4C3C8B6D-BD0B-4CBD-A900-258A37494733}"/>
              </a:ext>
            </a:extLst>
          </p:cNvPr>
          <p:cNvSpPr>
            <a:spLocks xmlns:a="http://schemas.openxmlformats.org/drawingml/2006/main" noGrp="1"/>
          </p:cNvSpPr>
          <p:nvPr/>
        </p:nvSpPr>
        <p:spPr>
          <a:xfrm xmlns:a="http://schemas.openxmlformats.org/drawingml/2006/main">
            <a:off x="5791200" y="384810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73E35"/>
                </a:solidFill>
                <a:latin typeface="Avenir Next"/>
                <a:ea typeface="Avenir Next"/>
                <a:cs typeface="Avenir Next"/>
              </a:defRPr>
            </a:defPPr>
            <a:lvl1pPr algn="ctr">
              <a:defRPr sz="1350" b="1" i="0">
                <a:solidFill>
                  <a:srgbClr val="073E35"/>
                </a:solidFill>
                <a:latin typeface="Avenir Next"/>
                <a:ea typeface="Avenir Next"/>
                <a:cs typeface="Avenir Next"/>
              </a:defRPr>
            </a:lvl1pPr>
            <a:lvl2pPr algn="ctr">
              <a:defRPr sz="1350" b="1" i="0">
                <a:solidFill>
                  <a:srgbClr val="073E35"/>
                </a:solidFill>
                <a:latin typeface="Avenir Next"/>
                <a:ea typeface="Avenir Next"/>
                <a:cs typeface="Avenir Next"/>
              </a:defRPr>
            </a:lvl2pPr>
            <a:lvl3pPr algn="ctr">
              <a:defRPr sz="1350" b="1" i="0">
                <a:solidFill>
                  <a:srgbClr val="073E35"/>
                </a:solidFill>
                <a:latin typeface="Avenir Next"/>
                <a:ea typeface="Avenir Next"/>
                <a:cs typeface="Avenir Next"/>
              </a:defRPr>
            </a:lvl3pPr>
            <a:lvl4pPr algn="ctr">
              <a:defRPr sz="1350" b="1" i="0">
                <a:solidFill>
                  <a:srgbClr val="073E35"/>
                </a:solidFill>
                <a:latin typeface="Avenir Next"/>
                <a:ea typeface="Avenir Next"/>
                <a:cs typeface="Avenir Next"/>
              </a:defRPr>
            </a:lvl4pPr>
            <a:lvl5pPr algn="ctr">
              <a:defRPr sz="1350" b="1" i="0">
                <a:solidFill>
                  <a:srgbClr val="073E35"/>
                </a:solidFill>
                <a:latin typeface="Avenir Next"/>
                <a:ea typeface="Avenir Next"/>
                <a:cs typeface="Avenir Next"/>
              </a:defRPr>
            </a:lvl5pPr>
            <a:lvl6pPr algn="ctr">
              <a:defRPr sz="1350" b="1" i="0">
                <a:solidFill>
                  <a:srgbClr val="073E35"/>
                </a:solidFill>
                <a:latin typeface="Avenir Next"/>
                <a:ea typeface="Avenir Next"/>
                <a:cs typeface="Avenir Next"/>
              </a:defRPr>
            </a:lvl6pPr>
            <a:lvl7pPr algn="ctr">
              <a:defRPr sz="1350" b="1" i="0">
                <a:solidFill>
                  <a:srgbClr val="073E35"/>
                </a:solidFill>
                <a:latin typeface="Avenir Next"/>
                <a:ea typeface="Avenir Next"/>
                <a:cs typeface="Avenir Next"/>
              </a:defRPr>
            </a:lvl7pPr>
            <a:lvl8pPr algn="ctr">
              <a:defRPr sz="1350" b="1" i="0">
                <a:solidFill>
                  <a:srgbClr val="073E35"/>
                </a:solidFill>
                <a:latin typeface="Avenir Next"/>
                <a:ea typeface="Avenir Next"/>
                <a:cs typeface="Avenir Next"/>
              </a:defRPr>
            </a:lvl8pPr>
            <a:lvl9pPr algn="ctr">
              <a:defRPr sz="1350" b="1" i="0">
                <a:solidFill>
                  <a:srgbClr val="073E35"/>
                </a:solidFill>
                <a:latin typeface="Avenir Next"/>
                <a:ea typeface="Avenir Next"/>
                <a:cs typeface="Avenir Next"/>
              </a:defRPr>
            </a:lvl9pPr>
          </a:lstStyle>
          <a:p xmlns:a="http://schemas.openxmlformats.org/drawingml/2006/main">
            <a:pPr algn="ctr">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Deterministic matcher</a:t>
            </a:r>
          </a:p>
        </p:txBody>
      </p:sp>
      <p:sp>
        <p:nvSpPr>
          <p:cNvPr id="17" name="">
            <a:extLst xmlns:a="http://schemas.openxmlformats.org/drawingml/2006/main">
              <a:ext uri="{FF2B5EF4-FFF2-40B4-BE49-F238E27FC236}">
                <a16:creationId xmlns:a16="http://schemas.microsoft.com/office/drawing/2014/main" id="{753C0ECE-34BF-493B-A5E9-42649BD44CB8}"/>
              </a:ext>
            </a:extLst>
          </p:cNvPr>
          <p:cNvSpPr>
            <a:spLocks xmlns:a="http://schemas.openxmlformats.org/drawingml/2006/main" noGrp="1"/>
          </p:cNvSpPr>
          <p:nvPr/>
        </p:nvSpPr>
        <p:spPr>
          <a:xfrm xmlns:a="http://schemas.openxmlformats.org/drawingml/2006/main">
            <a:off x="5791200" y="43434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Rules + 128-D similarity</a:t>
            </a:r>
          </a:p>
        </p:txBody>
      </p:sp>
      <p:sp>
        <p:nvSpPr>
          <p:cNvPr id="18" name="">
            <a:extLst xmlns:a="http://schemas.openxmlformats.org/drawingml/2006/main">
              <a:ext uri="{FF2B5EF4-FFF2-40B4-BE49-F238E27FC236}">
                <a16:creationId xmlns:a16="http://schemas.microsoft.com/office/drawing/2014/main" id="{10518234-24C5-4BDD-8FAB-A971FD3044F0}"/>
              </a:ext>
            </a:extLst>
          </p:cNvPr>
          <p:cNvSpPr>
            <a:spLocks xmlns:a="http://schemas.openxmlformats.org/drawingml/2006/main" noGrp="1"/>
          </p:cNvSpPr>
          <p:nvPr/>
        </p:nvSpPr>
        <p:spPr>
          <a:xfrm xmlns:a="http://schemas.openxmlformats.org/drawingml/2006/main">
            <a:off x="8477250" y="2209800"/>
            <a:ext cx="2381250" cy="933450"/>
          </a:xfrm>
          <a:prstGeom xmlns:a="http://schemas.openxmlformats.org/drawingml/2006/main" prst="roundRect">
            <a:avLst>
              <a:gd name="adj" fmla="val 12245"/>
            </a:avLst>
          </a:prstGeom>
          <a:solidFill xmlns:a="http://schemas.openxmlformats.org/drawingml/2006/main">
            <a:srgbClr val="FF6B4A"/>
          </a:solidFill>
          <a:ln xmlns:a="http://schemas.openxmlformats.org/drawingml/2006/main" w="0">
            <a:solidFill>
              <a:srgbClr val="FF6B4A"/>
            </a:solidFill>
            <a:prstDash val="solid"/>
          </a:ln>
        </p:spPr>
      </p:sp>
      <p:sp>
        <p:nvSpPr>
          <p:cNvPr id="19" name="">
            <a:extLst xmlns:a="http://schemas.openxmlformats.org/drawingml/2006/main">
              <a:ext uri="{FF2B5EF4-FFF2-40B4-BE49-F238E27FC236}">
                <a16:creationId xmlns:a16="http://schemas.microsoft.com/office/drawing/2014/main" id="{973EEB9C-21FF-4083-876A-DFDC2F2B3AF0}"/>
              </a:ext>
            </a:extLst>
          </p:cNvPr>
          <p:cNvSpPr>
            <a:spLocks xmlns:a="http://schemas.openxmlformats.org/drawingml/2006/main" noGrp="1"/>
          </p:cNvSpPr>
          <p:nvPr/>
        </p:nvSpPr>
        <p:spPr>
          <a:xfrm xmlns:a="http://schemas.openxmlformats.org/drawingml/2006/main">
            <a:off x="8648700" y="2381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OpenAI</a:t>
            </a:r>
          </a:p>
        </p:txBody>
      </p:sp>
      <p:sp>
        <p:nvSpPr>
          <p:cNvPr id="20" name="">
            <a:extLst xmlns:a="http://schemas.openxmlformats.org/drawingml/2006/main">
              <a:ext uri="{FF2B5EF4-FFF2-40B4-BE49-F238E27FC236}">
                <a16:creationId xmlns:a16="http://schemas.microsoft.com/office/drawing/2014/main" id="{B43A5EF2-4B1E-4DEB-863C-103EFD07AF61}"/>
              </a:ext>
            </a:extLst>
          </p:cNvPr>
          <p:cNvSpPr>
            <a:spLocks xmlns:a="http://schemas.openxmlformats.org/drawingml/2006/main" noGrp="1"/>
          </p:cNvSpPr>
          <p:nvPr/>
        </p:nvSpPr>
        <p:spPr>
          <a:xfrm xmlns:a="http://schemas.openxmlformats.org/drawingml/2006/main">
            <a:off x="8648700" y="27432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Understand · rank · explain</a:t>
            </a:r>
          </a:p>
        </p:txBody>
      </p:sp>
      <p:sp>
        <p:nvSpPr>
          <p:cNvPr id="21" name="">
            <a:extLst xmlns:a="http://schemas.openxmlformats.org/drawingml/2006/main">
              <a:ext uri="{FF2B5EF4-FFF2-40B4-BE49-F238E27FC236}">
                <a16:creationId xmlns:a16="http://schemas.microsoft.com/office/drawing/2014/main" id="{7F2CA286-125E-4256-A0EC-801A150E2B4A}"/>
              </a:ext>
            </a:extLst>
          </p:cNvPr>
          <p:cNvSpPr>
            <a:spLocks xmlns:a="http://schemas.openxmlformats.org/drawingml/2006/main" noGrp="1"/>
          </p:cNvSpPr>
          <p:nvPr/>
        </p:nvSpPr>
        <p:spPr>
          <a:xfrm xmlns:a="http://schemas.openxmlformats.org/drawingml/2006/main">
            <a:off x="8477250" y="3733800"/>
            <a:ext cx="238125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22" name="">
            <a:extLst xmlns:a="http://schemas.openxmlformats.org/drawingml/2006/main">
              <a:ext uri="{FF2B5EF4-FFF2-40B4-BE49-F238E27FC236}">
                <a16:creationId xmlns:a16="http://schemas.microsoft.com/office/drawing/2014/main" id="{E7A3182F-BE4E-4733-A01A-751D37DDFA57}"/>
              </a:ext>
            </a:extLst>
          </p:cNvPr>
          <p:cNvSpPr>
            <a:spLocks xmlns:a="http://schemas.openxmlformats.org/drawingml/2006/main" noGrp="1"/>
          </p:cNvSpPr>
          <p:nvPr/>
        </p:nvSpPr>
        <p:spPr>
          <a:xfrm xmlns:a="http://schemas.openxmlformats.org/drawingml/2006/main">
            <a:off x="8648700" y="3905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Official web search</a:t>
            </a:r>
          </a:p>
        </p:txBody>
      </p:sp>
      <p:sp>
        <p:nvSpPr>
          <p:cNvPr id="23" name="">
            <a:extLst xmlns:a="http://schemas.openxmlformats.org/drawingml/2006/main">
              <a:ext uri="{FF2B5EF4-FFF2-40B4-BE49-F238E27FC236}">
                <a16:creationId xmlns:a16="http://schemas.microsoft.com/office/drawing/2014/main" id="{1B0DE4BE-44C0-4797-AC2A-F99EE4382EEB}"/>
              </a:ext>
            </a:extLst>
          </p:cNvPr>
          <p:cNvSpPr>
            <a:spLocks xmlns:a="http://schemas.openxmlformats.org/drawingml/2006/main" noGrp="1"/>
          </p:cNvSpPr>
          <p:nvPr/>
        </p:nvSpPr>
        <p:spPr>
          <a:xfrm xmlns:a="http://schemas.openxmlformats.org/drawingml/2006/main">
            <a:off x="8648700" y="42672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Current program answers</a:t>
            </a:r>
          </a:p>
        </p:txBody>
      </p:sp>
      <p:sp>
        <p:nvSpPr>
          <p:cNvPr id="24" name="">
            <a:extLst xmlns:a="http://schemas.openxmlformats.org/drawingml/2006/main">
              <a:ext uri="{FF2B5EF4-FFF2-40B4-BE49-F238E27FC236}">
                <a16:creationId xmlns:a16="http://schemas.microsoft.com/office/drawing/2014/main" id="{FC893DA8-CE7F-4FE9-B7D1-74DF8D8E6DA6}"/>
              </a:ext>
            </a:extLst>
          </p:cNvPr>
          <p:cNvSpPr>
            <a:spLocks xmlns:a="http://schemas.openxmlformats.org/drawingml/2006/main" noGrp="1"/>
          </p:cNvSpPr>
          <p:nvPr/>
        </p:nvSpPr>
        <p:spPr>
          <a:xfrm xmlns:a="http://schemas.openxmlformats.org/drawingml/2006/main">
            <a:off x="3048000" y="5238750"/>
            <a:ext cx="2095500" cy="781050"/>
          </a:xfrm>
          <a:prstGeom xmlns:a="http://schemas.openxmlformats.org/drawingml/2006/main" prst="roundRect">
            <a:avLst>
              <a:gd name="adj" fmla="val 14634"/>
            </a:avLst>
          </a:prstGeom>
          <a:solidFill xmlns:a="http://schemas.openxmlformats.org/drawingml/2006/main">
            <a:srgbClr val="FFFDFC"/>
          </a:solidFill>
          <a:ln xmlns:a="http://schemas.openxmlformats.org/drawingml/2006/main" w="9525">
            <a:solidFill>
              <a:srgbClr val="BEDBCF"/>
            </a:solidFill>
            <a:prstDash val="solid"/>
          </a:ln>
        </p:spPr>
      </p:sp>
      <p:sp>
        <p:nvSpPr>
          <p:cNvPr id="25" name="">
            <a:extLst xmlns:a="http://schemas.openxmlformats.org/drawingml/2006/main">
              <a:ext uri="{FF2B5EF4-FFF2-40B4-BE49-F238E27FC236}">
                <a16:creationId xmlns:a16="http://schemas.microsoft.com/office/drawing/2014/main" id="{5CE641BF-1209-499F-8E6D-6CBC111FB8AB}"/>
              </a:ext>
            </a:extLst>
          </p:cNvPr>
          <p:cNvSpPr>
            <a:spLocks xmlns:a="http://schemas.openxmlformats.org/drawingml/2006/main" noGrp="1"/>
          </p:cNvSpPr>
          <p:nvPr/>
        </p:nvSpPr>
        <p:spPr>
          <a:xfrm xmlns:a="http://schemas.openxmlformats.org/drawingml/2006/main">
            <a:off x="3219450" y="54102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Chrome / Edge</a:t>
            </a:r>
          </a:p>
        </p:txBody>
      </p:sp>
      <p:sp>
        <p:nvSpPr>
          <p:cNvPr id="26" name="">
            <a:extLst xmlns:a="http://schemas.openxmlformats.org/drawingml/2006/main">
              <a:ext uri="{FF2B5EF4-FFF2-40B4-BE49-F238E27FC236}">
                <a16:creationId xmlns:a16="http://schemas.microsoft.com/office/drawing/2014/main" id="{08A9B0E9-1C1C-4B51-BE9B-51A57D335E2F}"/>
              </a:ext>
            </a:extLst>
          </p:cNvPr>
          <p:cNvSpPr>
            <a:spLocks xmlns:a="http://schemas.openxmlformats.org/drawingml/2006/main" noGrp="1"/>
          </p:cNvSpPr>
          <p:nvPr/>
        </p:nvSpPr>
        <p:spPr>
          <a:xfrm xmlns:a="http://schemas.openxmlformats.org/drawingml/2006/main">
            <a:off x="3219450" y="57721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Guide beside official form</a:t>
            </a:r>
          </a:p>
        </p:txBody>
      </p:sp>
      <p:sp>
        <p:nvSpPr>
          <p:cNvPr id="27" name="">
            <a:extLst xmlns:a="http://schemas.openxmlformats.org/drawingml/2006/main">
              <a:ext uri="{FF2B5EF4-FFF2-40B4-BE49-F238E27FC236}">
                <a16:creationId xmlns:a16="http://schemas.microsoft.com/office/drawing/2014/main" id="{0EE69C64-C288-4002-AF29-B012D8B2758C}"/>
              </a:ext>
            </a:extLst>
          </p:cNvPr>
          <p:cNvSpPr>
            <a:spLocks xmlns:a="http://schemas.openxmlformats.org/drawingml/2006/main" noGrp="1"/>
          </p:cNvSpPr>
          <p:nvPr/>
        </p:nvSpPr>
        <p:spPr>
          <a:xfrm xmlns:a="http://schemas.openxmlformats.org/drawingml/2006/main">
            <a:off x="2590800" y="3162300"/>
            <a:ext cx="45720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000A4EE-9C05-42F5-B6A4-D149E0361A41}"/>
              </a:ext>
            </a:extLst>
          </p:cNvPr>
          <p:cNvSpPr>
            <a:spLocks xmlns:a="http://schemas.openxmlformats.org/drawingml/2006/main" noGrp="1"/>
          </p:cNvSpPr>
          <p:nvPr/>
        </p:nvSpPr>
        <p:spPr>
          <a:xfrm xmlns:a="http://schemas.openxmlformats.org/drawingml/2006/main">
            <a:off x="5143500" y="316230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A55DE68-2931-42C3-ADFC-FE943D7C52F5}"/>
              </a:ext>
            </a:extLst>
          </p:cNvPr>
          <p:cNvSpPr>
            <a:spLocks xmlns:a="http://schemas.openxmlformats.org/drawingml/2006/main" noGrp="1"/>
          </p:cNvSpPr>
          <p:nvPr/>
        </p:nvSpPr>
        <p:spPr>
          <a:xfrm xmlns:a="http://schemas.openxmlformats.org/drawingml/2006/main">
            <a:off x="5143500" y="4171950"/>
            <a:ext cx="4762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0AAA77D-4F51-40A9-B419-D11E84F8A002}"/>
              </a:ext>
            </a:extLst>
          </p:cNvPr>
          <p:cNvSpPr>
            <a:spLocks xmlns:a="http://schemas.openxmlformats.org/drawingml/2006/main" noGrp="1"/>
          </p:cNvSpPr>
          <p:nvPr/>
        </p:nvSpPr>
        <p:spPr>
          <a:xfrm xmlns:a="http://schemas.openxmlformats.org/drawingml/2006/main">
            <a:off x="8001000" y="26479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DAACBB3-BED8-44E9-A528-F3BEA41C888A}"/>
              </a:ext>
            </a:extLst>
          </p:cNvPr>
          <p:cNvSpPr>
            <a:spLocks xmlns:a="http://schemas.openxmlformats.org/drawingml/2006/main" noGrp="1"/>
          </p:cNvSpPr>
          <p:nvPr/>
        </p:nvSpPr>
        <p:spPr>
          <a:xfrm xmlns:a="http://schemas.openxmlformats.org/drawingml/2006/main">
            <a:off x="8001000" y="4171950"/>
            <a:ext cx="4762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A1595D0-3F69-4B2B-9710-70CE0F3DF042}"/>
              </a:ext>
            </a:extLst>
          </p:cNvPr>
          <p:cNvSpPr>
            <a:spLocks xmlns:a="http://schemas.openxmlformats.org/drawingml/2006/main" noGrp="1"/>
          </p:cNvSpPr>
          <p:nvPr/>
        </p:nvSpPr>
        <p:spPr>
          <a:xfrm xmlns:a="http://schemas.openxmlformats.org/drawingml/2006/main">
            <a:off x="4076700" y="3657600"/>
            <a:ext cx="38100" cy="158115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54FC092-3E35-4B1B-8F0D-F61AD066DA87}"/>
              </a:ext>
            </a:extLst>
          </p:cNvPr>
          <p:cNvSpPr>
            <a:spLocks xmlns:a="http://schemas.openxmlformats.org/drawingml/2006/main" noGrp="1"/>
          </p:cNvSpPr>
          <p:nvPr/>
        </p:nvSpPr>
        <p:spPr>
          <a:xfrm xmlns:a="http://schemas.openxmlformats.org/drawingml/2006/main">
            <a:off x="8191500" y="5219700"/>
            <a:ext cx="3143250" cy="476250"/>
          </a:xfrm>
          <a:prstGeom xmlns:a="http://schemas.openxmlformats.org/drawingml/2006/main" prst="roundRect">
            <a:avLst>
              <a:gd name="adj" fmla="val 24000"/>
            </a:avLst>
          </a:prstGeom>
          <a:solidFill xmlns:a="http://schemas.openxmlformats.org/drawingml/2006/main">
            <a:srgbClr val="0C4B4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A02B431-17CB-431D-B307-299BC806FFE6}"/>
              </a:ext>
            </a:extLst>
          </p:cNvPr>
          <p:cNvSpPr>
            <a:spLocks xmlns:a="http://schemas.openxmlformats.org/drawingml/2006/main" noGrp="1"/>
          </p:cNvSpPr>
          <p:nvPr/>
        </p:nvSpPr>
        <p:spPr>
          <a:xfrm xmlns:a="http://schemas.openxmlformats.org/drawingml/2006/main">
            <a:off x="8334375" y="53721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venir Next"/>
                <a:ea typeface="Avenir Next"/>
                <a:cs typeface="Avenir Next"/>
              </a:defRPr>
            </a:defPPr>
            <a:lvl1pPr algn="ctr">
              <a:defRPr sz="900" b="1" i="0">
                <a:solidFill>
                  <a:srgbClr val="FFFFFF"/>
                </a:solidFill>
                <a:latin typeface="Avenir Next"/>
                <a:ea typeface="Avenir Next"/>
                <a:cs typeface="Avenir Next"/>
              </a:defRPr>
            </a:lvl1pPr>
            <a:lvl2pPr algn="ctr">
              <a:defRPr sz="900" b="1" i="0">
                <a:solidFill>
                  <a:srgbClr val="FFFFFF"/>
                </a:solidFill>
                <a:latin typeface="Avenir Next"/>
                <a:ea typeface="Avenir Next"/>
                <a:cs typeface="Avenir Next"/>
              </a:defRPr>
            </a:lvl2pPr>
            <a:lvl3pPr algn="ctr">
              <a:defRPr sz="900" b="1" i="0">
                <a:solidFill>
                  <a:srgbClr val="FFFFFF"/>
                </a:solidFill>
                <a:latin typeface="Avenir Next"/>
                <a:ea typeface="Avenir Next"/>
                <a:cs typeface="Avenir Next"/>
              </a:defRPr>
            </a:lvl3pPr>
            <a:lvl4pPr algn="ctr">
              <a:defRPr sz="900" b="1" i="0">
                <a:solidFill>
                  <a:srgbClr val="FFFFFF"/>
                </a:solidFill>
                <a:latin typeface="Avenir Next"/>
                <a:ea typeface="Avenir Next"/>
                <a:cs typeface="Avenir Next"/>
              </a:defRPr>
            </a:lvl4pPr>
            <a:lvl5pPr algn="ctr">
              <a:defRPr sz="900" b="1" i="0">
                <a:solidFill>
                  <a:srgbClr val="FFFFFF"/>
                </a:solidFill>
                <a:latin typeface="Avenir Next"/>
                <a:ea typeface="Avenir Next"/>
                <a:cs typeface="Avenir Next"/>
              </a:defRPr>
            </a:lvl5pPr>
            <a:lvl6pPr algn="ctr">
              <a:defRPr sz="900" b="1" i="0">
                <a:solidFill>
                  <a:srgbClr val="FFFFFF"/>
                </a:solidFill>
                <a:latin typeface="Avenir Next"/>
                <a:ea typeface="Avenir Next"/>
                <a:cs typeface="Avenir Next"/>
              </a:defRPr>
            </a:lvl6pPr>
            <a:lvl7pPr algn="ctr">
              <a:defRPr sz="900" b="1" i="0">
                <a:solidFill>
                  <a:srgbClr val="FFFFFF"/>
                </a:solidFill>
                <a:latin typeface="Avenir Next"/>
                <a:ea typeface="Avenir Next"/>
                <a:cs typeface="Avenir Next"/>
              </a:defRPr>
            </a:lvl7pPr>
            <a:lvl8pPr algn="ctr">
              <a:defRPr sz="900" b="1" i="0">
                <a:solidFill>
                  <a:srgbClr val="FFFFFF"/>
                </a:solidFill>
                <a:latin typeface="Avenir Next"/>
                <a:ea typeface="Avenir Next"/>
                <a:cs typeface="Avenir Next"/>
              </a:defRPr>
            </a:lvl8pPr>
            <a:lvl9pPr algn="ctr">
              <a:defRPr sz="900" b="1" i="0">
                <a:solidFill>
                  <a:srgbClr val="FFFFFF"/>
                </a:solidFill>
                <a:latin typeface="Avenir Next"/>
                <a:ea typeface="Avenir Next"/>
                <a:cs typeface="Avenir Next"/>
              </a:defRPr>
            </a:lvl9pPr>
          </a:lstStyle>
          <a:p xmlns:a="http://schemas.openxmlformats.org/drawingml/2006/main">
            <a:pPr algn="ctr">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MATCHING WORKS WITHOUT AI</a:t>
            </a:r>
          </a:p>
        </p:txBody>
      </p:sp>
    </p:spTree>
    <p:extLst>
      <p:ext uri="{BB962C8B-B14F-4D97-AF65-F5344CB8AC3E}">
        <p14:creationId xmlns:p14="http://schemas.microsoft.com/office/powerpoint/2010/main" val="696363202"/>
      </p:ext>
    </p:extLst>
  </p:cSld>
</p:sld>
</file>

<file path=ppt/slides/slide9.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130AE64-D135-4220-A2F1-5BB96CA2E13E}"/>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336ED39A-CADE-4526-9231-A554872922C9}"/>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A9DDEBA7-61BE-40FC-9C7C-A1F121B2A513}"/>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09</a:t>
            </a:r>
          </a:p>
        </p:txBody>
      </p:sp>
      <p:sp>
        <p:nvSpPr>
          <p:cNvPr id="4" name="">
            <a:extLst xmlns:a="http://schemas.openxmlformats.org/drawingml/2006/main">
              <a:ext uri="{FF2B5EF4-FFF2-40B4-BE49-F238E27FC236}">
                <a16:creationId xmlns:a16="http://schemas.microsoft.com/office/drawing/2014/main" id="{4D490EA9-094D-4618-8A2E-15BF9A0BCD10}"/>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Live demo: from a need to an application</a:t>
            </a:r>
          </a:p>
        </p:txBody>
      </p:sp>
      <p:sp>
        <p:nvSpPr>
          <p:cNvPr id="5" name="">
            <a:extLst xmlns:a="http://schemas.openxmlformats.org/drawingml/2006/main">
              <a:ext uri="{FF2B5EF4-FFF2-40B4-BE49-F238E27FC236}">
                <a16:creationId xmlns:a16="http://schemas.microsoft.com/office/drawing/2014/main" id="{C4300378-D725-4868-8CD1-0F4B2FEE7BA3}"/>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A focused two-minute resident journey.</a:t>
            </a:r>
          </a:p>
        </p:txBody>
      </p:sp>
      <p:sp>
        <p:nvSpPr>
          <p:cNvPr id="6" name="">
            <a:extLst xmlns:a="http://schemas.openxmlformats.org/drawingml/2006/main">
              <a:ext uri="{FF2B5EF4-FFF2-40B4-BE49-F238E27FC236}">
                <a16:creationId xmlns:a16="http://schemas.microsoft.com/office/drawing/2014/main" id="{B23A4CA2-F07E-4A57-89E4-9F972673A595}"/>
              </a:ext>
            </a:extLst>
          </p:cNvPr>
          <p:cNvSpPr>
            <a:spLocks xmlns:a="http://schemas.openxmlformats.org/drawingml/2006/main" noGrp="1"/>
          </p:cNvSpPr>
          <p:nvPr/>
        </p:nvSpPr>
        <p:spPr>
          <a:xfrm xmlns:a="http://schemas.openxmlformats.org/drawingml/2006/main">
            <a:off x="685800" y="2419350"/>
            <a:ext cx="10820400" cy="800100"/>
          </a:xfrm>
          <a:prstGeom xmlns:a="http://schemas.openxmlformats.org/drawingml/2006/main" prst="roundRect">
            <a:avLst>
              <a:gd name="adj" fmla="val 14286"/>
            </a:avLst>
          </a:prstGeom>
          <a:solidFill xmlns:a="http://schemas.openxmlformats.org/drawingml/2006/main">
            <a:srgbClr val="0C4B4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8EAFD77-EF27-4618-916D-3445ACD381A7}"/>
              </a:ext>
            </a:extLst>
          </p:cNvPr>
          <p:cNvSpPr>
            <a:spLocks xmlns:a="http://schemas.openxmlformats.org/drawingml/2006/main" noGrp="1"/>
          </p:cNvSpPr>
          <p:nvPr/>
        </p:nvSpPr>
        <p:spPr>
          <a:xfrm xmlns:a="http://schemas.openxmlformats.org/drawingml/2006/main">
            <a:off x="1047750" y="264795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venir Next"/>
                <a:ea typeface="Avenir Next"/>
                <a:cs typeface="Avenir Next"/>
              </a:defRPr>
            </a:defPPr>
            <a:lvl1pPr algn="ctr">
              <a:defRPr sz="1800" b="1" i="0">
                <a:solidFill>
                  <a:srgbClr val="FFFFFF"/>
                </a:solidFill>
                <a:latin typeface="Avenir Next"/>
                <a:ea typeface="Avenir Next"/>
                <a:cs typeface="Avenir Next"/>
              </a:defRPr>
            </a:lvl1pPr>
            <a:lvl2pPr algn="ctr">
              <a:defRPr sz="1800" b="1" i="0">
                <a:solidFill>
                  <a:srgbClr val="FFFFFF"/>
                </a:solidFill>
                <a:latin typeface="Avenir Next"/>
                <a:ea typeface="Avenir Next"/>
                <a:cs typeface="Avenir Next"/>
              </a:defRPr>
            </a:lvl2pPr>
            <a:lvl3pPr algn="ctr">
              <a:defRPr sz="1800" b="1" i="0">
                <a:solidFill>
                  <a:srgbClr val="FFFFFF"/>
                </a:solidFill>
                <a:latin typeface="Avenir Next"/>
                <a:ea typeface="Avenir Next"/>
                <a:cs typeface="Avenir Next"/>
              </a:defRPr>
            </a:lvl3pPr>
            <a:lvl4pPr algn="ctr">
              <a:defRPr sz="1800" b="1" i="0">
                <a:solidFill>
                  <a:srgbClr val="FFFFFF"/>
                </a:solidFill>
                <a:latin typeface="Avenir Next"/>
                <a:ea typeface="Avenir Next"/>
                <a:cs typeface="Avenir Next"/>
              </a:defRPr>
            </a:lvl4pPr>
            <a:lvl5pPr algn="ctr">
              <a:defRPr sz="1800" b="1" i="0">
                <a:solidFill>
                  <a:srgbClr val="FFFFFF"/>
                </a:solidFill>
                <a:latin typeface="Avenir Next"/>
                <a:ea typeface="Avenir Next"/>
                <a:cs typeface="Avenir Next"/>
              </a:defRPr>
            </a:lvl5pPr>
            <a:lvl6pPr algn="ctr">
              <a:defRPr sz="1800" b="1" i="0">
                <a:solidFill>
                  <a:srgbClr val="FFFFFF"/>
                </a:solidFill>
                <a:latin typeface="Avenir Next"/>
                <a:ea typeface="Avenir Next"/>
                <a:cs typeface="Avenir Next"/>
              </a:defRPr>
            </a:lvl6pPr>
            <a:lvl7pPr algn="ctr">
              <a:defRPr sz="1800" b="1" i="0">
                <a:solidFill>
                  <a:srgbClr val="FFFFFF"/>
                </a:solidFill>
                <a:latin typeface="Avenir Next"/>
                <a:ea typeface="Avenir Next"/>
                <a:cs typeface="Avenir Next"/>
              </a:defRPr>
            </a:lvl7pPr>
            <a:lvl8pPr algn="ctr">
              <a:defRPr sz="1800" b="1" i="0">
                <a:solidFill>
                  <a:srgbClr val="FFFFFF"/>
                </a:solidFill>
                <a:latin typeface="Avenir Next"/>
                <a:ea typeface="Avenir Next"/>
                <a:cs typeface="Avenir Next"/>
              </a:defRPr>
            </a:lvl8pPr>
            <a:lvl9pPr algn="ctr">
              <a:defRPr sz="1800" b="1" i="0">
                <a:solidFill>
                  <a:srgbClr val="FFFFFF"/>
                </a:solidFill>
                <a:latin typeface="Avenir Next"/>
                <a:ea typeface="Avenir Next"/>
                <a:cs typeface="Avenir Next"/>
              </a:defRPr>
            </a:lvl9pPr>
          </a:lstStyle>
          <a:p xmlns:a="http://schemas.openxmlformats.org/drawingml/2006/main">
            <a:pPr algn="ctr">
              <a:defRPr sz="1800" b="1" i="0">
                <a:solidFill>
                  <a:srgbClr val="FFFFFF"/>
                </a:solidFill>
                <a:latin typeface="Avenir Next"/>
                <a:ea typeface="Avenir Next"/>
                <a:cs typeface="Avenir Next"/>
              </a:defRPr>
            </a:pPr>
            <a:r>
              <a:rPr sz="1800" b="1" i="0">
                <a:solidFill>
                  <a:srgbClr val="FFFFFF"/>
                </a:solidFill>
                <a:latin typeface="Avenir Next"/>
                <a:ea typeface="Avenir Next"/>
                <a:cs typeface="Avenir Next"/>
              </a:rPr>
              <a:t>“I live in Sunnyvale. My water bill is high, and I think I may have a leak.”</a:t>
            </a:r>
          </a:p>
        </p:txBody>
      </p:sp>
      <p:sp>
        <p:nvSpPr>
          <p:cNvPr id="8" name="">
            <a:extLst xmlns:a="http://schemas.openxmlformats.org/drawingml/2006/main">
              <a:ext uri="{FF2B5EF4-FFF2-40B4-BE49-F238E27FC236}">
                <a16:creationId xmlns:a16="http://schemas.microsoft.com/office/drawing/2014/main" id="{1985C9E3-FCD3-4199-8E0D-F38BC96B45B5}"/>
              </a:ext>
            </a:extLst>
          </p:cNvPr>
          <p:cNvSpPr>
            <a:spLocks xmlns:a="http://schemas.openxmlformats.org/drawingml/2006/main" noGrp="1"/>
          </p:cNvSpPr>
          <p:nvPr/>
        </p:nvSpPr>
        <p:spPr>
          <a:xfrm xmlns:a="http://schemas.openxmlformats.org/drawingml/2006/main">
            <a:off x="685800"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A27CB11-778B-4F1D-8E73-B872A9FF27C1}"/>
              </a:ext>
            </a:extLst>
          </p:cNvPr>
          <p:cNvSpPr>
            <a:spLocks xmlns:a="http://schemas.openxmlformats.org/drawingml/2006/main" noGrp="1"/>
          </p:cNvSpPr>
          <p:nvPr/>
        </p:nvSpPr>
        <p:spPr>
          <a:xfrm xmlns:a="http://schemas.openxmlformats.org/drawingml/2006/main">
            <a:off x="809625"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1EF583BD-94FC-4977-A6E2-E405702C0616}"/>
              </a:ext>
            </a:extLst>
          </p:cNvPr>
          <p:cNvSpPr>
            <a:spLocks xmlns:a="http://schemas.openxmlformats.org/drawingml/2006/main" noGrp="1"/>
          </p:cNvSpPr>
          <p:nvPr/>
        </p:nvSpPr>
        <p:spPr>
          <a:xfrm xmlns:a="http://schemas.openxmlformats.org/drawingml/2006/main">
            <a:off x="1295400"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START</a:t>
            </a:r>
          </a:p>
        </p:txBody>
      </p:sp>
      <p:sp>
        <p:nvSpPr>
          <p:cNvPr id="11" name="">
            <a:extLst xmlns:a="http://schemas.openxmlformats.org/drawingml/2006/main">
              <a:ext uri="{FF2B5EF4-FFF2-40B4-BE49-F238E27FC236}">
                <a16:creationId xmlns:a16="http://schemas.microsoft.com/office/drawing/2014/main" id="{4DB42EF3-0FB7-4777-9470-C87CB6C87277}"/>
              </a:ext>
            </a:extLst>
          </p:cNvPr>
          <p:cNvSpPr>
            <a:spLocks xmlns:a="http://schemas.openxmlformats.org/drawingml/2006/main" noGrp="1"/>
          </p:cNvSpPr>
          <p:nvPr/>
        </p:nvSpPr>
        <p:spPr>
          <a:xfrm xmlns:a="http://schemas.openxmlformats.org/drawingml/2006/main">
            <a:off x="1295400"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Enter the story in natural language</a:t>
            </a:r>
          </a:p>
        </p:txBody>
      </p:sp>
      <p:sp>
        <p:nvSpPr>
          <p:cNvPr id="12" name="">
            <a:extLst xmlns:a="http://schemas.openxmlformats.org/drawingml/2006/main">
              <a:ext uri="{FF2B5EF4-FFF2-40B4-BE49-F238E27FC236}">
                <a16:creationId xmlns:a16="http://schemas.microsoft.com/office/drawing/2014/main" id="{0A4F12C9-AA90-452D-911E-1F935DC026A6}"/>
              </a:ext>
            </a:extLst>
          </p:cNvPr>
          <p:cNvSpPr>
            <a:spLocks xmlns:a="http://schemas.openxmlformats.org/drawingml/2006/main" noGrp="1"/>
          </p:cNvSpPr>
          <p:nvPr/>
        </p:nvSpPr>
        <p:spPr>
          <a:xfrm xmlns:a="http://schemas.openxmlformats.org/drawingml/2006/main">
            <a:off x="3400425"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6A46CF0-E3CE-403D-BCF4-4D55BB25F0FB}"/>
              </a:ext>
            </a:extLst>
          </p:cNvPr>
          <p:cNvSpPr>
            <a:spLocks xmlns:a="http://schemas.openxmlformats.org/drawingml/2006/main" noGrp="1"/>
          </p:cNvSpPr>
          <p:nvPr/>
        </p:nvSpPr>
        <p:spPr>
          <a:xfrm xmlns:a="http://schemas.openxmlformats.org/drawingml/2006/main">
            <a:off x="3524250"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a:t>
            </a:r>
          </a:p>
        </p:txBody>
      </p:sp>
      <p:sp>
        <p:nvSpPr>
          <p:cNvPr id="14" name="">
            <a:extLst xmlns:a="http://schemas.openxmlformats.org/drawingml/2006/main">
              <a:ext uri="{FF2B5EF4-FFF2-40B4-BE49-F238E27FC236}">
                <a16:creationId xmlns:a16="http://schemas.microsoft.com/office/drawing/2014/main" id="{D5E3AACC-50A5-415B-872C-0144ECB1F633}"/>
              </a:ext>
            </a:extLst>
          </p:cNvPr>
          <p:cNvSpPr>
            <a:spLocks xmlns:a="http://schemas.openxmlformats.org/drawingml/2006/main" noGrp="1"/>
          </p:cNvSpPr>
          <p:nvPr/>
        </p:nvSpPr>
        <p:spPr>
          <a:xfrm xmlns:a="http://schemas.openxmlformats.org/drawingml/2006/main">
            <a:off x="4010025"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CLARIFY</a:t>
            </a:r>
          </a:p>
        </p:txBody>
      </p:sp>
      <p:sp>
        <p:nvSpPr>
          <p:cNvPr id="15" name="">
            <a:extLst xmlns:a="http://schemas.openxmlformats.org/drawingml/2006/main">
              <a:ext uri="{FF2B5EF4-FFF2-40B4-BE49-F238E27FC236}">
                <a16:creationId xmlns:a16="http://schemas.microsoft.com/office/drawing/2014/main" id="{AE72D7D2-5F97-452C-9AAB-36709B98887F}"/>
              </a:ext>
            </a:extLst>
          </p:cNvPr>
          <p:cNvSpPr>
            <a:spLocks xmlns:a="http://schemas.openxmlformats.org/drawingml/2006/main" noGrp="1"/>
          </p:cNvSpPr>
          <p:nvPr/>
        </p:nvSpPr>
        <p:spPr>
          <a:xfrm xmlns:a="http://schemas.openxmlformats.org/drawingml/2006/main">
            <a:off x="4010025"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Skip or answer one optional question</a:t>
            </a:r>
          </a:p>
        </p:txBody>
      </p:sp>
      <p:sp>
        <p:nvSpPr>
          <p:cNvPr id="16" name="">
            <a:extLst xmlns:a="http://schemas.openxmlformats.org/drawingml/2006/main">
              <a:ext uri="{FF2B5EF4-FFF2-40B4-BE49-F238E27FC236}">
                <a16:creationId xmlns:a16="http://schemas.microsoft.com/office/drawing/2014/main" id="{FD0CC66A-3489-4365-AA9D-C6F18820FA67}"/>
              </a:ext>
            </a:extLst>
          </p:cNvPr>
          <p:cNvSpPr>
            <a:spLocks xmlns:a="http://schemas.openxmlformats.org/drawingml/2006/main" noGrp="1"/>
          </p:cNvSpPr>
          <p:nvPr/>
        </p:nvSpPr>
        <p:spPr>
          <a:xfrm xmlns:a="http://schemas.openxmlformats.org/drawingml/2006/main">
            <a:off x="6115050"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1DA75DC-ADFE-412E-A3B4-418894C47DC5}"/>
              </a:ext>
            </a:extLst>
          </p:cNvPr>
          <p:cNvSpPr>
            <a:spLocks xmlns:a="http://schemas.openxmlformats.org/drawingml/2006/main" noGrp="1"/>
          </p:cNvSpPr>
          <p:nvPr/>
        </p:nvSpPr>
        <p:spPr>
          <a:xfrm xmlns:a="http://schemas.openxmlformats.org/drawingml/2006/main">
            <a:off x="6238875"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3</a:t>
            </a:r>
          </a:p>
        </p:txBody>
      </p:sp>
      <p:sp>
        <p:nvSpPr>
          <p:cNvPr id="18" name="">
            <a:extLst xmlns:a="http://schemas.openxmlformats.org/drawingml/2006/main">
              <a:ext uri="{FF2B5EF4-FFF2-40B4-BE49-F238E27FC236}">
                <a16:creationId xmlns:a16="http://schemas.microsoft.com/office/drawing/2014/main" id="{AA930B57-711F-42B3-9E2C-8D2944CA2774}"/>
              </a:ext>
            </a:extLst>
          </p:cNvPr>
          <p:cNvSpPr>
            <a:spLocks xmlns:a="http://schemas.openxmlformats.org/drawingml/2006/main" noGrp="1"/>
          </p:cNvSpPr>
          <p:nvPr/>
        </p:nvSpPr>
        <p:spPr>
          <a:xfrm xmlns:a="http://schemas.openxmlformats.org/drawingml/2006/main">
            <a:off x="6724650"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EXPLORE</a:t>
            </a:r>
          </a:p>
        </p:txBody>
      </p:sp>
      <p:sp>
        <p:nvSpPr>
          <p:cNvPr id="19" name="">
            <a:extLst xmlns:a="http://schemas.openxmlformats.org/drawingml/2006/main">
              <a:ext uri="{FF2B5EF4-FFF2-40B4-BE49-F238E27FC236}">
                <a16:creationId xmlns:a16="http://schemas.microsoft.com/office/drawing/2014/main" id="{7CE42FBF-E685-45C0-AEC8-E932E5DC8421}"/>
              </a:ext>
            </a:extLst>
          </p:cNvPr>
          <p:cNvSpPr>
            <a:spLocks xmlns:a="http://schemas.openxmlformats.org/drawingml/2006/main" noGrp="1"/>
          </p:cNvSpPr>
          <p:nvPr/>
        </p:nvSpPr>
        <p:spPr>
          <a:xfrm xmlns:a="http://schemas.openxmlformats.org/drawingml/2006/main">
            <a:off x="6724650"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Open a water-related program and ask what is needed</a:t>
            </a:r>
          </a:p>
        </p:txBody>
      </p:sp>
      <p:sp>
        <p:nvSpPr>
          <p:cNvPr id="20" name="">
            <a:extLst xmlns:a="http://schemas.openxmlformats.org/drawingml/2006/main">
              <a:ext uri="{FF2B5EF4-FFF2-40B4-BE49-F238E27FC236}">
                <a16:creationId xmlns:a16="http://schemas.microsoft.com/office/drawing/2014/main" id="{58322971-7E2F-4A7F-929C-B28B9C0CFCCC}"/>
              </a:ext>
            </a:extLst>
          </p:cNvPr>
          <p:cNvSpPr>
            <a:spLocks xmlns:a="http://schemas.openxmlformats.org/drawingml/2006/main" noGrp="1"/>
          </p:cNvSpPr>
          <p:nvPr/>
        </p:nvSpPr>
        <p:spPr>
          <a:xfrm xmlns:a="http://schemas.openxmlformats.org/drawingml/2006/main">
            <a:off x="8829675" y="3810000"/>
            <a:ext cx="457200" cy="4572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49EF0CC-7EB7-4BD3-862F-9C439799C16F}"/>
              </a:ext>
            </a:extLst>
          </p:cNvPr>
          <p:cNvSpPr>
            <a:spLocks xmlns:a="http://schemas.openxmlformats.org/drawingml/2006/main" noGrp="1"/>
          </p:cNvSpPr>
          <p:nvPr/>
        </p:nvSpPr>
        <p:spPr>
          <a:xfrm xmlns:a="http://schemas.openxmlformats.org/drawingml/2006/main">
            <a:off x="8953500"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4</a:t>
            </a:r>
          </a:p>
        </p:txBody>
      </p:sp>
      <p:sp>
        <p:nvSpPr>
          <p:cNvPr id="22" name="">
            <a:extLst xmlns:a="http://schemas.openxmlformats.org/drawingml/2006/main">
              <a:ext uri="{FF2B5EF4-FFF2-40B4-BE49-F238E27FC236}">
                <a16:creationId xmlns:a16="http://schemas.microsoft.com/office/drawing/2014/main" id="{1658A5EB-9408-45B7-AC0A-FB0083AC0A7F}"/>
              </a:ext>
            </a:extLst>
          </p:cNvPr>
          <p:cNvSpPr>
            <a:spLocks xmlns:a="http://schemas.openxmlformats.org/drawingml/2006/main" noGrp="1"/>
          </p:cNvSpPr>
          <p:nvPr/>
        </p:nvSpPr>
        <p:spPr>
          <a:xfrm xmlns:a="http://schemas.openxmlformats.org/drawingml/2006/main">
            <a:off x="9439275"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APPLY</a:t>
            </a:r>
          </a:p>
        </p:txBody>
      </p:sp>
      <p:sp>
        <p:nvSpPr>
          <p:cNvPr id="23" name="">
            <a:extLst xmlns:a="http://schemas.openxmlformats.org/drawingml/2006/main">
              <a:ext uri="{FF2B5EF4-FFF2-40B4-BE49-F238E27FC236}">
                <a16:creationId xmlns:a16="http://schemas.microsoft.com/office/drawing/2014/main" id="{11157188-9E39-4DAA-986B-D5FDEEAEDAA0}"/>
              </a:ext>
            </a:extLst>
          </p:cNvPr>
          <p:cNvSpPr>
            <a:spLocks xmlns:a="http://schemas.openxmlformats.org/drawingml/2006/main" noGrp="1"/>
          </p:cNvSpPr>
          <p:nvPr/>
        </p:nvSpPr>
        <p:spPr>
          <a:xfrm xmlns:a="http://schemas.openxmlformats.org/drawingml/2006/main">
            <a:off x="9439275"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Launch the official site with BenefitBeacon beside it</a:t>
            </a:r>
          </a:p>
        </p:txBody>
      </p:sp>
      <p:sp>
        <p:nvSpPr>
          <p:cNvPr id="24" name="">
            <a:extLst xmlns:a="http://schemas.openxmlformats.org/drawingml/2006/main">
              <a:ext uri="{FF2B5EF4-FFF2-40B4-BE49-F238E27FC236}">
                <a16:creationId xmlns:a16="http://schemas.microsoft.com/office/drawing/2014/main" id="{DD7BC818-FF96-4F2A-A71C-6BE1B1F39D5F}"/>
              </a:ext>
            </a:extLst>
          </p:cNvPr>
          <p:cNvSpPr>
            <a:spLocks xmlns:a="http://schemas.openxmlformats.org/drawingml/2006/main" noGrp="1"/>
          </p:cNvSpPr>
          <p:nvPr/>
        </p:nvSpPr>
        <p:spPr>
          <a:xfrm xmlns:a="http://schemas.openxmlformats.org/drawingml/2006/main">
            <a:off x="3238500" y="5524500"/>
            <a:ext cx="8267700" cy="685800"/>
          </a:xfrm>
          <a:prstGeom xmlns:a="http://schemas.openxmlformats.org/drawingml/2006/main" prst="roundRect">
            <a:avLst>
              <a:gd name="adj" fmla="val 16667"/>
            </a:avLst>
          </a:prstGeom>
          <a:solidFill xmlns:a="http://schemas.openxmlformats.org/drawingml/2006/main">
            <a:srgbClr val="E8F0E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BCAA773-72E2-4B23-B7D2-FB28E469EE69}"/>
              </a:ext>
            </a:extLst>
          </p:cNvPr>
          <p:cNvSpPr>
            <a:spLocks xmlns:a="http://schemas.openxmlformats.org/drawingml/2006/main" noGrp="1"/>
          </p:cNvSpPr>
          <p:nvPr/>
        </p:nvSpPr>
        <p:spPr>
          <a:xfrm xmlns:a="http://schemas.openxmlformats.org/drawingml/2006/main">
            <a:off x="3524250" y="574357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Backup path</a:t>
            </a:r>
          </a:p>
        </p:txBody>
      </p:sp>
      <p:sp>
        <p:nvSpPr>
          <p:cNvPr id="26" name="">
            <a:extLst xmlns:a="http://schemas.openxmlformats.org/drawingml/2006/main">
              <a:ext uri="{FF2B5EF4-FFF2-40B4-BE49-F238E27FC236}">
                <a16:creationId xmlns:a16="http://schemas.microsoft.com/office/drawing/2014/main" id="{CE311177-9233-4171-A545-DA5A95318371}"/>
              </a:ext>
            </a:extLst>
          </p:cNvPr>
          <p:cNvSpPr>
            <a:spLocks xmlns:a="http://schemas.openxmlformats.org/drawingml/2006/main" noGrp="1"/>
          </p:cNvSpPr>
          <p:nvPr/>
        </p:nvSpPr>
        <p:spPr>
          <a:xfrm xmlns:a="http://schemas.openxmlformats.org/drawingml/2006/main">
            <a:off x="4953000" y="5695950"/>
            <a:ext cx="609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60716D"/>
                </a:solidFill>
                <a:latin typeface="Avenir Next"/>
                <a:ea typeface="Avenir Next"/>
                <a:cs typeface="Avenir Next"/>
              </a:defRPr>
            </a:defPPr>
            <a:lvl1pPr algn="l">
              <a:defRPr sz="1200" b="0" i="0">
                <a:solidFill>
                  <a:srgbClr val="60716D"/>
                </a:solidFill>
                <a:latin typeface="Avenir Next"/>
                <a:ea typeface="Avenir Next"/>
                <a:cs typeface="Avenir Next"/>
              </a:defRPr>
            </a:lvl1pPr>
            <a:lvl2pPr algn="l">
              <a:defRPr sz="1200" b="0" i="0">
                <a:solidFill>
                  <a:srgbClr val="60716D"/>
                </a:solidFill>
                <a:latin typeface="Avenir Next"/>
                <a:ea typeface="Avenir Next"/>
                <a:cs typeface="Avenir Next"/>
              </a:defRPr>
            </a:lvl2pPr>
            <a:lvl3pPr algn="l">
              <a:defRPr sz="1200" b="0" i="0">
                <a:solidFill>
                  <a:srgbClr val="60716D"/>
                </a:solidFill>
                <a:latin typeface="Avenir Next"/>
                <a:ea typeface="Avenir Next"/>
                <a:cs typeface="Avenir Next"/>
              </a:defRPr>
            </a:lvl3pPr>
            <a:lvl4pPr algn="l">
              <a:defRPr sz="1200" b="0" i="0">
                <a:solidFill>
                  <a:srgbClr val="60716D"/>
                </a:solidFill>
                <a:latin typeface="Avenir Next"/>
                <a:ea typeface="Avenir Next"/>
                <a:cs typeface="Avenir Next"/>
              </a:defRPr>
            </a:lvl4pPr>
            <a:lvl5pPr algn="l">
              <a:defRPr sz="1200" b="0" i="0">
                <a:solidFill>
                  <a:srgbClr val="60716D"/>
                </a:solidFill>
                <a:latin typeface="Avenir Next"/>
                <a:ea typeface="Avenir Next"/>
                <a:cs typeface="Avenir Next"/>
              </a:defRPr>
            </a:lvl5pPr>
            <a:lvl6pPr algn="l">
              <a:defRPr sz="1200" b="0" i="0">
                <a:solidFill>
                  <a:srgbClr val="60716D"/>
                </a:solidFill>
                <a:latin typeface="Avenir Next"/>
                <a:ea typeface="Avenir Next"/>
                <a:cs typeface="Avenir Next"/>
              </a:defRPr>
            </a:lvl6pPr>
            <a:lvl7pPr algn="l">
              <a:defRPr sz="1200" b="0" i="0">
                <a:solidFill>
                  <a:srgbClr val="60716D"/>
                </a:solidFill>
                <a:latin typeface="Avenir Next"/>
                <a:ea typeface="Avenir Next"/>
                <a:cs typeface="Avenir Next"/>
              </a:defRPr>
            </a:lvl7pPr>
            <a:lvl8pPr algn="l">
              <a:defRPr sz="1200" b="0" i="0">
                <a:solidFill>
                  <a:srgbClr val="60716D"/>
                </a:solidFill>
                <a:latin typeface="Avenir Next"/>
                <a:ea typeface="Avenir Next"/>
                <a:cs typeface="Avenir Next"/>
              </a:defRPr>
            </a:lvl8pPr>
            <a:lvl9pPr algn="l">
              <a:defRPr sz="1200" b="0" i="0">
                <a:solidFill>
                  <a:srgbClr val="60716D"/>
                </a:solidFill>
                <a:latin typeface="Avenir Next"/>
                <a:ea typeface="Avenir Next"/>
                <a:cs typeface="Avenir Next"/>
              </a:defRPr>
            </a:lvl9pPr>
          </a:lstStyle>
          <a:p xmlns:a="http://schemas.openxmlformats.org/drawingml/2006/main">
            <a:pPr algn="l">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If an AI call is unavailable, show that local matching, source links, and the full program catalog still work.</a:t>
            </a:r>
          </a:p>
        </p:txBody>
      </p:sp>
    </p:spTree>
    <p:extLst>
      <p:ext uri="{BB962C8B-B14F-4D97-AF65-F5344CB8AC3E}">
        <p14:creationId xmlns:p14="http://schemas.microsoft.com/office/powerpoint/2010/main" val="2054352694"/>
      </p:ext>
    </p:extLst>
  </p:cSld>
</p:sld>
</file>

<file path=ppt/slides/slide10.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86092D2-CBCE-4B80-BBB1-327B6BB5D4CE}"/>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408CA4B7-A621-428F-B95B-13FDE9037FFF}"/>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BC3AFC05-8B74-4640-9C38-CBC0B4735777}"/>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10</a:t>
            </a:r>
          </a:p>
        </p:txBody>
      </p:sp>
      <p:pic>
        <p:nvPicPr>
          <p:cNvPr id="4" name="">
            <a:extLst xmlns:a="http://schemas.openxmlformats.org/drawingml/2006/main">
              <a:ext uri="{FF2B5EF4-FFF2-40B4-BE49-F238E27FC236}">
                <a16:creationId xmlns:a16="http://schemas.microsoft.com/office/drawing/2014/main" id="{5CFDEA9E-0657-4243-BE35-40BBF6E09CC0}"/>
              </a:ext>
            </a:extLst>
          </p:cNvPr>
          <p:cNvPicPr>
            <a:picLocks xmlns:a="http://schemas.openxmlformats.org/drawingml/2006/main" noChangeAspect="1"/>
          </p:cNvPicPr>
          <p:nvPr/>
        </p:nvPicPr>
        <p:blipFill>
          <a:blip xmlns:r="http://schemas.openxmlformats.org/officeDocument/2006/relationships" xmlns:a="http://schemas.openxmlformats.org/drawingml/2006/main" r:embed="R261661269b254689"/>
          <a:stretch xmlns:a="http://schemas.openxmlformats.org/drawingml/2006/main"/>
        </p:blipFill>
        <p:spPr>
          <a:xfrm xmlns:a="http://schemas.openxmlformats.org/drawingml/2006/main">
            <a:off x="4953000" y="1143000"/>
            <a:ext cx="2286000" cy="2286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DF358AE-3C44-4047-8627-28DF8C1114F0}"/>
              </a:ext>
            </a:extLst>
          </p:cNvPr>
          <p:cNvSpPr>
            <a:spLocks xmlns:a="http://schemas.openxmlformats.org/drawingml/2006/main" noGrp="1"/>
          </p:cNvSpPr>
          <p:nvPr/>
        </p:nvSpPr>
        <p:spPr>
          <a:xfrm xmlns:a="http://schemas.openxmlformats.org/drawingml/2006/main">
            <a:off x="2095500" y="3600450"/>
            <a:ext cx="8001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4200" b="1" i="0">
                <a:solidFill>
                  <a:srgbClr val="073E35"/>
                </a:solidFill>
                <a:latin typeface="Avenir Next"/>
                <a:ea typeface="Avenir Next"/>
                <a:cs typeface="Avenir Next"/>
              </a:defRPr>
            </a:defPPr>
            <a:lvl1pPr algn="ctr">
              <a:defRPr sz="4200" b="1" i="0">
                <a:solidFill>
                  <a:srgbClr val="073E35"/>
                </a:solidFill>
                <a:latin typeface="Avenir Next"/>
                <a:ea typeface="Avenir Next"/>
                <a:cs typeface="Avenir Next"/>
              </a:defRPr>
            </a:lvl1pPr>
            <a:lvl2pPr algn="ctr">
              <a:defRPr sz="4200" b="1" i="0">
                <a:solidFill>
                  <a:srgbClr val="073E35"/>
                </a:solidFill>
                <a:latin typeface="Avenir Next"/>
                <a:ea typeface="Avenir Next"/>
                <a:cs typeface="Avenir Next"/>
              </a:defRPr>
            </a:lvl2pPr>
            <a:lvl3pPr algn="ctr">
              <a:defRPr sz="4200" b="1" i="0">
                <a:solidFill>
                  <a:srgbClr val="073E35"/>
                </a:solidFill>
                <a:latin typeface="Avenir Next"/>
                <a:ea typeface="Avenir Next"/>
                <a:cs typeface="Avenir Next"/>
              </a:defRPr>
            </a:lvl3pPr>
            <a:lvl4pPr algn="ctr">
              <a:defRPr sz="4200" b="1" i="0">
                <a:solidFill>
                  <a:srgbClr val="073E35"/>
                </a:solidFill>
                <a:latin typeface="Avenir Next"/>
                <a:ea typeface="Avenir Next"/>
                <a:cs typeface="Avenir Next"/>
              </a:defRPr>
            </a:lvl4pPr>
            <a:lvl5pPr algn="ctr">
              <a:defRPr sz="4200" b="1" i="0">
                <a:solidFill>
                  <a:srgbClr val="073E35"/>
                </a:solidFill>
                <a:latin typeface="Avenir Next"/>
                <a:ea typeface="Avenir Next"/>
                <a:cs typeface="Avenir Next"/>
              </a:defRPr>
            </a:lvl5pPr>
            <a:lvl6pPr algn="ctr">
              <a:defRPr sz="4200" b="1" i="0">
                <a:solidFill>
                  <a:srgbClr val="073E35"/>
                </a:solidFill>
                <a:latin typeface="Avenir Next"/>
                <a:ea typeface="Avenir Next"/>
                <a:cs typeface="Avenir Next"/>
              </a:defRPr>
            </a:lvl6pPr>
            <a:lvl7pPr algn="ctr">
              <a:defRPr sz="4200" b="1" i="0">
                <a:solidFill>
                  <a:srgbClr val="073E35"/>
                </a:solidFill>
                <a:latin typeface="Avenir Next"/>
                <a:ea typeface="Avenir Next"/>
                <a:cs typeface="Avenir Next"/>
              </a:defRPr>
            </a:lvl7pPr>
            <a:lvl8pPr algn="ctr">
              <a:defRPr sz="4200" b="1" i="0">
                <a:solidFill>
                  <a:srgbClr val="073E35"/>
                </a:solidFill>
                <a:latin typeface="Avenir Next"/>
                <a:ea typeface="Avenir Next"/>
                <a:cs typeface="Avenir Next"/>
              </a:defRPr>
            </a:lvl8pPr>
            <a:lvl9pPr algn="ctr">
              <a:defRPr sz="4200" b="1" i="0">
                <a:solidFill>
                  <a:srgbClr val="073E35"/>
                </a:solidFill>
                <a:latin typeface="Avenir Next"/>
                <a:ea typeface="Avenir Next"/>
                <a:cs typeface="Avenir Next"/>
              </a:defRPr>
            </a:lvl9pPr>
          </a:lstStyle>
          <a:p xmlns:a="http://schemas.openxmlformats.org/drawingml/2006/main">
            <a:pPr algn="ctr">
              <a:defRPr sz="4200" b="1" i="0">
                <a:solidFill>
                  <a:srgbClr val="073E35"/>
                </a:solidFill>
                <a:latin typeface="Avenir Next"/>
                <a:ea typeface="Avenir Next"/>
                <a:cs typeface="Avenir Next"/>
              </a:defRPr>
            </a:pPr>
            <a:r>
              <a:rPr sz="4200" b="1" i="0">
                <a:solidFill>
                  <a:srgbClr val="073E35"/>
                </a:solidFill>
                <a:latin typeface="Avenir Next"/>
                <a:ea typeface="Avenir Next"/>
                <a:cs typeface="Avenir Next"/>
              </a:rPr>
              <a:t>BenefitBeacon</a:t>
            </a:r>
          </a:p>
        </p:txBody>
      </p:sp>
      <p:sp>
        <p:nvSpPr>
          <p:cNvPr id="6" name="">
            <a:extLst xmlns:a="http://schemas.openxmlformats.org/drawingml/2006/main">
              <a:ext uri="{FF2B5EF4-FFF2-40B4-BE49-F238E27FC236}">
                <a16:creationId xmlns:a16="http://schemas.microsoft.com/office/drawing/2014/main" id="{A3635D6B-FA05-45D9-B810-767D7ED5F27A}"/>
              </a:ext>
            </a:extLst>
          </p:cNvPr>
          <p:cNvSpPr>
            <a:spLocks xmlns:a="http://schemas.openxmlformats.org/drawingml/2006/main" noGrp="1"/>
          </p:cNvSpPr>
          <p:nvPr/>
        </p:nvSpPr>
        <p:spPr>
          <a:xfrm xmlns:a="http://schemas.openxmlformats.org/drawingml/2006/main">
            <a:off x="2095500" y="445770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i="1">
                <a:solidFill>
                  <a:srgbClr val="FF6B4A"/>
                </a:solidFill>
                <a:latin typeface="Avenir Next"/>
                <a:ea typeface="Avenir Next"/>
                <a:cs typeface="Avenir Next"/>
              </a:defRPr>
            </a:defPPr>
            <a:lvl1pPr algn="ctr">
              <a:defRPr sz="2100" b="1" i="1">
                <a:solidFill>
                  <a:srgbClr val="FF6B4A"/>
                </a:solidFill>
                <a:latin typeface="Avenir Next"/>
                <a:ea typeface="Avenir Next"/>
                <a:cs typeface="Avenir Next"/>
              </a:defRPr>
            </a:lvl1pPr>
            <a:lvl2pPr algn="ctr">
              <a:defRPr sz="2100" b="1" i="1">
                <a:solidFill>
                  <a:srgbClr val="FF6B4A"/>
                </a:solidFill>
                <a:latin typeface="Avenir Next"/>
                <a:ea typeface="Avenir Next"/>
                <a:cs typeface="Avenir Next"/>
              </a:defRPr>
            </a:lvl2pPr>
            <a:lvl3pPr algn="ctr">
              <a:defRPr sz="2100" b="1" i="1">
                <a:solidFill>
                  <a:srgbClr val="FF6B4A"/>
                </a:solidFill>
                <a:latin typeface="Avenir Next"/>
                <a:ea typeface="Avenir Next"/>
                <a:cs typeface="Avenir Next"/>
              </a:defRPr>
            </a:lvl3pPr>
            <a:lvl4pPr algn="ctr">
              <a:defRPr sz="2100" b="1" i="1">
                <a:solidFill>
                  <a:srgbClr val="FF6B4A"/>
                </a:solidFill>
                <a:latin typeface="Avenir Next"/>
                <a:ea typeface="Avenir Next"/>
                <a:cs typeface="Avenir Next"/>
              </a:defRPr>
            </a:lvl4pPr>
            <a:lvl5pPr algn="ctr">
              <a:defRPr sz="2100" b="1" i="1">
                <a:solidFill>
                  <a:srgbClr val="FF6B4A"/>
                </a:solidFill>
                <a:latin typeface="Avenir Next"/>
                <a:ea typeface="Avenir Next"/>
                <a:cs typeface="Avenir Next"/>
              </a:defRPr>
            </a:lvl5pPr>
            <a:lvl6pPr algn="ctr">
              <a:defRPr sz="2100" b="1" i="1">
                <a:solidFill>
                  <a:srgbClr val="FF6B4A"/>
                </a:solidFill>
                <a:latin typeface="Avenir Next"/>
                <a:ea typeface="Avenir Next"/>
                <a:cs typeface="Avenir Next"/>
              </a:defRPr>
            </a:lvl6pPr>
            <a:lvl7pPr algn="ctr">
              <a:defRPr sz="2100" b="1" i="1">
                <a:solidFill>
                  <a:srgbClr val="FF6B4A"/>
                </a:solidFill>
                <a:latin typeface="Avenir Next"/>
                <a:ea typeface="Avenir Next"/>
                <a:cs typeface="Avenir Next"/>
              </a:defRPr>
            </a:lvl7pPr>
            <a:lvl8pPr algn="ctr">
              <a:defRPr sz="2100" b="1" i="1">
                <a:solidFill>
                  <a:srgbClr val="FF6B4A"/>
                </a:solidFill>
                <a:latin typeface="Avenir Next"/>
                <a:ea typeface="Avenir Next"/>
                <a:cs typeface="Avenir Next"/>
              </a:defRPr>
            </a:lvl8pPr>
            <a:lvl9pPr algn="ctr">
              <a:defRPr sz="2100" b="1" i="1">
                <a:solidFill>
                  <a:srgbClr val="FF6B4A"/>
                </a:solidFill>
                <a:latin typeface="Avenir Next"/>
                <a:ea typeface="Avenir Next"/>
                <a:cs typeface="Avenir Next"/>
              </a:defRPr>
            </a:lvl9pPr>
          </a:lstStyle>
          <a:p xmlns:a="http://schemas.openxmlformats.org/drawingml/2006/main">
            <a:pPr algn="ctr">
              <a:defRPr sz="2100" b="1" i="1">
                <a:solidFill>
                  <a:srgbClr val="FF6B4A"/>
                </a:solidFill>
                <a:latin typeface="Avenir Next"/>
                <a:ea typeface="Avenir Next"/>
                <a:cs typeface="Avenir Next"/>
              </a:defRPr>
            </a:pPr>
            <a:r>
              <a:rPr sz="2100" b="1" i="1">
                <a:solidFill>
                  <a:srgbClr val="FF6B4A"/>
                </a:solidFill>
                <a:latin typeface="Avenir Next"/>
                <a:ea typeface="Avenir Next"/>
                <a:cs typeface="Avenir Next"/>
              </a:rPr>
              <a:t>Find the help. Follow the path.</a:t>
            </a:r>
          </a:p>
        </p:txBody>
      </p:sp>
      <p:sp>
        <p:nvSpPr>
          <p:cNvPr id="7" name="">
            <a:extLst xmlns:a="http://schemas.openxmlformats.org/drawingml/2006/main">
              <a:ext uri="{FF2B5EF4-FFF2-40B4-BE49-F238E27FC236}">
                <a16:creationId xmlns:a16="http://schemas.microsoft.com/office/drawing/2014/main" id="{5A3ADABC-CE63-4ACE-B246-69D52D87348D}"/>
              </a:ext>
            </a:extLst>
          </p:cNvPr>
          <p:cNvSpPr>
            <a:spLocks xmlns:a="http://schemas.openxmlformats.org/drawingml/2006/main" noGrp="1"/>
          </p:cNvSpPr>
          <p:nvPr/>
        </p:nvSpPr>
        <p:spPr>
          <a:xfrm xmlns:a="http://schemas.openxmlformats.org/drawingml/2006/main">
            <a:off x="3238500" y="5391150"/>
            <a:ext cx="22860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8" name="">
            <a:extLst xmlns:a="http://schemas.openxmlformats.org/drawingml/2006/main">
              <a:ext uri="{FF2B5EF4-FFF2-40B4-BE49-F238E27FC236}">
                <a16:creationId xmlns:a16="http://schemas.microsoft.com/office/drawing/2014/main" id="{42062BAF-4708-4030-84DF-CD1E82C8A07D}"/>
              </a:ext>
            </a:extLst>
          </p:cNvPr>
          <p:cNvSpPr>
            <a:spLocks xmlns:a="http://schemas.openxmlformats.org/drawingml/2006/main" noGrp="1"/>
          </p:cNvSpPr>
          <p:nvPr/>
        </p:nvSpPr>
        <p:spPr>
          <a:xfrm xmlns:a="http://schemas.openxmlformats.org/drawingml/2006/main">
            <a:off x="3333750" y="54673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Clear choices</a:t>
            </a:r>
          </a:p>
        </p:txBody>
      </p:sp>
      <p:sp>
        <p:nvSpPr>
          <p:cNvPr id="9" name="">
            <a:extLst xmlns:a="http://schemas.openxmlformats.org/drawingml/2006/main">
              <a:ext uri="{FF2B5EF4-FFF2-40B4-BE49-F238E27FC236}">
                <a16:creationId xmlns:a16="http://schemas.microsoft.com/office/drawing/2014/main" id="{BFFB2CC6-1C70-426B-9032-3A73F89FF826}"/>
              </a:ext>
            </a:extLst>
          </p:cNvPr>
          <p:cNvSpPr>
            <a:spLocks xmlns:a="http://schemas.openxmlformats.org/drawingml/2006/main" noGrp="1"/>
          </p:cNvSpPr>
          <p:nvPr/>
        </p:nvSpPr>
        <p:spPr>
          <a:xfrm xmlns:a="http://schemas.openxmlformats.org/drawingml/2006/main">
            <a:off x="6000750" y="5391150"/>
            <a:ext cx="22860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8712FF71-A20E-430D-AB7C-72CDCF06C44D}"/>
              </a:ext>
            </a:extLst>
          </p:cNvPr>
          <p:cNvSpPr>
            <a:spLocks xmlns:a="http://schemas.openxmlformats.org/drawingml/2006/main" noGrp="1"/>
          </p:cNvSpPr>
          <p:nvPr/>
        </p:nvSpPr>
        <p:spPr>
          <a:xfrm xmlns:a="http://schemas.openxmlformats.org/drawingml/2006/main">
            <a:off x="6096000" y="54673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Trusted sources</a:t>
            </a:r>
          </a:p>
        </p:txBody>
      </p:sp>
      <p:sp>
        <p:nvSpPr>
          <p:cNvPr id="11" name="">
            <a:extLst xmlns:a="http://schemas.openxmlformats.org/drawingml/2006/main">
              <a:ext uri="{FF2B5EF4-FFF2-40B4-BE49-F238E27FC236}">
                <a16:creationId xmlns:a16="http://schemas.microsoft.com/office/drawing/2014/main" id="{FAFEA651-1EB2-49DC-9233-5EE303BFD8F5}"/>
              </a:ext>
            </a:extLst>
          </p:cNvPr>
          <p:cNvSpPr>
            <a:spLocks xmlns:a="http://schemas.openxmlformats.org/drawingml/2006/main" noGrp="1"/>
          </p:cNvSpPr>
          <p:nvPr/>
        </p:nvSpPr>
        <p:spPr>
          <a:xfrm xmlns:a="http://schemas.openxmlformats.org/drawingml/2006/main">
            <a:off x="8763000" y="5391150"/>
            <a:ext cx="22860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2" name="">
            <a:extLst xmlns:a="http://schemas.openxmlformats.org/drawingml/2006/main">
              <a:ext uri="{FF2B5EF4-FFF2-40B4-BE49-F238E27FC236}">
                <a16:creationId xmlns:a16="http://schemas.microsoft.com/office/drawing/2014/main" id="{7BC5257B-834E-4715-9AD8-E4DB11406422}"/>
              </a:ext>
            </a:extLst>
          </p:cNvPr>
          <p:cNvSpPr>
            <a:spLocks xmlns:a="http://schemas.openxmlformats.org/drawingml/2006/main" noGrp="1"/>
          </p:cNvSpPr>
          <p:nvPr/>
        </p:nvSpPr>
        <p:spPr>
          <a:xfrm xmlns:a="http://schemas.openxmlformats.org/drawingml/2006/main">
            <a:off x="8858250" y="54673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Guidance that stays</a:t>
            </a:r>
          </a:p>
        </p:txBody>
      </p:sp>
    </p:spTree>
    <p:extLst>
      <p:ext uri="{BB962C8B-B14F-4D97-AF65-F5344CB8AC3E}">
        <p14:creationId xmlns:p14="http://schemas.microsoft.com/office/powerpoint/2010/main" val="20489644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2026-10-24T00:54:22.2680000Z</dcterms:created>
  <dcterms:modified xsi:type="dcterms:W3CDTF">2026-10-24T00:54:22.2680000Z</dcterms:modified>
</coreProperties>
</file>