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1f9c479d264900" /><Relationship Type="http://schemas.openxmlformats.org/officeDocument/2006/relationships/extended-properties" Target="/docProps/app.xml" Id="R4f1fab755e4a4df8" /><Relationship Type="http://schemas.openxmlformats.org/officeDocument/2006/relationships/officeDocument" Target="/ppt/presentation.xml" Id="R923dedb99b98476e" /></Relationships>
</file>

<file path=ppt/presentation.xml><?xml version="1.0" encoding="utf-8"?>
<p:presentation xmlns:p="http://schemas.openxmlformats.org/presentationml/2006/main">
  <p:sldMasterIdLst>
    <p:sldMasterId xmlns:r="http://schemas.openxmlformats.org/officeDocument/2006/relationships" id="2147483648" r:id="R836beaacfb084e0c"/>
  </p:sldMasterIdLst>
  <p:notesMasterIdLst>
    <p:notesMasterId xmlns:r="http://schemas.openxmlformats.org/officeDocument/2006/relationships" r:id="R5122418a567c465a"/>
  </p:notesMasterIdLst>
  <p:sldIdLst>
    <p:sldId xmlns:r="http://schemas.openxmlformats.org/officeDocument/2006/relationships" id="256" r:id="Rf43596d9b5ec46ec"/>
    <p:sldId xmlns:r="http://schemas.openxmlformats.org/officeDocument/2006/relationships" id="257" r:id="Rc45538b52bac4d99"/>
    <p:sldId xmlns:r="http://schemas.openxmlformats.org/officeDocument/2006/relationships" id="258" r:id="R4c3361dc828f4e9f"/>
    <p:sldId xmlns:r="http://schemas.openxmlformats.org/officeDocument/2006/relationships" id="259" r:id="Rf430d2c294a24f33"/>
    <p:sldId xmlns:r="http://schemas.openxmlformats.org/officeDocument/2006/relationships" id="260" r:id="R9d1c37ed5e454cad"/>
    <p:sldId xmlns:r="http://schemas.openxmlformats.org/officeDocument/2006/relationships" id="261" r:id="R7a57e17a9c874e7e"/>
    <p:sldId xmlns:r="http://schemas.openxmlformats.org/officeDocument/2006/relationships" id="262" r:id="R0464533ea7d94ab1"/>
    <p:sldId xmlns:r="http://schemas.openxmlformats.org/officeDocument/2006/relationships" id="263" r:id="Ra785cb9e92b84720"/>
    <p:sldId xmlns:r="http://schemas.openxmlformats.org/officeDocument/2006/relationships" id="264" r:id="R5cef4951d459439b"/>
    <p:sldId xmlns:r="http://schemas.openxmlformats.org/officeDocument/2006/relationships" id="265" r:id="R6f998da2587440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fdd6f919ac41ba" /><Relationship Type="http://schemas.openxmlformats.org/officeDocument/2006/relationships/slideMaster" Target="/ppt/slideMasters/slideMaster1.xml" Id="R836beaacfb084e0c" /><Relationship Type="http://schemas.openxmlformats.org/officeDocument/2006/relationships/notesMaster" Target="/ppt/notesMasters/notesMaster1.xml" Id="R5122418a567c465a" /><Relationship Type="http://schemas.openxmlformats.org/officeDocument/2006/relationships/presProps" Target="/ppt/presProps.xml" Id="R33e5e5782c8e40a9" /><Relationship Type="http://schemas.openxmlformats.org/officeDocument/2006/relationships/tableStyles" Target="/ppt/tableStyles.xml" Id="R676450a1e2bd4e48" /><Relationship Type="http://schemas.openxmlformats.org/officeDocument/2006/relationships/slide" Target="/ppt/slides/slide1.xml" Id="Rf43596d9b5ec46ec" /><Relationship Type="http://schemas.openxmlformats.org/officeDocument/2006/relationships/slide" Target="/ppt/slides/slide2.xml" Id="Rc45538b52bac4d99" /><Relationship Type="http://schemas.openxmlformats.org/officeDocument/2006/relationships/slide" Target="/ppt/slides/slide3.xml" Id="R4c3361dc828f4e9f" /><Relationship Type="http://schemas.openxmlformats.org/officeDocument/2006/relationships/slide" Target="/ppt/slides/slide4.xml" Id="Rf430d2c294a24f33" /><Relationship Type="http://schemas.openxmlformats.org/officeDocument/2006/relationships/slide" Target="/ppt/slides/slide5.xml" Id="R9d1c37ed5e454cad" /><Relationship Type="http://schemas.openxmlformats.org/officeDocument/2006/relationships/slide" Target="/ppt/slides/slide6.xml" Id="R7a57e17a9c874e7e" /><Relationship Type="http://schemas.openxmlformats.org/officeDocument/2006/relationships/slide" Target="/ppt/slides/slide7.xml" Id="R0464533ea7d94ab1" /><Relationship Type="http://schemas.openxmlformats.org/officeDocument/2006/relationships/slide" Target="/ppt/slides/slide8.xml" Id="Ra785cb9e92b84720" /><Relationship Type="http://schemas.openxmlformats.org/officeDocument/2006/relationships/slide" Target="/ppt/slides/slide9.xml" Id="R5cef4951d459439b" /><Relationship Type="http://schemas.openxmlformats.org/officeDocument/2006/relationships/slide" Target="/ppt/slides/slide10.xml" Id="R6f998da2587440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e1e325f05b4b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c0f9b198f2427b" /><Relationship Type="http://schemas.openxmlformats.org/officeDocument/2006/relationships/notesMaster" Target="/ppt/notesMasters/notesMaster1.xml" Id="R010cdab848b644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649d19f61448c0" /><Relationship Type="http://schemas.openxmlformats.org/officeDocument/2006/relationships/notesMaster" Target="/ppt/notesMasters/notesMaster1.xml" Id="Ra2320b0dc6ae41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a9f5e34f8e43fd" /><Relationship Type="http://schemas.openxmlformats.org/officeDocument/2006/relationships/notesMaster" Target="/ppt/notesMasters/notesMaster1.xml" Id="Rc2999aea22da40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64a44db6844d47" /><Relationship Type="http://schemas.openxmlformats.org/officeDocument/2006/relationships/notesMaster" Target="/ppt/notesMasters/notesMaster1.xml" Id="R415d5b6688da47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0805b931664e72" /><Relationship Type="http://schemas.openxmlformats.org/officeDocument/2006/relationships/notesMaster" Target="/ppt/notesMasters/notesMaster1.xml" Id="R13e30c0a16ca47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fdb36c54814034" /><Relationship Type="http://schemas.openxmlformats.org/officeDocument/2006/relationships/notesMaster" Target="/ppt/notesMasters/notesMaster1.xml" Id="R8bc727e1dd0043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edad218b194355" /><Relationship Type="http://schemas.openxmlformats.org/officeDocument/2006/relationships/notesMaster" Target="/ppt/notesMasters/notesMaster1.xml" Id="R748df70e4f0849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f7aecd2d91461d" /><Relationship Type="http://schemas.openxmlformats.org/officeDocument/2006/relationships/notesMaster" Target="/ppt/notesMasters/notesMaster1.xml" Id="R1e1cf15db2e547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514302cb7a4aea" /><Relationship Type="http://schemas.openxmlformats.org/officeDocument/2006/relationships/notesMaster" Target="/ppt/notesMasters/notesMaster1.xml" Id="R78d6ba3a4ffc49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4819364adc48ae" /><Relationship Type="http://schemas.openxmlformats.org/officeDocument/2006/relationships/notesMaster" Target="/ppt/notesMasters/notesMaster1.xml" Id="R58ab3defb7fd48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1:27 BenefitBeacon introduction video if time allows. Then say: “BenefitBeacon helps residents find the right starting point without knowing an agency or program name.”</a:t>
            </a:r>
          </a:p>
          <a:p xmlns:a="http://schemas.openxmlformats.org/drawingml/2006/main">
            <a:r>
              <a:t/>
            </a:r>
          </a:p>
          <a:p xmlns:a="http://schemas.openxmlformats.org/drawingml/2006/main">
            <a:r>
              <a:t>Presentation goal: explain the access problem, demonstrate the resident journey, and show why the architecture is trustworthy and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message: the lack of a Sunnyvale-wide number is not a reason to invent one. It is a visibility gap. California lawmakers have described billions in eligible state and federal tax credits going unclaimed. IRS research estimated $4.7 billion of EITC went unclaimed in tax year 2019, and the IRS has said roughly one in five eligible taxpayers misses the credit.</a:t>
            </a:r>
          </a:p>
          <a:p xmlns:a="http://schemas.openxmlformats.org/drawingml/2006/main">
            <a:r>
              <a:t/>
            </a:r>
          </a:p>
          <a:p xmlns:a="http://schemas.openxmlformats.org/drawingml/2006/main">
            <a:r>
              <a:t>Sources:</a:t>
            </a:r>
          </a:p>
          <a:p xmlns:a="http://schemas.openxmlformats.org/drawingml/2006/main">
            <a:r>
              <a:t>- California Senate Committee on Governance and Finance, ACR 132 analysis: https://sfa.senate.ca.gov/sites/sfa.senate.ca.gov/files/packet/trp_7.1.24.pdf</a:t>
            </a:r>
          </a:p>
          <a:p xmlns:a="http://schemas.openxmlformats.org/drawingml/2006/main">
            <a:r>
              <a:t>- IRS Research, EITC underclaiming: https://www.irs.gov/pub/irs-soi/24rpeitcunderclaimsty2021census.pdf</a:t>
            </a:r>
          </a:p>
          <a:p xmlns:a="http://schemas.openxmlformats.org/drawingml/2006/main">
            <a:r>
              <a:t>- IRS EITC Awareness Day: https://www.irs.gov/newsroom/irs-joins-national-partners-to-launch-eitc-awareness-day</a:t>
            </a:r>
          </a:p>
          <a:p xmlns:a="http://schemas.openxmlformats.org/drawingml/2006/main">
            <a:r>
              <a:t>- City of Sunnyvale public budget materials: https://www.sunnyvale.ca.gov/your-government/governance/city-budget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resident example: “I am in Sunnyvale, my water bill is high, and I may need help fixing a leak.” Today that person must know which city, utility, county, state, or federal site to search. BenefitBeacon starts from the story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stages. Emphasize that every follow-up is optional and is asked only when it can materially improve the shortlist or answer. Residents can also browse all programs without sharing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trust moment. Each result preserves the curated program name, benefit, published eligibility text, official source, and freshness date. The AI may explain relevance, but it cannot rewrite these facts or claim final eligibility.</a:t>
            </a:r>
          </a:p>
          <a:p xmlns:a="http://schemas.openxmlformats.org/drawingml/2006/main">
            <a:r>
              <a:t/>
            </a:r>
          </a:p>
          <a:p xmlns:a="http://schemas.openxmlformats.org/drawingml/2006/main">
            <a:r>
              <a:t>Project sources:</a:t>
            </a:r>
          </a:p>
          <a:p xmlns:a="http://schemas.openxmlformats.org/drawingml/2006/main">
            <a:r>
              <a:t>- /Users/surendra.s/Documents/App Challenge/data/programs.seed.json</a:t>
            </a:r>
          </a:p>
          <a:p xmlns:a="http://schemas.openxmlformats.org/drawingml/2006/main">
            <a:r>
              <a:t>- /Users/surendra.s/Documents/App Challenge/data/programs.seed.sql</a:t>
            </a:r>
          </a:p>
          <a:p xmlns:a="http://schemas.openxmlformats.org/drawingml/2006/main">
            <a:r>
              <a:t>The generated SQL snapshot contains 60 records checked 2026-10-18; 50 records serve Sunnyvale.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handoff from a program result to the official application. The side panel carries only the selected program, a constrained profile, and bounded conversation context. It can explain fields and offer safe fills after the resident approves the site. It does not submit forms or fill sensitive identifiers.</a:t>
            </a:r>
          </a:p>
          <a:p xmlns:a="http://schemas.openxmlformats.org/drawingml/2006/main">
            <a:r>
              <a:t/>
            </a:r>
          </a:p>
          <a:p xmlns:a="http://schemas.openxmlformats.org/drawingml/2006/main">
            <a:r>
              <a:t>Source: /Users/surendra.s/Documents/App Challenge/extension/README.md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deterministic code resolves geography, applies narrow contradiction checks, and retrieves records. AI extracts explicit facts, proposes optional questions, ranks only supplied IDs, and explains. Unknown facts are not negative evidence. The administering program makes the final decision.</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High-level stack: React 19 and TypeScript with a Next.js-compatible App Router, Vinext/Vite, Cloudflare Worker-compatible APIs, D1/SQLite, deterministic 128-dimensional local embeddings, optional OpenAI Responses API calls, official web search for current program questions, and a Manifest V3 browser extension.</a:t>
            </a:r>
          </a:p>
          <a:p xmlns:a="http://schemas.openxmlformats.org/drawingml/2006/main">
            <a:r>
              <a:t/>
            </a:r>
          </a:p>
          <a:p xmlns:a="http://schemas.openxmlformats.org/drawingml/2006/main">
            <a:r>
              <a:t>The critical reliability point: normal indexed discovery does not require live search, and deterministic ranking remains available when OpenAI times out.</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checklist:</a:t>
            </a:r>
          </a:p>
          <a:p xmlns:a="http://schemas.openxmlformats.org/drawingml/2006/main">
            <a:r>
              <a:t>1. Open the Agent experience.</a:t>
            </a:r>
          </a:p>
          <a:p xmlns:a="http://schemas.openxmlformats.org/drawingml/2006/main">
            <a:r>
              <a:t>2. Paste the sample resident story.</a:t>
            </a:r>
          </a:p>
          <a:p xmlns:a="http://schemas.openxmlformats.org/drawingml/2006/main">
            <a:r>
              <a:t>3. Answer or skip a follow-up to show resident control.</a:t>
            </a:r>
          </a:p>
          <a:p xmlns:a="http://schemas.openxmlformats.org/drawingml/2006/main">
            <a:r>
              <a:t>4. Select a water or utility program.</a:t>
            </a:r>
          </a:p>
          <a:p xmlns:a="http://schemas.openxmlformats.org/drawingml/2006/main">
            <a:r>
              <a:t>5. Ask: “What documents should I have ready?”</a:t>
            </a:r>
          </a:p>
          <a:p xmlns:a="http://schemas.openxmlformats.org/drawingml/2006/main">
            <a:r>
              <a:t>6. Click Apply with BenefitBeacon and open the extension side panel.</a:t>
            </a:r>
          </a:p>
          <a:p xmlns:a="http://schemas.openxmlformats.org/drawingml/2006/main">
            <a:r>
              <a:t/>
            </a:r>
          </a:p>
          <a:p xmlns:a="http://schemas.openxmlformats.org/drawingml/2006/main">
            <a:r>
              <a:t>If the network or AI service is unavailable, use Show all available programs and explain the deterministic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“Public benefits should not depend on knowing the right agency, acronym, or search terms. BenefitBeacon gives residents a trustworthy starting point and stays with them through the next step.”</a:t>
            </a:r>
          </a:p>
          <a:p xmlns:a="http://schemas.openxmlformats.org/drawingml/2006/main">
            <a:r>
              <a:t/>
            </a:r>
          </a:p>
          <a:p xmlns:a="http://schemas.openxmlformats.org/drawingml/2006/main">
            <a:r>
              <a:t>Invite questions or return to the live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d92282799e41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42f4d76cc44f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6f587066d843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cd5f9d29e646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eec44a77854f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27b01c641b4a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A2E37A-8629-4415-8E03-534B0BFBB19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AB8A3A-921B-4A71-9142-E0E8EF14A7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EE4F8C-BB29-458A-B92A-FAD40CCEA9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CD8801-0CA4-45B0-A613-F56A28A3FA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AF545B-2ADC-4114-BDF5-F50F8941E8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86FEB1-FB0B-4BDA-A43E-BC4BCF5081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A2D9CD-49F1-4120-B1DB-A51F5C07FD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CF3B5D-3919-4178-85B6-135AF685F1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E60BEF-B6F3-4F3F-B2F2-A76D707644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970562-F3C1-4C63-B200-79B9ADD851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c166a1294f409b" /><Relationship Type="http://schemas.openxmlformats.org/officeDocument/2006/relationships/slideLayout" Target="/ppt/slideLayouts/slideLayout1.xml" Id="R6f9d2bec4a9c4c1c" /><Relationship Type="http://schemas.openxmlformats.org/officeDocument/2006/relationships/slideLayout" Target="/ppt/slideLayouts/slideLayout2.xml" Id="R0f899c4e969e49c2" /><Relationship Type="http://schemas.openxmlformats.org/officeDocument/2006/relationships/slideLayout" Target="/ppt/slideLayouts/slideLayout3.xml" Id="R62d33e26aa394e3e" /><Relationship Type="http://schemas.openxmlformats.org/officeDocument/2006/relationships/slideLayout" Target="/ppt/slideLayouts/slideLayout4.xml" Id="R15260293048f4d62" /><Relationship Type="http://schemas.openxmlformats.org/officeDocument/2006/relationships/slideLayout" Target="/ppt/slideLayouts/slideLayout5.xml" Id="R92780c0b026749f0" /><Relationship Type="http://schemas.openxmlformats.org/officeDocument/2006/relationships/slideLayout" Target="/ppt/slideLayouts/slideLayout6.xml" Id="R4991479272f647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9d2bec4a9c4c1c"/>
    <p:sldLayoutId xmlns:r="http://schemas.openxmlformats.org/officeDocument/2006/relationships" id="2147483650" r:id="R0f899c4e969e49c2"/>
    <p:sldLayoutId xmlns:r="http://schemas.openxmlformats.org/officeDocument/2006/relationships" id="2147483651" r:id="R62d33e26aa394e3e"/>
    <p:sldLayoutId xmlns:r="http://schemas.openxmlformats.org/officeDocument/2006/relationships" id="2147483652" r:id="R15260293048f4d62"/>
    <p:sldLayoutId xmlns:r="http://schemas.openxmlformats.org/officeDocument/2006/relationships" id="2147483653" r:id="R92780c0b026749f0"/>
    <p:sldLayoutId xmlns:r="http://schemas.openxmlformats.org/officeDocument/2006/relationships" id="2147483654" r:id="R4991479272f647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3a1b0a1b56438f" /><Relationship Type="http://schemas.openxmlformats.org/officeDocument/2006/relationships/image" Target="/ppt/media/image.png" Id="Rdfd62ca0c87549db" /><Relationship Type="http://schemas.openxmlformats.org/officeDocument/2006/relationships/image" Target="/ppt/media/image2.png" Id="R836f27e6f6914339" /><Relationship Type="http://schemas.openxmlformats.org/officeDocument/2006/relationships/notesSlide" Target="/ppt/notesSlides/notesSlide1.xml" Id="Rd3b676061b1d40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2c13027c964d26" /><Relationship Type="http://schemas.openxmlformats.org/officeDocument/2006/relationships/notesSlide" Target="/ppt/notesSlides/notesSlide2.xml" Id="R00b6ae3e643b4f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28c763362a474a" /><Relationship Type="http://schemas.openxmlformats.org/officeDocument/2006/relationships/notesSlide" Target="/ppt/notesSlides/notesSlide3.xml" Id="Rb78ae0b3fa2743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8fc997d7a654df3" /><Relationship Type="http://schemas.openxmlformats.org/officeDocument/2006/relationships/notesSlide" Target="/ppt/notesSlides/notesSlide4.xml" Id="R9cc3f59d8fd64a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a6d96a4aed4b2b" /><Relationship Type="http://schemas.openxmlformats.org/officeDocument/2006/relationships/notesSlide" Target="/ppt/notesSlides/notesSlide5.xml" Id="Rda5f248cd0594b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6922dd0f09487d" /><Relationship Type="http://schemas.openxmlformats.org/officeDocument/2006/relationships/notesSlide" Target="/ppt/notesSlides/notesSlide6.xml" Id="R9bbfa09163ad41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119b08b4f44b08" /><Relationship Type="http://schemas.openxmlformats.org/officeDocument/2006/relationships/notesSlide" Target="/ppt/notesSlides/notesSlide7.xml" Id="Rbd459b2fe3fc49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c423a1341448c1" /><Relationship Type="http://schemas.openxmlformats.org/officeDocument/2006/relationships/notesSlide" Target="/ppt/notesSlides/notesSlide8.xml" Id="R70c53a0d879948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daa473733b40f5" /><Relationship Type="http://schemas.openxmlformats.org/officeDocument/2006/relationships/notesSlide" Target="/ppt/notesSlides/notesSlide9.xml" Id="R5b2477cd072b4e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1be0105fcd4580" /><Relationship Type="http://schemas.openxmlformats.org/officeDocument/2006/relationships/image" Target="/ppt/media/image3.png" Id="R5afc91d3fec54176" /><Relationship Type="http://schemas.openxmlformats.org/officeDocument/2006/relationships/notesSlide" Target="/ppt/notesSlides/notesSlide10.xml" Id="R6c2522fbdb3e46e4"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3A43B5-850D-48FA-87A3-30227FC90A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1E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133BC5-0154-4D47-911C-781C3759DC0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oundRect">
            <a:avLst>
              <a:gd name="adj" fmla="val 2308"/>
            </a:avLst>
          </a:prstGeom>
          <a:solidFill xmlns:a="http://schemas.openxmlformats.org/drawingml/2006/main">
            <a:srgbClr val="0C4B40"/>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AC0697A4-8956-4DEE-9CDD-E0337C02347E}"/>
              </a:ext>
            </a:extLst>
          </p:cNvPr>
          <p:cNvPicPr>
            <a:picLocks xmlns:a="http://schemas.openxmlformats.org/drawingml/2006/main" noChangeAspect="1"/>
          </p:cNvPicPr>
          <p:nvPr/>
        </p:nvPicPr>
        <p:blipFill>
          <a:blip xmlns:r="http://schemas.openxmlformats.org/officeDocument/2006/relationships" xmlns:a="http://schemas.openxmlformats.org/drawingml/2006/main" r:embed="Rdfd62ca0c87549db"/>
          <a:srcRect xmlns:a="http://schemas.openxmlformats.org/drawingml/2006/main" l="9200" t="0" r="9200" b="0"/>
          <a:stretch xmlns:a="http://schemas.openxmlformats.org/drawingml/2006/main">
            <a:fillRect l="0" t="0" r="0" b="0"/>
          </a:stretch>
        </p:blipFill>
        <p:spPr>
          <a:xfrm xmlns:a="http://schemas.openxmlformats.org/drawingml/2006/main">
            <a:off x="7143750" y="0"/>
            <a:ext cx="504825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8776040-3BD0-41E0-B92C-09BB5AB4DB02}"/>
              </a:ext>
            </a:extLst>
          </p:cNvPr>
          <p:cNvPicPr>
            <a:picLocks xmlns:a="http://schemas.openxmlformats.org/drawingml/2006/main" noChangeAspect="1"/>
          </p:cNvPicPr>
          <p:nvPr/>
        </p:nvPicPr>
        <p:blipFill>
          <a:blip xmlns:r="http://schemas.openxmlformats.org/officeDocument/2006/relationships" xmlns:a="http://schemas.openxmlformats.org/drawingml/2006/main" r:embed="R836f27e6f6914339"/>
          <a:stretch xmlns:a="http://schemas.openxmlformats.org/drawingml/2006/main"/>
        </p:blipFill>
        <p:spPr>
          <a:xfrm xmlns:a="http://schemas.openxmlformats.org/drawingml/2006/main">
            <a:off x="666750" y="571500"/>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402B9C-F024-43C9-8437-A3E26F3F4234}"/>
              </a:ext>
            </a:extLst>
          </p:cNvPr>
          <p:cNvSpPr>
            <a:spLocks xmlns:a="http://schemas.openxmlformats.org/drawingml/2006/main" noGrp="1"/>
          </p:cNvSpPr>
          <p:nvPr/>
        </p:nvSpPr>
        <p:spPr>
          <a:xfrm xmlns:a="http://schemas.openxmlformats.org/drawingml/2006/main">
            <a:off x="666750" y="1790700"/>
            <a:ext cx="600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500" b="1" i="0">
                <a:solidFill>
                  <a:srgbClr val="073E35"/>
                </a:solidFill>
                <a:latin typeface="Avenir Next"/>
                <a:ea typeface="Avenir Next"/>
                <a:cs typeface="Avenir Next"/>
              </a:defRPr>
            </a:defPPr>
            <a:lvl1pPr algn="l">
              <a:defRPr sz="4500" b="1" i="0">
                <a:solidFill>
                  <a:srgbClr val="073E35"/>
                </a:solidFill>
                <a:latin typeface="Avenir Next"/>
                <a:ea typeface="Avenir Next"/>
                <a:cs typeface="Avenir Next"/>
              </a:defRPr>
            </a:lvl1pPr>
            <a:lvl2pPr algn="l">
              <a:defRPr sz="4500" b="1" i="0">
                <a:solidFill>
                  <a:srgbClr val="073E35"/>
                </a:solidFill>
                <a:latin typeface="Avenir Next"/>
                <a:ea typeface="Avenir Next"/>
                <a:cs typeface="Avenir Next"/>
              </a:defRPr>
            </a:lvl2pPr>
            <a:lvl3pPr algn="l">
              <a:defRPr sz="4500" b="1" i="0">
                <a:solidFill>
                  <a:srgbClr val="073E35"/>
                </a:solidFill>
                <a:latin typeface="Avenir Next"/>
                <a:ea typeface="Avenir Next"/>
                <a:cs typeface="Avenir Next"/>
              </a:defRPr>
            </a:lvl3pPr>
            <a:lvl4pPr algn="l">
              <a:defRPr sz="4500" b="1" i="0">
                <a:solidFill>
                  <a:srgbClr val="073E35"/>
                </a:solidFill>
                <a:latin typeface="Avenir Next"/>
                <a:ea typeface="Avenir Next"/>
                <a:cs typeface="Avenir Next"/>
              </a:defRPr>
            </a:lvl4pPr>
            <a:lvl5pPr algn="l">
              <a:defRPr sz="4500" b="1" i="0">
                <a:solidFill>
                  <a:srgbClr val="073E35"/>
                </a:solidFill>
                <a:latin typeface="Avenir Next"/>
                <a:ea typeface="Avenir Next"/>
                <a:cs typeface="Avenir Next"/>
              </a:defRPr>
            </a:lvl5pPr>
            <a:lvl6pPr algn="l">
              <a:defRPr sz="4500" b="1" i="0">
                <a:solidFill>
                  <a:srgbClr val="073E35"/>
                </a:solidFill>
                <a:latin typeface="Avenir Next"/>
                <a:ea typeface="Avenir Next"/>
                <a:cs typeface="Avenir Next"/>
              </a:defRPr>
            </a:lvl6pPr>
            <a:lvl7pPr algn="l">
              <a:defRPr sz="4500" b="1" i="0">
                <a:solidFill>
                  <a:srgbClr val="073E35"/>
                </a:solidFill>
                <a:latin typeface="Avenir Next"/>
                <a:ea typeface="Avenir Next"/>
                <a:cs typeface="Avenir Next"/>
              </a:defRPr>
            </a:lvl7pPr>
            <a:lvl8pPr algn="l">
              <a:defRPr sz="4500" b="1" i="0">
                <a:solidFill>
                  <a:srgbClr val="073E35"/>
                </a:solidFill>
                <a:latin typeface="Avenir Next"/>
                <a:ea typeface="Avenir Next"/>
                <a:cs typeface="Avenir Next"/>
              </a:defRPr>
            </a:lvl8pPr>
            <a:lvl9pPr algn="l">
              <a:defRPr sz="4500" b="1" i="0">
                <a:solidFill>
                  <a:srgbClr val="073E35"/>
                </a:solidFill>
                <a:latin typeface="Avenir Next"/>
                <a:ea typeface="Avenir Next"/>
                <a:cs typeface="Avenir Next"/>
              </a:defRPr>
            </a:lvl9pPr>
          </a:lstStyle>
          <a:p xmlns:a="http://schemas.openxmlformats.org/drawingml/2006/main">
            <a:pPr algn="l">
              <a:defRPr sz="4500" b="1" i="0">
                <a:solidFill>
                  <a:srgbClr val="073E35"/>
                </a:solidFill>
                <a:latin typeface="Avenir Next"/>
                <a:ea typeface="Avenir Next"/>
                <a:cs typeface="Avenir Next"/>
              </a:defRPr>
            </a:pPr>
            <a:r>
              <a:rPr sz="45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C9FECBB8-673E-4349-992C-A862472E0D3F}"/>
              </a:ext>
            </a:extLst>
          </p:cNvPr>
          <p:cNvSpPr>
            <a:spLocks xmlns:a="http://schemas.openxmlformats.org/drawingml/2006/main" noGrp="1"/>
          </p:cNvSpPr>
          <p:nvPr/>
        </p:nvSpPr>
        <p:spPr>
          <a:xfrm xmlns:a="http://schemas.openxmlformats.org/drawingml/2006/main">
            <a:off x="685800" y="2743200"/>
            <a:ext cx="552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i="0">
                <a:solidFill>
                  <a:srgbClr val="073E35"/>
                </a:solidFill>
                <a:latin typeface="Avenir Next"/>
                <a:ea typeface="Avenir Next"/>
                <a:cs typeface="Avenir Next"/>
              </a:defRPr>
            </a:defPPr>
            <a:lvl1pPr algn="l">
              <a:defRPr sz="2325" b="0" i="0">
                <a:solidFill>
                  <a:srgbClr val="073E35"/>
                </a:solidFill>
                <a:latin typeface="Avenir Next"/>
                <a:ea typeface="Avenir Next"/>
                <a:cs typeface="Avenir Next"/>
              </a:defRPr>
            </a:lvl1pPr>
            <a:lvl2pPr algn="l">
              <a:defRPr sz="2325" b="0" i="0">
                <a:solidFill>
                  <a:srgbClr val="073E35"/>
                </a:solidFill>
                <a:latin typeface="Avenir Next"/>
                <a:ea typeface="Avenir Next"/>
                <a:cs typeface="Avenir Next"/>
              </a:defRPr>
            </a:lvl2pPr>
            <a:lvl3pPr algn="l">
              <a:defRPr sz="2325" b="0" i="0">
                <a:solidFill>
                  <a:srgbClr val="073E35"/>
                </a:solidFill>
                <a:latin typeface="Avenir Next"/>
                <a:ea typeface="Avenir Next"/>
                <a:cs typeface="Avenir Next"/>
              </a:defRPr>
            </a:lvl3pPr>
            <a:lvl4pPr algn="l">
              <a:defRPr sz="2325" b="0" i="0">
                <a:solidFill>
                  <a:srgbClr val="073E35"/>
                </a:solidFill>
                <a:latin typeface="Avenir Next"/>
                <a:ea typeface="Avenir Next"/>
                <a:cs typeface="Avenir Next"/>
              </a:defRPr>
            </a:lvl4pPr>
            <a:lvl5pPr algn="l">
              <a:defRPr sz="2325" b="0" i="0">
                <a:solidFill>
                  <a:srgbClr val="073E35"/>
                </a:solidFill>
                <a:latin typeface="Avenir Next"/>
                <a:ea typeface="Avenir Next"/>
                <a:cs typeface="Avenir Next"/>
              </a:defRPr>
            </a:lvl5pPr>
            <a:lvl6pPr algn="l">
              <a:defRPr sz="2325" b="0" i="0">
                <a:solidFill>
                  <a:srgbClr val="073E35"/>
                </a:solidFill>
                <a:latin typeface="Avenir Next"/>
                <a:ea typeface="Avenir Next"/>
                <a:cs typeface="Avenir Next"/>
              </a:defRPr>
            </a:lvl6pPr>
            <a:lvl7pPr algn="l">
              <a:defRPr sz="2325" b="0" i="0">
                <a:solidFill>
                  <a:srgbClr val="073E35"/>
                </a:solidFill>
                <a:latin typeface="Avenir Next"/>
                <a:ea typeface="Avenir Next"/>
                <a:cs typeface="Avenir Next"/>
              </a:defRPr>
            </a:lvl7pPr>
            <a:lvl8pPr algn="l">
              <a:defRPr sz="2325" b="0" i="0">
                <a:solidFill>
                  <a:srgbClr val="073E35"/>
                </a:solidFill>
                <a:latin typeface="Avenir Next"/>
                <a:ea typeface="Avenir Next"/>
                <a:cs typeface="Avenir Next"/>
              </a:defRPr>
            </a:lvl8pPr>
            <a:lvl9pPr algn="l">
              <a:defRPr sz="2325" b="0" i="0">
                <a:solidFill>
                  <a:srgbClr val="073E35"/>
                </a:solidFill>
                <a:latin typeface="Avenir Next"/>
                <a:ea typeface="Avenir Next"/>
                <a:cs typeface="Avenir Next"/>
              </a:defRPr>
            </a:lvl9pPr>
          </a:lstStyle>
          <a:p xmlns:a="http://schemas.openxmlformats.org/drawingml/2006/main">
            <a:pPr algn="l">
              <a:defRPr sz="2325" b="0" i="0">
                <a:solidFill>
                  <a:srgbClr val="073E35"/>
                </a:solidFill>
                <a:latin typeface="Avenir Next"/>
                <a:ea typeface="Avenir Next"/>
                <a:cs typeface="Avenir Next"/>
              </a:defRPr>
            </a:pPr>
            <a:r>
              <a:rPr sz="2325" b="0" i="0">
                <a:solidFill>
                  <a:srgbClr val="073E35"/>
                </a:solidFill>
                <a:latin typeface="Avenir Next"/>
                <a:ea typeface="Avenir Next"/>
                <a:cs typeface="Avenir Next"/>
              </a:rPr>
              <a:t>Your personal guide to government benefits</a:t>
            </a:r>
          </a:p>
        </p:txBody>
      </p:sp>
      <p:sp>
        <p:nvSpPr>
          <p:cNvPr id="7" name="">
            <a:extLst xmlns:a="http://schemas.openxmlformats.org/drawingml/2006/main">
              <a:ext uri="{FF2B5EF4-FFF2-40B4-BE49-F238E27FC236}">
                <a16:creationId xmlns:a16="http://schemas.microsoft.com/office/drawing/2014/main" id="{31D1543B-0E78-4E1F-B816-C4E1E71FB076}"/>
              </a:ext>
            </a:extLst>
          </p:cNvPr>
          <p:cNvSpPr>
            <a:spLocks xmlns:a="http://schemas.openxmlformats.org/drawingml/2006/main" noGrp="1"/>
          </p:cNvSpPr>
          <p:nvPr/>
        </p:nvSpPr>
        <p:spPr>
          <a:xfrm xmlns:a="http://schemas.openxmlformats.org/drawingml/2006/main">
            <a:off x="685800" y="3790950"/>
            <a:ext cx="1066800" cy="571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4F2D49-509D-477E-B876-C6F1F4CE9886}"/>
              </a:ext>
            </a:extLst>
          </p:cNvPr>
          <p:cNvSpPr>
            <a:spLocks xmlns:a="http://schemas.openxmlformats.org/drawingml/2006/main" noGrp="1"/>
          </p:cNvSpPr>
          <p:nvPr/>
        </p:nvSpPr>
        <p:spPr>
          <a:xfrm xmlns:a="http://schemas.openxmlformats.org/drawingml/2006/main">
            <a:off x="685800" y="411480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60716D"/>
                </a:solidFill>
                <a:latin typeface="Avenir Next"/>
                <a:ea typeface="Avenir Next"/>
                <a:cs typeface="Avenir Next"/>
              </a:defRPr>
            </a:defPPr>
            <a:lvl1pPr algn="l">
              <a:defRPr sz="1575" b="0" i="0">
                <a:solidFill>
                  <a:srgbClr val="60716D"/>
                </a:solidFill>
                <a:latin typeface="Avenir Next"/>
                <a:ea typeface="Avenir Next"/>
                <a:cs typeface="Avenir Next"/>
              </a:defRPr>
            </a:lvl1pPr>
            <a:lvl2pPr algn="l">
              <a:defRPr sz="1575" b="0" i="0">
                <a:solidFill>
                  <a:srgbClr val="60716D"/>
                </a:solidFill>
                <a:latin typeface="Avenir Next"/>
                <a:ea typeface="Avenir Next"/>
                <a:cs typeface="Avenir Next"/>
              </a:defRPr>
            </a:lvl2pPr>
            <a:lvl3pPr algn="l">
              <a:defRPr sz="1575" b="0" i="0">
                <a:solidFill>
                  <a:srgbClr val="60716D"/>
                </a:solidFill>
                <a:latin typeface="Avenir Next"/>
                <a:ea typeface="Avenir Next"/>
                <a:cs typeface="Avenir Next"/>
              </a:defRPr>
            </a:lvl3pPr>
            <a:lvl4pPr algn="l">
              <a:defRPr sz="1575" b="0" i="0">
                <a:solidFill>
                  <a:srgbClr val="60716D"/>
                </a:solidFill>
                <a:latin typeface="Avenir Next"/>
                <a:ea typeface="Avenir Next"/>
                <a:cs typeface="Avenir Next"/>
              </a:defRPr>
            </a:lvl4pPr>
            <a:lvl5pPr algn="l">
              <a:defRPr sz="1575" b="0" i="0">
                <a:solidFill>
                  <a:srgbClr val="60716D"/>
                </a:solidFill>
                <a:latin typeface="Avenir Next"/>
                <a:ea typeface="Avenir Next"/>
                <a:cs typeface="Avenir Next"/>
              </a:defRPr>
            </a:lvl5pPr>
            <a:lvl6pPr algn="l">
              <a:defRPr sz="1575" b="0" i="0">
                <a:solidFill>
                  <a:srgbClr val="60716D"/>
                </a:solidFill>
                <a:latin typeface="Avenir Next"/>
                <a:ea typeface="Avenir Next"/>
                <a:cs typeface="Avenir Next"/>
              </a:defRPr>
            </a:lvl6pPr>
            <a:lvl7pPr algn="l">
              <a:defRPr sz="1575" b="0" i="0">
                <a:solidFill>
                  <a:srgbClr val="60716D"/>
                </a:solidFill>
                <a:latin typeface="Avenir Next"/>
                <a:ea typeface="Avenir Next"/>
                <a:cs typeface="Avenir Next"/>
              </a:defRPr>
            </a:lvl7pPr>
            <a:lvl8pPr algn="l">
              <a:defRPr sz="1575" b="0" i="0">
                <a:solidFill>
                  <a:srgbClr val="60716D"/>
                </a:solidFill>
                <a:latin typeface="Avenir Next"/>
                <a:ea typeface="Avenir Next"/>
                <a:cs typeface="Avenir Next"/>
              </a:defRPr>
            </a:lvl8pPr>
            <a:lvl9pPr algn="l">
              <a:defRPr sz="1575" b="0" i="0">
                <a:solidFill>
                  <a:srgbClr val="60716D"/>
                </a:solidFill>
                <a:latin typeface="Avenir Next"/>
                <a:ea typeface="Avenir Next"/>
                <a:cs typeface="Avenir Next"/>
              </a:defRPr>
            </a:lvl9pPr>
          </a:lstStyle>
          <a:p xmlns:a="http://schemas.openxmlformats.org/drawingml/2006/main">
            <a:pPr algn="l">
              <a:defRPr sz="1575" b="0" i="0">
                <a:solidFill>
                  <a:srgbClr val="60716D"/>
                </a:solidFill>
                <a:latin typeface="Avenir Next"/>
                <a:ea typeface="Avenir Next"/>
                <a:cs typeface="Avenir Next"/>
              </a:defRPr>
            </a:pPr>
            <a:r>
              <a:rPr sz="1575" b="0" i="0">
                <a:solidFill>
                  <a:srgbClr val="60716D"/>
                </a:solidFill>
                <a:latin typeface="Avenir Next"/>
                <a:ea typeface="Avenir Next"/>
                <a:cs typeface="Avenir Next"/>
              </a:rPr>
              <a:t>A resident-first path from one plain-language story to trusted programs and guided applications.</a:t>
            </a:r>
          </a:p>
        </p:txBody>
      </p:sp>
      <p:sp>
        <p:nvSpPr>
          <p:cNvPr id="9" name="">
            <a:extLst xmlns:a="http://schemas.openxmlformats.org/drawingml/2006/main">
              <a:ext uri="{FF2B5EF4-FFF2-40B4-BE49-F238E27FC236}">
                <a16:creationId xmlns:a16="http://schemas.microsoft.com/office/drawing/2014/main" id="{43FA59DB-1EA2-4E9E-9E61-9920602E1C79}"/>
              </a:ext>
            </a:extLst>
          </p:cNvPr>
          <p:cNvSpPr>
            <a:spLocks xmlns:a="http://schemas.openxmlformats.org/drawingml/2006/main" noGrp="1"/>
          </p:cNvSpPr>
          <p:nvPr/>
        </p:nvSpPr>
        <p:spPr>
          <a:xfrm xmlns:a="http://schemas.openxmlformats.org/drawingml/2006/main">
            <a:off x="685800" y="5524500"/>
            <a:ext cx="20955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EC911868-295D-4A97-B8BE-65979BD415E8}"/>
              </a:ext>
            </a:extLst>
          </p:cNvPr>
          <p:cNvSpPr>
            <a:spLocks xmlns:a="http://schemas.openxmlformats.org/drawingml/2006/main" noGrp="1"/>
          </p:cNvSpPr>
          <p:nvPr/>
        </p:nvSpPr>
        <p:spPr>
          <a:xfrm xmlns:a="http://schemas.openxmlformats.org/drawingml/2006/main">
            <a:off x="781050" y="56007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SUNNYVALE, CALIFORNIA</a:t>
            </a:r>
          </a:p>
        </p:txBody>
      </p:sp>
      <p:sp>
        <p:nvSpPr>
          <p:cNvPr id="11" name="">
            <a:extLst xmlns:a="http://schemas.openxmlformats.org/drawingml/2006/main">
              <a:ext uri="{FF2B5EF4-FFF2-40B4-BE49-F238E27FC236}">
                <a16:creationId xmlns:a16="http://schemas.microsoft.com/office/drawing/2014/main" id="{58A900D3-7424-41E6-896B-8BC3100BBC6E}"/>
              </a:ext>
            </a:extLst>
          </p:cNvPr>
          <p:cNvSpPr>
            <a:spLocks xmlns:a="http://schemas.openxmlformats.org/drawingml/2006/main" noGrp="1"/>
          </p:cNvSpPr>
          <p:nvPr/>
        </p:nvSpPr>
        <p:spPr>
          <a:xfrm xmlns:a="http://schemas.openxmlformats.org/drawingml/2006/main">
            <a:off x="3048000" y="5619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60716D"/>
                </a:solidFill>
                <a:latin typeface="Avenir Next"/>
                <a:ea typeface="Avenir Next"/>
                <a:cs typeface="Avenir Next"/>
              </a:defRPr>
            </a:defPPr>
            <a:lvl1pPr algn="l">
              <a:defRPr sz="1050" b="1" i="0">
                <a:solidFill>
                  <a:srgbClr val="60716D"/>
                </a:solidFill>
                <a:latin typeface="Avenir Next"/>
                <a:ea typeface="Avenir Next"/>
                <a:cs typeface="Avenir Next"/>
              </a:defRPr>
            </a:lvl1pPr>
            <a:lvl2pPr algn="l">
              <a:defRPr sz="1050" b="1" i="0">
                <a:solidFill>
                  <a:srgbClr val="60716D"/>
                </a:solidFill>
                <a:latin typeface="Avenir Next"/>
                <a:ea typeface="Avenir Next"/>
                <a:cs typeface="Avenir Next"/>
              </a:defRPr>
            </a:lvl2pPr>
            <a:lvl3pPr algn="l">
              <a:defRPr sz="1050" b="1" i="0">
                <a:solidFill>
                  <a:srgbClr val="60716D"/>
                </a:solidFill>
                <a:latin typeface="Avenir Next"/>
                <a:ea typeface="Avenir Next"/>
                <a:cs typeface="Avenir Next"/>
              </a:defRPr>
            </a:lvl3pPr>
            <a:lvl4pPr algn="l">
              <a:defRPr sz="1050" b="1" i="0">
                <a:solidFill>
                  <a:srgbClr val="60716D"/>
                </a:solidFill>
                <a:latin typeface="Avenir Next"/>
                <a:ea typeface="Avenir Next"/>
                <a:cs typeface="Avenir Next"/>
              </a:defRPr>
            </a:lvl4pPr>
            <a:lvl5pPr algn="l">
              <a:defRPr sz="1050" b="1" i="0">
                <a:solidFill>
                  <a:srgbClr val="60716D"/>
                </a:solidFill>
                <a:latin typeface="Avenir Next"/>
                <a:ea typeface="Avenir Next"/>
                <a:cs typeface="Avenir Next"/>
              </a:defRPr>
            </a:lvl5pPr>
            <a:lvl6pPr algn="l">
              <a:defRPr sz="1050" b="1" i="0">
                <a:solidFill>
                  <a:srgbClr val="60716D"/>
                </a:solidFill>
                <a:latin typeface="Avenir Next"/>
                <a:ea typeface="Avenir Next"/>
                <a:cs typeface="Avenir Next"/>
              </a:defRPr>
            </a:lvl6pPr>
            <a:lvl7pPr algn="l">
              <a:defRPr sz="1050" b="1" i="0">
                <a:solidFill>
                  <a:srgbClr val="60716D"/>
                </a:solidFill>
                <a:latin typeface="Avenir Next"/>
                <a:ea typeface="Avenir Next"/>
                <a:cs typeface="Avenir Next"/>
              </a:defRPr>
            </a:lvl7pPr>
            <a:lvl8pPr algn="l">
              <a:defRPr sz="1050" b="1" i="0">
                <a:solidFill>
                  <a:srgbClr val="60716D"/>
                </a:solidFill>
                <a:latin typeface="Avenir Next"/>
                <a:ea typeface="Avenir Next"/>
                <a:cs typeface="Avenir Next"/>
              </a:defRPr>
            </a:lvl8pPr>
            <a:lvl9pPr algn="l">
              <a:defRPr sz="1050" b="1" i="0">
                <a:solidFill>
                  <a:srgbClr val="60716D"/>
                </a:solidFill>
                <a:latin typeface="Avenir Next"/>
                <a:ea typeface="Avenir Next"/>
                <a:cs typeface="Avenir Next"/>
              </a:defRPr>
            </a:lvl9pPr>
          </a:lstStyle>
          <a:p xmlns:a="http://schemas.openxmlformats.org/drawingml/2006/main">
            <a:pPr algn="l">
              <a:defRPr sz="1050" b="1" i="0">
                <a:solidFill>
                  <a:srgbClr val="60716D"/>
                </a:solidFill>
                <a:latin typeface="Avenir Next"/>
                <a:ea typeface="Avenir Next"/>
                <a:cs typeface="Avenir Next"/>
              </a:defRPr>
            </a:pPr>
            <a:r>
              <a:rPr sz="1050" b="1" i="0">
                <a:solidFill>
                  <a:srgbClr val="60716D"/>
                </a:solidFill>
                <a:latin typeface="Avenir Next"/>
                <a:ea typeface="Avenir Next"/>
                <a:cs typeface="Avenir Next"/>
              </a:rPr>
              <a:t>WEB · MOBILE · BROWSER GUIDE</a:t>
            </a:r>
          </a:p>
        </p:txBody>
      </p:sp>
    </p:spTree>
    <p:extLst>
      <p:ext uri="{BB962C8B-B14F-4D97-AF65-F5344CB8AC3E}">
        <p14:creationId xmlns:p14="http://schemas.microsoft.com/office/powerpoint/2010/main" val="781745523"/>
      </p:ext>
    </p:extLst>
  </p:cSld>
</p:sld>
</file>

<file path=ppt/slides/slide2.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8A71F21-DC02-43D1-8895-483159ABA5D1}"/>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D443E1CB-3E20-4A57-9F8C-781E2A4C45BB}"/>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3F4327E0-7007-40EA-9F84-7C0FA68E67CC}"/>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BAD464E6-B8AE-4440-84FE-67D7E2900E6A}"/>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access problem has a measurable cost</a:t>
            </a:r>
          </a:p>
        </p:txBody>
      </p:sp>
      <p:sp>
        <p:nvSpPr>
          <p:cNvPr id="5" name="">
            <a:extLst xmlns:a="http://schemas.openxmlformats.org/drawingml/2006/main">
              <a:ext uri="{FF2B5EF4-FFF2-40B4-BE49-F238E27FC236}">
                <a16:creationId xmlns:a16="http://schemas.microsoft.com/office/drawing/2014/main" id="{3DA61938-A6F2-4F9F-AD39-AAC62670BBFD}"/>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numbers differ in scope, but they point to the same barrier: eligible people miss help.</a:t>
            </a:r>
          </a:p>
        </p:txBody>
      </p:sp>
      <p:sp>
        <p:nvSpPr>
          <p:cNvPr id="6" name="">
            <a:extLst xmlns:a="http://schemas.openxmlformats.org/drawingml/2006/main">
              <a:ext uri="{FF2B5EF4-FFF2-40B4-BE49-F238E27FC236}">
                <a16:creationId xmlns:a16="http://schemas.microsoft.com/office/drawing/2014/main" id="{B856A246-3027-42D7-9B8F-AB539C9A4881}"/>
              </a:ext>
            </a:extLst>
          </p:cNvPr>
          <p:cNvSpPr>
            <a:spLocks xmlns:a="http://schemas.openxmlformats.org/drawingml/2006/main" noGrp="1"/>
          </p:cNvSpPr>
          <p:nvPr/>
        </p:nvSpPr>
        <p:spPr>
          <a:xfrm xmlns:a="http://schemas.openxmlformats.org/drawingml/2006/main">
            <a:off x="685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EE0C38-02E1-4B65-BBF3-7ADAA6A98D58}"/>
              </a:ext>
            </a:extLst>
          </p:cNvPr>
          <p:cNvSpPr>
            <a:spLocks xmlns:a="http://schemas.openxmlformats.org/drawingml/2006/main" noGrp="1"/>
          </p:cNvSpPr>
          <p:nvPr/>
        </p:nvSpPr>
        <p:spPr>
          <a:xfrm xmlns:a="http://schemas.openxmlformats.org/drawingml/2006/main">
            <a:off x="952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SUNNYVALE</a:t>
            </a:r>
          </a:p>
        </p:txBody>
      </p:sp>
      <p:sp>
        <p:nvSpPr>
          <p:cNvPr id="8" name="">
            <a:extLst xmlns:a="http://schemas.openxmlformats.org/drawingml/2006/main">
              <a:ext uri="{FF2B5EF4-FFF2-40B4-BE49-F238E27FC236}">
                <a16:creationId xmlns:a16="http://schemas.microsoft.com/office/drawing/2014/main" id="{986C3BD8-3790-4A0D-AB19-7BA47826CBAC}"/>
              </a:ext>
            </a:extLst>
          </p:cNvPr>
          <p:cNvSpPr>
            <a:spLocks xmlns:a="http://schemas.openxmlformats.org/drawingml/2006/main" noGrp="1"/>
          </p:cNvSpPr>
          <p:nvPr/>
        </p:nvSpPr>
        <p:spPr>
          <a:xfrm xmlns:a="http://schemas.openxmlformats.org/drawingml/2006/main">
            <a:off x="952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No published total</a:t>
            </a:r>
          </a:p>
        </p:txBody>
      </p:sp>
      <p:sp>
        <p:nvSpPr>
          <p:cNvPr id="9" name="">
            <a:extLst xmlns:a="http://schemas.openxmlformats.org/drawingml/2006/main">
              <a:ext uri="{FF2B5EF4-FFF2-40B4-BE49-F238E27FC236}">
                <a16:creationId xmlns:a16="http://schemas.microsoft.com/office/drawing/2014/main" id="{F9B6CFE6-EEDB-49E0-85B1-CADFE16BCE5E}"/>
              </a:ext>
            </a:extLst>
          </p:cNvPr>
          <p:cNvSpPr>
            <a:spLocks xmlns:a="http://schemas.openxmlformats.org/drawingml/2006/main" noGrp="1"/>
          </p:cNvSpPr>
          <p:nvPr/>
        </p:nvSpPr>
        <p:spPr>
          <a:xfrm xmlns:a="http://schemas.openxmlformats.org/drawingml/2006/main">
            <a:off x="952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No official citywide estimate of missed public benefits</a:t>
            </a:r>
          </a:p>
        </p:txBody>
      </p:sp>
      <p:sp>
        <p:nvSpPr>
          <p:cNvPr id="10" name="">
            <a:extLst xmlns:a="http://schemas.openxmlformats.org/drawingml/2006/main">
              <a:ext uri="{FF2B5EF4-FFF2-40B4-BE49-F238E27FC236}">
                <a16:creationId xmlns:a16="http://schemas.microsoft.com/office/drawing/2014/main" id="{28383123-C907-426F-B936-F201E6CDB55D}"/>
              </a:ext>
            </a:extLst>
          </p:cNvPr>
          <p:cNvSpPr>
            <a:spLocks xmlns:a="http://schemas.openxmlformats.org/drawingml/2006/main" noGrp="1"/>
          </p:cNvSpPr>
          <p:nvPr/>
        </p:nvSpPr>
        <p:spPr>
          <a:xfrm xmlns:a="http://schemas.openxmlformats.org/drawingml/2006/main">
            <a:off x="4114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47CE29-5B3C-4548-83F5-74A127C2292F}"/>
              </a:ext>
            </a:extLst>
          </p:cNvPr>
          <p:cNvSpPr>
            <a:spLocks xmlns:a="http://schemas.openxmlformats.org/drawingml/2006/main" noGrp="1"/>
          </p:cNvSpPr>
          <p:nvPr/>
        </p:nvSpPr>
        <p:spPr>
          <a:xfrm xmlns:a="http://schemas.openxmlformats.org/drawingml/2006/main">
            <a:off x="4381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CALIFORNIA</a:t>
            </a:r>
          </a:p>
        </p:txBody>
      </p:sp>
      <p:sp>
        <p:nvSpPr>
          <p:cNvPr id="12" name="">
            <a:extLst xmlns:a="http://schemas.openxmlformats.org/drawingml/2006/main">
              <a:ext uri="{FF2B5EF4-FFF2-40B4-BE49-F238E27FC236}">
                <a16:creationId xmlns:a16="http://schemas.microsoft.com/office/drawing/2014/main" id="{D08BE4C2-6E66-471A-B89D-16F7B6A528C4}"/>
              </a:ext>
            </a:extLst>
          </p:cNvPr>
          <p:cNvSpPr>
            <a:spLocks xmlns:a="http://schemas.openxmlformats.org/drawingml/2006/main" noGrp="1"/>
          </p:cNvSpPr>
          <p:nvPr/>
        </p:nvSpPr>
        <p:spPr>
          <a:xfrm xmlns:a="http://schemas.openxmlformats.org/drawingml/2006/main">
            <a:off x="4381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Billions each year</a:t>
            </a:r>
          </a:p>
        </p:txBody>
      </p:sp>
      <p:sp>
        <p:nvSpPr>
          <p:cNvPr id="13" name="">
            <a:extLst xmlns:a="http://schemas.openxmlformats.org/drawingml/2006/main">
              <a:ext uri="{FF2B5EF4-FFF2-40B4-BE49-F238E27FC236}">
                <a16:creationId xmlns:a16="http://schemas.microsoft.com/office/drawing/2014/main" id="{A475924F-D731-45EA-A08E-FDE88B86864C}"/>
              </a:ext>
            </a:extLst>
          </p:cNvPr>
          <p:cNvSpPr>
            <a:spLocks xmlns:a="http://schemas.openxmlformats.org/drawingml/2006/main" noGrp="1"/>
          </p:cNvSpPr>
          <p:nvPr/>
        </p:nvSpPr>
        <p:spPr>
          <a:xfrm xmlns:a="http://schemas.openxmlformats.org/drawingml/2006/main">
            <a:off x="4381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Eligible state and federal tax credits go unclaimed</a:t>
            </a:r>
          </a:p>
        </p:txBody>
      </p:sp>
      <p:sp>
        <p:nvSpPr>
          <p:cNvPr id="14" name="">
            <a:extLst xmlns:a="http://schemas.openxmlformats.org/drawingml/2006/main">
              <a:ext uri="{FF2B5EF4-FFF2-40B4-BE49-F238E27FC236}">
                <a16:creationId xmlns:a16="http://schemas.microsoft.com/office/drawing/2014/main" id="{DE14409E-7798-49A5-B700-6D2485223061}"/>
              </a:ext>
            </a:extLst>
          </p:cNvPr>
          <p:cNvSpPr>
            <a:spLocks xmlns:a="http://schemas.openxmlformats.org/drawingml/2006/main" noGrp="1"/>
          </p:cNvSpPr>
          <p:nvPr/>
        </p:nvSpPr>
        <p:spPr>
          <a:xfrm xmlns:a="http://schemas.openxmlformats.org/drawingml/2006/main">
            <a:off x="7543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D944770-D2A2-4FF3-83BE-1BC1C55AD834}"/>
              </a:ext>
            </a:extLst>
          </p:cNvPr>
          <p:cNvSpPr>
            <a:spLocks xmlns:a="http://schemas.openxmlformats.org/drawingml/2006/main" noGrp="1"/>
          </p:cNvSpPr>
          <p:nvPr/>
        </p:nvSpPr>
        <p:spPr>
          <a:xfrm xmlns:a="http://schemas.openxmlformats.org/drawingml/2006/main">
            <a:off x="7810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UNITED STATES</a:t>
            </a:r>
          </a:p>
        </p:txBody>
      </p:sp>
      <p:sp>
        <p:nvSpPr>
          <p:cNvPr id="16" name="">
            <a:extLst xmlns:a="http://schemas.openxmlformats.org/drawingml/2006/main">
              <a:ext uri="{FF2B5EF4-FFF2-40B4-BE49-F238E27FC236}">
                <a16:creationId xmlns:a16="http://schemas.microsoft.com/office/drawing/2014/main" id="{47799D43-7018-4D03-AB9D-AB0E194D97C4}"/>
              </a:ext>
            </a:extLst>
          </p:cNvPr>
          <p:cNvSpPr>
            <a:spLocks xmlns:a="http://schemas.openxmlformats.org/drawingml/2006/main" noGrp="1"/>
          </p:cNvSpPr>
          <p:nvPr/>
        </p:nvSpPr>
        <p:spPr>
          <a:xfrm xmlns:a="http://schemas.openxmlformats.org/drawingml/2006/main">
            <a:off x="7810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$4.7B</a:t>
            </a:r>
          </a:p>
        </p:txBody>
      </p:sp>
      <p:sp>
        <p:nvSpPr>
          <p:cNvPr id="17" name="">
            <a:extLst xmlns:a="http://schemas.openxmlformats.org/drawingml/2006/main">
              <a:ext uri="{FF2B5EF4-FFF2-40B4-BE49-F238E27FC236}">
                <a16:creationId xmlns:a16="http://schemas.microsoft.com/office/drawing/2014/main" id="{0E678453-8755-4C7A-BFA3-61A1E396C222}"/>
              </a:ext>
            </a:extLst>
          </p:cNvPr>
          <p:cNvSpPr>
            <a:spLocks xmlns:a="http://schemas.openxmlformats.org/drawingml/2006/main" noGrp="1"/>
          </p:cNvSpPr>
          <p:nvPr/>
        </p:nvSpPr>
        <p:spPr>
          <a:xfrm xmlns:a="http://schemas.openxmlformats.org/drawingml/2006/main">
            <a:off x="7810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EITC left unclaimed in tax year 2019</a:t>
            </a:r>
          </a:p>
        </p:txBody>
      </p:sp>
      <p:sp>
        <p:nvSpPr>
          <p:cNvPr id="18" name="">
            <a:extLst xmlns:a="http://schemas.openxmlformats.org/drawingml/2006/main">
              <a:ext uri="{FF2B5EF4-FFF2-40B4-BE49-F238E27FC236}">
                <a16:creationId xmlns:a16="http://schemas.microsoft.com/office/drawing/2014/main" id="{3CD49F11-8173-4968-B00C-50287059BDAB}"/>
              </a:ext>
            </a:extLst>
          </p:cNvPr>
          <p:cNvSpPr>
            <a:spLocks xmlns:a="http://schemas.openxmlformats.org/drawingml/2006/main" noGrp="1"/>
          </p:cNvSpPr>
          <p:nvPr/>
        </p:nvSpPr>
        <p:spPr>
          <a:xfrm xmlns:a="http://schemas.openxmlformats.org/drawingml/2006/main">
            <a:off x="685800" y="5943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BEDBCF"/>
                </a:solidFill>
                <a:latin typeface="Avenir Next"/>
                <a:ea typeface="Avenir Next"/>
                <a:cs typeface="Avenir Next"/>
              </a:defRPr>
            </a:defPPr>
            <a:lvl1pPr algn="ctr">
              <a:defRPr sz="1125" b="0" i="0">
                <a:solidFill>
                  <a:srgbClr val="BEDBCF"/>
                </a:solidFill>
                <a:latin typeface="Avenir Next"/>
                <a:ea typeface="Avenir Next"/>
                <a:cs typeface="Avenir Next"/>
              </a:defRPr>
            </a:lvl1pPr>
            <a:lvl2pPr algn="ctr">
              <a:defRPr sz="1125" b="0" i="0">
                <a:solidFill>
                  <a:srgbClr val="BEDBCF"/>
                </a:solidFill>
                <a:latin typeface="Avenir Next"/>
                <a:ea typeface="Avenir Next"/>
                <a:cs typeface="Avenir Next"/>
              </a:defRPr>
            </a:lvl2pPr>
            <a:lvl3pPr algn="ctr">
              <a:defRPr sz="1125" b="0" i="0">
                <a:solidFill>
                  <a:srgbClr val="BEDBCF"/>
                </a:solidFill>
                <a:latin typeface="Avenir Next"/>
                <a:ea typeface="Avenir Next"/>
                <a:cs typeface="Avenir Next"/>
              </a:defRPr>
            </a:lvl3pPr>
            <a:lvl4pPr algn="ctr">
              <a:defRPr sz="1125" b="0" i="0">
                <a:solidFill>
                  <a:srgbClr val="BEDBCF"/>
                </a:solidFill>
                <a:latin typeface="Avenir Next"/>
                <a:ea typeface="Avenir Next"/>
                <a:cs typeface="Avenir Next"/>
              </a:defRPr>
            </a:lvl4pPr>
            <a:lvl5pPr algn="ctr">
              <a:defRPr sz="1125" b="0" i="0">
                <a:solidFill>
                  <a:srgbClr val="BEDBCF"/>
                </a:solidFill>
                <a:latin typeface="Avenir Next"/>
                <a:ea typeface="Avenir Next"/>
                <a:cs typeface="Avenir Next"/>
              </a:defRPr>
            </a:lvl5pPr>
            <a:lvl6pPr algn="ctr">
              <a:defRPr sz="1125" b="0" i="0">
                <a:solidFill>
                  <a:srgbClr val="BEDBCF"/>
                </a:solidFill>
                <a:latin typeface="Avenir Next"/>
                <a:ea typeface="Avenir Next"/>
                <a:cs typeface="Avenir Next"/>
              </a:defRPr>
            </a:lvl6pPr>
            <a:lvl7pPr algn="ctr">
              <a:defRPr sz="1125" b="0" i="0">
                <a:solidFill>
                  <a:srgbClr val="BEDBCF"/>
                </a:solidFill>
                <a:latin typeface="Avenir Next"/>
                <a:ea typeface="Avenir Next"/>
                <a:cs typeface="Avenir Next"/>
              </a:defRPr>
            </a:lvl7pPr>
            <a:lvl8pPr algn="ctr">
              <a:defRPr sz="1125" b="0" i="0">
                <a:solidFill>
                  <a:srgbClr val="BEDBCF"/>
                </a:solidFill>
                <a:latin typeface="Avenir Next"/>
                <a:ea typeface="Avenir Next"/>
                <a:cs typeface="Avenir Next"/>
              </a:defRPr>
            </a:lvl8pPr>
            <a:lvl9pPr algn="ctr">
              <a:defRPr sz="1125" b="0" i="0">
                <a:solidFill>
                  <a:srgbClr val="BEDBCF"/>
                </a:solidFill>
                <a:latin typeface="Avenir Next"/>
                <a:ea typeface="Avenir Next"/>
                <a:cs typeface="Avenir Next"/>
              </a:defRPr>
            </a:lvl9pPr>
          </a:lstStyle>
          <a:p xmlns:a="http://schemas.openxmlformats.org/drawingml/2006/main">
            <a:pPr algn="ctr">
              <a:defRPr sz="1125" b="0" i="0">
                <a:solidFill>
                  <a:srgbClr val="BEDBCF"/>
                </a:solidFill>
                <a:latin typeface="Avenir Next"/>
                <a:ea typeface="Avenir Next"/>
                <a:cs typeface="Avenir Next"/>
              </a:defRPr>
            </a:pPr>
            <a:r>
              <a:rPr sz="1125" b="0" i="0">
                <a:solidFill>
                  <a:srgbClr val="BEDBCF"/>
                </a:solidFill>
                <a:latin typeface="Avenir Next"/>
                <a:ea typeface="Avenir Next"/>
                <a:cs typeface="Avenir Next"/>
              </a:rPr>
              <a:t>Do not add the figures together. They use different scopes and time periods.</a:t>
            </a:r>
          </a:p>
        </p:txBody>
      </p:sp>
    </p:spTree>
    <p:extLst>
      <p:ext uri="{BB962C8B-B14F-4D97-AF65-F5344CB8AC3E}">
        <p14:creationId xmlns:p14="http://schemas.microsoft.com/office/powerpoint/2010/main" val="815465082"/>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6251A1-1AE9-4534-A538-8BDBC0ADA753}"/>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3B733167-6AFA-4869-A1BB-3051D44F7A15}"/>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DAFE4885-C03B-45B3-86D8-B0A6F8DCA47C}"/>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45ADD8AC-8BF5-481C-9A92-B6324709B437}"/>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Residents should not need to know the system</a:t>
            </a:r>
          </a:p>
        </p:txBody>
      </p:sp>
      <p:sp>
        <p:nvSpPr>
          <p:cNvPr id="5" name="">
            <a:extLst xmlns:a="http://schemas.openxmlformats.org/drawingml/2006/main">
              <a:ext uri="{FF2B5EF4-FFF2-40B4-BE49-F238E27FC236}">
                <a16:creationId xmlns:a16="http://schemas.microsoft.com/office/drawing/2014/main" id="{07F34375-0D5F-4C7E-BCB3-2B785E5BCF1A}"/>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burden today is on the person asking for help.</a:t>
            </a:r>
          </a:p>
        </p:txBody>
      </p:sp>
      <p:sp>
        <p:nvSpPr>
          <p:cNvPr id="6" name="">
            <a:extLst xmlns:a="http://schemas.openxmlformats.org/drawingml/2006/main">
              <a:ext uri="{FF2B5EF4-FFF2-40B4-BE49-F238E27FC236}">
                <a16:creationId xmlns:a16="http://schemas.microsoft.com/office/drawing/2014/main" id="{74A10E2A-45FC-4095-A69B-94B36209D5E2}"/>
              </a:ext>
            </a:extLst>
          </p:cNvPr>
          <p:cNvSpPr>
            <a:spLocks xmlns:a="http://schemas.openxmlformats.org/drawingml/2006/main" noGrp="1"/>
          </p:cNvSpPr>
          <p:nvPr/>
        </p:nvSpPr>
        <p:spPr>
          <a:xfrm xmlns:a="http://schemas.openxmlformats.org/drawingml/2006/main">
            <a:off x="762000" y="26098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054AAD-8CA4-443C-B9BD-2AB6002294EC}"/>
              </a:ext>
            </a:extLst>
          </p:cNvPr>
          <p:cNvSpPr>
            <a:spLocks xmlns:a="http://schemas.openxmlformats.org/drawingml/2006/main" noGrp="1"/>
          </p:cNvSpPr>
          <p:nvPr/>
        </p:nvSpPr>
        <p:spPr>
          <a:xfrm xmlns:a="http://schemas.openxmlformats.org/drawingml/2006/main">
            <a:off x="847725" y="2743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76887C84-4F69-4146-9DE9-D82CAC723DA8}"/>
              </a:ext>
            </a:extLst>
          </p:cNvPr>
          <p:cNvSpPr>
            <a:spLocks xmlns:a="http://schemas.openxmlformats.org/drawingml/2006/main" noGrp="1"/>
          </p:cNvSpPr>
          <p:nvPr/>
        </p:nvSpPr>
        <p:spPr>
          <a:xfrm xmlns:a="http://schemas.openxmlformats.org/drawingml/2006/main">
            <a:off x="1562100" y="2571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Find the right doorway</a:t>
            </a:r>
          </a:p>
        </p:txBody>
      </p:sp>
      <p:sp>
        <p:nvSpPr>
          <p:cNvPr id="9" name="">
            <a:extLst xmlns:a="http://schemas.openxmlformats.org/drawingml/2006/main">
              <a:ext uri="{FF2B5EF4-FFF2-40B4-BE49-F238E27FC236}">
                <a16:creationId xmlns:a16="http://schemas.microsoft.com/office/drawing/2014/main" id="{12FA85BF-AC4D-4FF4-B811-B146D33A81F0}"/>
              </a:ext>
            </a:extLst>
          </p:cNvPr>
          <p:cNvSpPr>
            <a:spLocks xmlns:a="http://schemas.openxmlformats.org/drawingml/2006/main" noGrp="1"/>
          </p:cNvSpPr>
          <p:nvPr/>
        </p:nvSpPr>
        <p:spPr>
          <a:xfrm xmlns:a="http://schemas.openxmlformats.org/drawingml/2006/main">
            <a:off x="5524500" y="25527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Programs are scattered across city, county, state, federal, utility, and community websites.</a:t>
            </a:r>
          </a:p>
        </p:txBody>
      </p:sp>
      <p:sp>
        <p:nvSpPr>
          <p:cNvPr id="10" name="">
            <a:extLst xmlns:a="http://schemas.openxmlformats.org/drawingml/2006/main">
              <a:ext uri="{FF2B5EF4-FFF2-40B4-BE49-F238E27FC236}">
                <a16:creationId xmlns:a16="http://schemas.microsoft.com/office/drawing/2014/main" id="{982A7BEE-AD9B-4EA6-8020-51BA6E93987B}"/>
              </a:ext>
            </a:extLst>
          </p:cNvPr>
          <p:cNvSpPr>
            <a:spLocks xmlns:a="http://schemas.openxmlformats.org/drawingml/2006/main" noGrp="1"/>
          </p:cNvSpPr>
          <p:nvPr/>
        </p:nvSpPr>
        <p:spPr>
          <a:xfrm xmlns:a="http://schemas.openxmlformats.org/drawingml/2006/main">
            <a:off x="1019175" y="31242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AA75D2-118A-422B-9D7E-0C183D6C7D34}"/>
              </a:ext>
            </a:extLst>
          </p:cNvPr>
          <p:cNvSpPr>
            <a:spLocks xmlns:a="http://schemas.openxmlformats.org/drawingml/2006/main" noGrp="1"/>
          </p:cNvSpPr>
          <p:nvPr/>
        </p:nvSpPr>
        <p:spPr>
          <a:xfrm xmlns:a="http://schemas.openxmlformats.org/drawingml/2006/main">
            <a:off x="762000" y="3790950"/>
            <a:ext cx="514350" cy="5143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FCC80A2-B7A6-4F21-9AEA-EB09CF8571F4}"/>
              </a:ext>
            </a:extLst>
          </p:cNvPr>
          <p:cNvSpPr>
            <a:spLocks xmlns:a="http://schemas.openxmlformats.org/drawingml/2006/main" noGrp="1"/>
          </p:cNvSpPr>
          <p:nvPr/>
        </p:nvSpPr>
        <p:spPr>
          <a:xfrm xmlns:a="http://schemas.openxmlformats.org/drawingml/2006/main">
            <a:off x="847725" y="3924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5942E06B-AEF4-421C-A884-7A08DB1A4AAF}"/>
              </a:ext>
            </a:extLst>
          </p:cNvPr>
          <p:cNvSpPr>
            <a:spLocks xmlns:a="http://schemas.openxmlformats.org/drawingml/2006/main" noGrp="1"/>
          </p:cNvSpPr>
          <p:nvPr/>
        </p:nvSpPr>
        <p:spPr>
          <a:xfrm xmlns:a="http://schemas.openxmlformats.org/drawingml/2006/main">
            <a:off x="1562100" y="37528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Interpret the rules</a:t>
            </a:r>
          </a:p>
        </p:txBody>
      </p:sp>
      <p:sp>
        <p:nvSpPr>
          <p:cNvPr id="14" name="">
            <a:extLst xmlns:a="http://schemas.openxmlformats.org/drawingml/2006/main">
              <a:ext uri="{FF2B5EF4-FFF2-40B4-BE49-F238E27FC236}">
                <a16:creationId xmlns:a16="http://schemas.microsoft.com/office/drawing/2014/main" id="{94932BD3-AE2A-4A74-99FF-F429312B5E2F}"/>
              </a:ext>
            </a:extLst>
          </p:cNvPr>
          <p:cNvSpPr>
            <a:spLocks xmlns:a="http://schemas.openxmlformats.org/drawingml/2006/main" noGrp="1"/>
          </p:cNvSpPr>
          <p:nvPr/>
        </p:nvSpPr>
        <p:spPr>
          <a:xfrm xmlns:a="http://schemas.openxmlformats.org/drawingml/2006/main">
            <a:off x="5524500" y="37338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Eligibility language is hard to compare, and missing information can feel like a rejection.</a:t>
            </a:r>
          </a:p>
        </p:txBody>
      </p:sp>
      <p:sp>
        <p:nvSpPr>
          <p:cNvPr id="15" name="">
            <a:extLst xmlns:a="http://schemas.openxmlformats.org/drawingml/2006/main">
              <a:ext uri="{FF2B5EF4-FFF2-40B4-BE49-F238E27FC236}">
                <a16:creationId xmlns:a16="http://schemas.microsoft.com/office/drawing/2014/main" id="{346C8C06-54D3-4D7F-A94F-3BC77262C44D}"/>
              </a:ext>
            </a:extLst>
          </p:cNvPr>
          <p:cNvSpPr>
            <a:spLocks xmlns:a="http://schemas.openxmlformats.org/drawingml/2006/main" noGrp="1"/>
          </p:cNvSpPr>
          <p:nvPr/>
        </p:nvSpPr>
        <p:spPr>
          <a:xfrm xmlns:a="http://schemas.openxmlformats.org/drawingml/2006/main">
            <a:off x="1019175" y="43053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E10666-7EED-45E1-997C-371C58F6080C}"/>
              </a:ext>
            </a:extLst>
          </p:cNvPr>
          <p:cNvSpPr>
            <a:spLocks xmlns:a="http://schemas.openxmlformats.org/drawingml/2006/main" noGrp="1"/>
          </p:cNvSpPr>
          <p:nvPr/>
        </p:nvSpPr>
        <p:spPr>
          <a:xfrm xmlns:a="http://schemas.openxmlformats.org/drawingml/2006/main">
            <a:off x="762000" y="49720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71CC1A-7B57-44BE-AF39-B7C62D80B676}"/>
              </a:ext>
            </a:extLst>
          </p:cNvPr>
          <p:cNvSpPr>
            <a:spLocks xmlns:a="http://schemas.openxmlformats.org/drawingml/2006/main" noGrp="1"/>
          </p:cNvSpPr>
          <p:nvPr/>
        </p:nvSpPr>
        <p:spPr>
          <a:xfrm xmlns:a="http://schemas.openxmlformats.org/drawingml/2006/main">
            <a:off x="847725" y="5105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CB8124E7-2584-42B3-9ADE-0ED74448734D}"/>
              </a:ext>
            </a:extLst>
          </p:cNvPr>
          <p:cNvSpPr>
            <a:spLocks xmlns:a="http://schemas.openxmlformats.org/drawingml/2006/main" noGrp="1"/>
          </p:cNvSpPr>
          <p:nvPr/>
        </p:nvSpPr>
        <p:spPr>
          <a:xfrm xmlns:a="http://schemas.openxmlformats.org/drawingml/2006/main">
            <a:off x="1562100" y="4933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Finish the application</a:t>
            </a:r>
          </a:p>
        </p:txBody>
      </p:sp>
      <p:sp>
        <p:nvSpPr>
          <p:cNvPr id="19" name="">
            <a:extLst xmlns:a="http://schemas.openxmlformats.org/drawingml/2006/main">
              <a:ext uri="{FF2B5EF4-FFF2-40B4-BE49-F238E27FC236}">
                <a16:creationId xmlns:a16="http://schemas.microsoft.com/office/drawing/2014/main" id="{FFF5F48F-DFFF-4061-86F7-B8F8181A64F5}"/>
              </a:ext>
            </a:extLst>
          </p:cNvPr>
          <p:cNvSpPr>
            <a:spLocks xmlns:a="http://schemas.openxmlformats.org/drawingml/2006/main" noGrp="1"/>
          </p:cNvSpPr>
          <p:nvPr/>
        </p:nvSpPr>
        <p:spPr>
          <a:xfrm xmlns:a="http://schemas.openxmlformats.org/drawingml/2006/main">
            <a:off x="5524500" y="49149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The guidance often ends exactly when a resident reaches the official form.</a:t>
            </a:r>
          </a:p>
        </p:txBody>
      </p:sp>
      <p:sp>
        <p:nvSpPr>
          <p:cNvPr id="20" name="">
            <a:extLst xmlns:a="http://schemas.openxmlformats.org/drawingml/2006/main">
              <a:ext uri="{FF2B5EF4-FFF2-40B4-BE49-F238E27FC236}">
                <a16:creationId xmlns:a16="http://schemas.microsoft.com/office/drawing/2014/main" id="{4A0114F4-5540-4556-9DF7-D51597F31FA5}"/>
              </a:ext>
            </a:extLst>
          </p:cNvPr>
          <p:cNvSpPr>
            <a:spLocks xmlns:a="http://schemas.openxmlformats.org/drawingml/2006/main" noGrp="1"/>
          </p:cNvSpPr>
          <p:nvPr/>
        </p:nvSpPr>
        <p:spPr>
          <a:xfrm xmlns:a="http://schemas.openxmlformats.org/drawingml/2006/main">
            <a:off x="685800" y="6191250"/>
            <a:ext cx="10820400" cy="190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BAE5BAC-A0E3-49D9-B772-8997CAF148BD}"/>
              </a:ext>
            </a:extLst>
          </p:cNvPr>
          <p:cNvSpPr>
            <a:spLocks xmlns:a="http://schemas.openxmlformats.org/drawingml/2006/main" noGrp="1"/>
          </p:cNvSpPr>
          <p:nvPr/>
        </p:nvSpPr>
        <p:spPr>
          <a:xfrm xmlns:a="http://schemas.openxmlformats.org/drawingml/2006/main">
            <a:off x="685800" y="6334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The goal is not more information. It is a clear next action.</a:t>
            </a:r>
          </a:p>
        </p:txBody>
      </p:sp>
    </p:spTree>
    <p:extLst>
      <p:ext uri="{BB962C8B-B14F-4D97-AF65-F5344CB8AC3E}">
        <p14:creationId xmlns:p14="http://schemas.microsoft.com/office/powerpoint/2010/main" val="119063858"/>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A3AA24F-78D7-4827-B7F4-67A5108DC2DA}"/>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77DF40BE-8E85-42E5-9550-1C654353E571}"/>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3A4C453E-AEC5-4E23-A79F-2F7972080D62}"/>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CA17A399-C07E-40F1-AFA6-BE41BC6777F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One conversation creates a guided path</a:t>
            </a:r>
          </a:p>
        </p:txBody>
      </p:sp>
      <p:sp>
        <p:nvSpPr>
          <p:cNvPr id="5" name="">
            <a:extLst xmlns:a="http://schemas.openxmlformats.org/drawingml/2006/main">
              <a:ext uri="{FF2B5EF4-FFF2-40B4-BE49-F238E27FC236}">
                <a16:creationId xmlns:a16="http://schemas.microsoft.com/office/drawing/2014/main" id="{37B3D0A8-F867-4A77-A05B-9BC081EB92AC}"/>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Questions are optional. The resident stays in control of what they share.</a:t>
            </a:r>
          </a:p>
        </p:txBody>
      </p:sp>
      <p:sp>
        <p:nvSpPr>
          <p:cNvPr id="6" name="">
            <a:extLst xmlns:a="http://schemas.openxmlformats.org/drawingml/2006/main">
              <a:ext uri="{FF2B5EF4-FFF2-40B4-BE49-F238E27FC236}">
                <a16:creationId xmlns:a16="http://schemas.microsoft.com/office/drawing/2014/main" id="{B03E6D6C-C62C-4E6A-A025-C7103D15B5AA}"/>
              </a:ext>
            </a:extLst>
          </p:cNvPr>
          <p:cNvSpPr>
            <a:spLocks xmlns:a="http://schemas.openxmlformats.org/drawingml/2006/main" noGrp="1"/>
          </p:cNvSpPr>
          <p:nvPr/>
        </p:nvSpPr>
        <p:spPr>
          <a:xfrm xmlns:a="http://schemas.openxmlformats.org/drawingml/2006/main">
            <a:off x="1333500" y="3086100"/>
            <a:ext cx="94297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8F493E-5DC3-4745-9501-B02F21A1E9F9}"/>
              </a:ext>
            </a:extLst>
          </p:cNvPr>
          <p:cNvSpPr>
            <a:spLocks xmlns:a="http://schemas.openxmlformats.org/drawingml/2006/main" noGrp="1"/>
          </p:cNvSpPr>
          <p:nvPr/>
        </p:nvSpPr>
        <p:spPr>
          <a:xfrm xmlns:a="http://schemas.openxmlformats.org/drawingml/2006/main">
            <a:off x="13906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B4961E-8EDA-4CE8-B02B-A943351A7FC7}"/>
              </a:ext>
            </a:extLst>
          </p:cNvPr>
          <p:cNvSpPr>
            <a:spLocks xmlns:a="http://schemas.openxmlformats.org/drawingml/2006/main" noGrp="1"/>
          </p:cNvSpPr>
          <p:nvPr/>
        </p:nvSpPr>
        <p:spPr>
          <a:xfrm xmlns:a="http://schemas.openxmlformats.org/drawingml/2006/main">
            <a:off x="15811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2C9A1129-E602-4D79-B5BE-11856C5FADA0}"/>
              </a:ext>
            </a:extLst>
          </p:cNvPr>
          <p:cNvSpPr>
            <a:spLocks xmlns:a="http://schemas.openxmlformats.org/drawingml/2006/main" noGrp="1"/>
          </p:cNvSpPr>
          <p:nvPr/>
        </p:nvSpPr>
        <p:spPr>
          <a:xfrm xmlns:a="http://schemas.openxmlformats.org/drawingml/2006/main">
            <a:off x="6858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Tell your story</a:t>
            </a:r>
          </a:p>
        </p:txBody>
      </p:sp>
      <p:sp>
        <p:nvSpPr>
          <p:cNvPr id="10" name="">
            <a:extLst xmlns:a="http://schemas.openxmlformats.org/drawingml/2006/main">
              <a:ext uri="{FF2B5EF4-FFF2-40B4-BE49-F238E27FC236}">
                <a16:creationId xmlns:a16="http://schemas.microsoft.com/office/drawing/2014/main" id="{1E86D026-2877-4B71-BD65-00B4D95AC631}"/>
              </a:ext>
            </a:extLst>
          </p:cNvPr>
          <p:cNvSpPr>
            <a:spLocks xmlns:a="http://schemas.openxmlformats.org/drawingml/2006/main" noGrp="1"/>
          </p:cNvSpPr>
          <p:nvPr/>
        </p:nvSpPr>
        <p:spPr>
          <a:xfrm xmlns:a="http://schemas.openxmlformats.org/drawingml/2006/main">
            <a:off x="6096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Use natural language or choose a sample prompt.</a:t>
            </a:r>
          </a:p>
        </p:txBody>
      </p:sp>
      <p:sp>
        <p:nvSpPr>
          <p:cNvPr id="11" name="">
            <a:extLst xmlns:a="http://schemas.openxmlformats.org/drawingml/2006/main">
              <a:ext uri="{FF2B5EF4-FFF2-40B4-BE49-F238E27FC236}">
                <a16:creationId xmlns:a16="http://schemas.microsoft.com/office/drawing/2014/main" id="{DA92F08D-A2C8-4E57-9CC0-B1F5221C848A}"/>
              </a:ext>
            </a:extLst>
          </p:cNvPr>
          <p:cNvSpPr>
            <a:spLocks xmlns:a="http://schemas.openxmlformats.org/drawingml/2006/main" noGrp="1"/>
          </p:cNvSpPr>
          <p:nvPr/>
        </p:nvSpPr>
        <p:spPr>
          <a:xfrm xmlns:a="http://schemas.openxmlformats.org/drawingml/2006/main">
            <a:off x="407670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FD0061E-6706-4401-A00E-CF8059A6C64C}"/>
              </a:ext>
            </a:extLst>
          </p:cNvPr>
          <p:cNvSpPr>
            <a:spLocks xmlns:a="http://schemas.openxmlformats.org/drawingml/2006/main" noGrp="1"/>
          </p:cNvSpPr>
          <p:nvPr/>
        </p:nvSpPr>
        <p:spPr>
          <a:xfrm xmlns:a="http://schemas.openxmlformats.org/drawingml/2006/main">
            <a:off x="42672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EBE158C9-8642-4571-8319-BD6766457AAF}"/>
              </a:ext>
            </a:extLst>
          </p:cNvPr>
          <p:cNvSpPr>
            <a:spLocks xmlns:a="http://schemas.openxmlformats.org/drawingml/2006/main" noGrp="1"/>
          </p:cNvSpPr>
          <p:nvPr/>
        </p:nvSpPr>
        <p:spPr>
          <a:xfrm xmlns:a="http://schemas.openxmlformats.org/drawingml/2006/main">
            <a:off x="33718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Clarify only what matters</a:t>
            </a:r>
          </a:p>
        </p:txBody>
      </p:sp>
      <p:sp>
        <p:nvSpPr>
          <p:cNvPr id="14" name="">
            <a:extLst xmlns:a="http://schemas.openxmlformats.org/drawingml/2006/main">
              <a:ext uri="{FF2B5EF4-FFF2-40B4-BE49-F238E27FC236}">
                <a16:creationId xmlns:a16="http://schemas.microsoft.com/office/drawing/2014/main" id="{7E0DD87B-32DE-4C27-B2A0-2EFE92A0D794}"/>
              </a:ext>
            </a:extLst>
          </p:cNvPr>
          <p:cNvSpPr>
            <a:spLocks xmlns:a="http://schemas.openxmlformats.org/drawingml/2006/main" noGrp="1"/>
          </p:cNvSpPr>
          <p:nvPr/>
        </p:nvSpPr>
        <p:spPr>
          <a:xfrm xmlns:a="http://schemas.openxmlformats.org/drawingml/2006/main">
            <a:off x="32956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Answer or skip focused follow-up questions.</a:t>
            </a:r>
          </a:p>
        </p:txBody>
      </p:sp>
      <p:sp>
        <p:nvSpPr>
          <p:cNvPr id="15" name="">
            <a:extLst xmlns:a="http://schemas.openxmlformats.org/drawingml/2006/main">
              <a:ext uri="{FF2B5EF4-FFF2-40B4-BE49-F238E27FC236}">
                <a16:creationId xmlns:a16="http://schemas.microsoft.com/office/drawing/2014/main" id="{9C5CB9C8-6CB8-46AF-A6E2-E23D7D11E3CE}"/>
              </a:ext>
            </a:extLst>
          </p:cNvPr>
          <p:cNvSpPr>
            <a:spLocks xmlns:a="http://schemas.openxmlformats.org/drawingml/2006/main" noGrp="1"/>
          </p:cNvSpPr>
          <p:nvPr/>
        </p:nvSpPr>
        <p:spPr>
          <a:xfrm xmlns:a="http://schemas.openxmlformats.org/drawingml/2006/main">
            <a:off x="67627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93D6062-79A0-481F-832F-950F524121A1}"/>
              </a:ext>
            </a:extLst>
          </p:cNvPr>
          <p:cNvSpPr>
            <a:spLocks xmlns:a="http://schemas.openxmlformats.org/drawingml/2006/main" noGrp="1"/>
          </p:cNvSpPr>
          <p:nvPr/>
        </p:nvSpPr>
        <p:spPr>
          <a:xfrm xmlns:a="http://schemas.openxmlformats.org/drawingml/2006/main">
            <a:off x="69532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C89F4298-0370-4BEF-BAB5-8563CD1A0BED}"/>
              </a:ext>
            </a:extLst>
          </p:cNvPr>
          <p:cNvSpPr>
            <a:spLocks xmlns:a="http://schemas.openxmlformats.org/drawingml/2006/main" noGrp="1"/>
          </p:cNvSpPr>
          <p:nvPr/>
        </p:nvSpPr>
        <p:spPr>
          <a:xfrm xmlns:a="http://schemas.openxmlformats.org/drawingml/2006/main">
            <a:off x="60579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Compare possibilities</a:t>
            </a:r>
          </a:p>
        </p:txBody>
      </p:sp>
      <p:sp>
        <p:nvSpPr>
          <p:cNvPr id="18" name="">
            <a:extLst xmlns:a="http://schemas.openxmlformats.org/drawingml/2006/main">
              <a:ext uri="{FF2B5EF4-FFF2-40B4-BE49-F238E27FC236}">
                <a16:creationId xmlns:a16="http://schemas.microsoft.com/office/drawing/2014/main" id="{36A4623B-1B85-45FB-A61D-3A04497032B4}"/>
              </a:ext>
            </a:extLst>
          </p:cNvPr>
          <p:cNvSpPr>
            <a:spLocks xmlns:a="http://schemas.openxmlformats.org/drawingml/2006/main" noGrp="1"/>
          </p:cNvSpPr>
          <p:nvPr/>
        </p:nvSpPr>
        <p:spPr>
          <a:xfrm xmlns:a="http://schemas.openxmlformats.org/drawingml/2006/main">
            <a:off x="59817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See relevant programs with published rules and sources.</a:t>
            </a:r>
          </a:p>
        </p:txBody>
      </p:sp>
      <p:sp>
        <p:nvSpPr>
          <p:cNvPr id="19" name="">
            <a:extLst xmlns:a="http://schemas.openxmlformats.org/drawingml/2006/main">
              <a:ext uri="{FF2B5EF4-FFF2-40B4-BE49-F238E27FC236}">
                <a16:creationId xmlns:a16="http://schemas.microsoft.com/office/drawing/2014/main" id="{B28992E0-508E-4D43-9BB0-AEAE4C2A4B16}"/>
              </a:ext>
            </a:extLst>
          </p:cNvPr>
          <p:cNvSpPr>
            <a:spLocks xmlns:a="http://schemas.openxmlformats.org/drawingml/2006/main" noGrp="1"/>
          </p:cNvSpPr>
          <p:nvPr/>
        </p:nvSpPr>
        <p:spPr>
          <a:xfrm xmlns:a="http://schemas.openxmlformats.org/drawingml/2006/main">
            <a:off x="9448800" y="2781300"/>
            <a:ext cx="647700" cy="647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ABA5D1-B383-44FA-9056-30D20BB28E36}"/>
              </a:ext>
            </a:extLst>
          </p:cNvPr>
          <p:cNvSpPr>
            <a:spLocks xmlns:a="http://schemas.openxmlformats.org/drawingml/2006/main" noGrp="1"/>
          </p:cNvSpPr>
          <p:nvPr/>
        </p:nvSpPr>
        <p:spPr>
          <a:xfrm xmlns:a="http://schemas.openxmlformats.org/drawingml/2006/main">
            <a:off x="96393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94A81784-00D5-4B88-9993-479FDCFC81F1}"/>
              </a:ext>
            </a:extLst>
          </p:cNvPr>
          <p:cNvSpPr>
            <a:spLocks xmlns:a="http://schemas.openxmlformats.org/drawingml/2006/main" noGrp="1"/>
          </p:cNvSpPr>
          <p:nvPr/>
        </p:nvSpPr>
        <p:spPr>
          <a:xfrm xmlns:a="http://schemas.openxmlformats.org/drawingml/2006/main">
            <a:off x="87439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Explore and apply</a:t>
            </a:r>
          </a:p>
        </p:txBody>
      </p:sp>
      <p:sp>
        <p:nvSpPr>
          <p:cNvPr id="22" name="">
            <a:extLst xmlns:a="http://schemas.openxmlformats.org/drawingml/2006/main">
              <a:ext uri="{FF2B5EF4-FFF2-40B4-BE49-F238E27FC236}">
                <a16:creationId xmlns:a16="http://schemas.microsoft.com/office/drawing/2014/main" id="{564C4EBD-4931-41D4-8958-5D07EF2CFC11}"/>
              </a:ext>
            </a:extLst>
          </p:cNvPr>
          <p:cNvSpPr>
            <a:spLocks xmlns:a="http://schemas.openxmlformats.org/drawingml/2006/main" noGrp="1"/>
          </p:cNvSpPr>
          <p:nvPr/>
        </p:nvSpPr>
        <p:spPr>
          <a:xfrm xmlns:a="http://schemas.openxmlformats.org/drawingml/2006/main">
            <a:off x="86677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Ask questions, then continue on the official site with the side-panel guide.</a:t>
            </a:r>
          </a:p>
        </p:txBody>
      </p:sp>
      <p:sp>
        <p:nvSpPr>
          <p:cNvPr id="23" name="">
            <a:extLst xmlns:a="http://schemas.openxmlformats.org/drawingml/2006/main">
              <a:ext uri="{FF2B5EF4-FFF2-40B4-BE49-F238E27FC236}">
                <a16:creationId xmlns:a16="http://schemas.microsoft.com/office/drawing/2014/main" id="{A8F47098-CED3-4A98-98CB-AA566AB11481}"/>
              </a:ext>
            </a:extLst>
          </p:cNvPr>
          <p:cNvSpPr>
            <a:spLocks xmlns:a="http://schemas.openxmlformats.org/drawingml/2006/main" noGrp="1"/>
          </p:cNvSpPr>
          <p:nvPr/>
        </p:nvSpPr>
        <p:spPr>
          <a:xfrm xmlns:a="http://schemas.openxmlformats.org/drawingml/2006/main">
            <a:off x="685800" y="5848350"/>
            <a:ext cx="20002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4" name="">
            <a:extLst xmlns:a="http://schemas.openxmlformats.org/drawingml/2006/main">
              <a:ext uri="{FF2B5EF4-FFF2-40B4-BE49-F238E27FC236}">
                <a16:creationId xmlns:a16="http://schemas.microsoft.com/office/drawing/2014/main" id="{AC4C1CE5-CB21-409D-B002-EA9CB942EEC5}"/>
              </a:ext>
            </a:extLst>
          </p:cNvPr>
          <p:cNvSpPr>
            <a:spLocks xmlns:a="http://schemas.openxmlformats.org/drawingml/2006/main" noGrp="1"/>
          </p:cNvSpPr>
          <p:nvPr/>
        </p:nvSpPr>
        <p:spPr>
          <a:xfrm xmlns:a="http://schemas.openxmlformats.org/drawingml/2006/main">
            <a:off x="781050" y="59245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NO ACCOUNT REQUIRED</a:t>
            </a:r>
          </a:p>
        </p:txBody>
      </p:sp>
      <p:sp>
        <p:nvSpPr>
          <p:cNvPr id="25" name="">
            <a:extLst xmlns:a="http://schemas.openxmlformats.org/drawingml/2006/main">
              <a:ext uri="{FF2B5EF4-FFF2-40B4-BE49-F238E27FC236}">
                <a16:creationId xmlns:a16="http://schemas.microsoft.com/office/drawing/2014/main" id="{AB16C05B-AB05-40AA-B6DF-71F2311E2440}"/>
              </a:ext>
            </a:extLst>
          </p:cNvPr>
          <p:cNvSpPr>
            <a:spLocks xmlns:a="http://schemas.openxmlformats.org/drawingml/2006/main" noGrp="1"/>
          </p:cNvSpPr>
          <p:nvPr/>
        </p:nvSpPr>
        <p:spPr>
          <a:xfrm xmlns:a="http://schemas.openxmlformats.org/drawingml/2006/main">
            <a:off x="2857500" y="5848350"/>
            <a:ext cx="18669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6" name="">
            <a:extLst xmlns:a="http://schemas.openxmlformats.org/drawingml/2006/main">
              <a:ext uri="{FF2B5EF4-FFF2-40B4-BE49-F238E27FC236}">
                <a16:creationId xmlns:a16="http://schemas.microsoft.com/office/drawing/2014/main" id="{3777CD45-704B-4842-8FA4-B9EC029E18CC}"/>
              </a:ext>
            </a:extLst>
          </p:cNvPr>
          <p:cNvSpPr>
            <a:spLocks xmlns:a="http://schemas.openxmlformats.org/drawingml/2006/main" noGrp="1"/>
          </p:cNvSpPr>
          <p:nvPr/>
        </p:nvSpPr>
        <p:spPr>
          <a:xfrm xmlns:a="http://schemas.openxmlformats.org/drawingml/2006/main">
            <a:off x="2952750" y="59245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SKIP ANY QUESTION</a:t>
            </a:r>
          </a:p>
        </p:txBody>
      </p:sp>
      <p:sp>
        <p:nvSpPr>
          <p:cNvPr id="27" name="">
            <a:extLst xmlns:a="http://schemas.openxmlformats.org/drawingml/2006/main">
              <a:ext uri="{FF2B5EF4-FFF2-40B4-BE49-F238E27FC236}">
                <a16:creationId xmlns:a16="http://schemas.microsoft.com/office/drawing/2014/main" id="{6CB652D5-45AE-4D84-B745-B2F20C6E2513}"/>
              </a:ext>
            </a:extLst>
          </p:cNvPr>
          <p:cNvSpPr>
            <a:spLocks xmlns:a="http://schemas.openxmlformats.org/drawingml/2006/main" noGrp="1"/>
          </p:cNvSpPr>
          <p:nvPr/>
        </p:nvSpPr>
        <p:spPr>
          <a:xfrm xmlns:a="http://schemas.openxmlformats.org/drawingml/2006/main">
            <a:off x="4895850" y="5848350"/>
            <a:ext cx="20955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8" name="">
            <a:extLst xmlns:a="http://schemas.openxmlformats.org/drawingml/2006/main">
              <a:ext uri="{FF2B5EF4-FFF2-40B4-BE49-F238E27FC236}">
                <a16:creationId xmlns:a16="http://schemas.microsoft.com/office/drawing/2014/main" id="{9FA3F66E-0B56-4C42-97CC-8294FF5F368E}"/>
              </a:ext>
            </a:extLst>
          </p:cNvPr>
          <p:cNvSpPr>
            <a:spLocks xmlns:a="http://schemas.openxmlformats.org/drawingml/2006/main" noGrp="1"/>
          </p:cNvSpPr>
          <p:nvPr/>
        </p:nvSpPr>
        <p:spPr>
          <a:xfrm xmlns:a="http://schemas.openxmlformats.org/drawingml/2006/main">
            <a:off x="4991100" y="5924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 LINKS</a:t>
            </a:r>
          </a:p>
        </p:txBody>
      </p:sp>
      <p:sp>
        <p:nvSpPr>
          <p:cNvPr id="29" name="">
            <a:extLst xmlns:a="http://schemas.openxmlformats.org/drawingml/2006/main">
              <a:ext uri="{FF2B5EF4-FFF2-40B4-BE49-F238E27FC236}">
                <a16:creationId xmlns:a16="http://schemas.microsoft.com/office/drawing/2014/main" id="{23D3F073-C013-4A55-8B84-0DBD1E9C2679}"/>
              </a:ext>
            </a:extLst>
          </p:cNvPr>
          <p:cNvSpPr>
            <a:spLocks xmlns:a="http://schemas.openxmlformats.org/drawingml/2006/main" noGrp="1"/>
          </p:cNvSpPr>
          <p:nvPr/>
        </p:nvSpPr>
        <p:spPr>
          <a:xfrm xmlns:a="http://schemas.openxmlformats.org/drawingml/2006/main">
            <a:off x="7162800" y="5848350"/>
            <a:ext cx="18859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0" name="">
            <a:extLst xmlns:a="http://schemas.openxmlformats.org/drawingml/2006/main">
              <a:ext uri="{FF2B5EF4-FFF2-40B4-BE49-F238E27FC236}">
                <a16:creationId xmlns:a16="http://schemas.microsoft.com/office/drawing/2014/main" id="{1B945722-B051-4CE3-8DF9-4390A084D511}"/>
              </a:ext>
            </a:extLst>
          </p:cNvPr>
          <p:cNvSpPr>
            <a:spLocks xmlns:a="http://schemas.openxmlformats.org/drawingml/2006/main" noGrp="1"/>
          </p:cNvSpPr>
          <p:nvPr/>
        </p:nvSpPr>
        <p:spPr>
          <a:xfrm xmlns:a="http://schemas.openxmlformats.org/drawingml/2006/main">
            <a:off x="7258050" y="59245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MOBILE + DESKTOP</a:t>
            </a:r>
          </a:p>
        </p:txBody>
      </p:sp>
      <p:sp>
        <p:nvSpPr>
          <p:cNvPr id="31" name="">
            <a:extLst xmlns:a="http://schemas.openxmlformats.org/drawingml/2006/main">
              <a:ext uri="{FF2B5EF4-FFF2-40B4-BE49-F238E27FC236}">
                <a16:creationId xmlns:a16="http://schemas.microsoft.com/office/drawing/2014/main" id="{F68E5143-DD7E-456C-87AE-56C7F71F9D6C}"/>
              </a:ext>
            </a:extLst>
          </p:cNvPr>
          <p:cNvSpPr>
            <a:spLocks xmlns:a="http://schemas.openxmlformats.org/drawingml/2006/main" noGrp="1"/>
          </p:cNvSpPr>
          <p:nvPr/>
        </p:nvSpPr>
        <p:spPr>
          <a:xfrm xmlns:a="http://schemas.openxmlformats.org/drawingml/2006/main">
            <a:off x="9220200" y="5848350"/>
            <a:ext cx="22860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2" name="">
            <a:extLst xmlns:a="http://schemas.openxmlformats.org/drawingml/2006/main">
              <a:ext uri="{FF2B5EF4-FFF2-40B4-BE49-F238E27FC236}">
                <a16:creationId xmlns:a16="http://schemas.microsoft.com/office/drawing/2014/main" id="{37740623-3FC8-4A6A-AA7F-834E87AA871C}"/>
              </a:ext>
            </a:extLst>
          </p:cNvPr>
          <p:cNvSpPr>
            <a:spLocks xmlns:a="http://schemas.openxmlformats.org/drawingml/2006/main" noGrp="1"/>
          </p:cNvSpPr>
          <p:nvPr/>
        </p:nvSpPr>
        <p:spPr>
          <a:xfrm xmlns:a="http://schemas.openxmlformats.org/drawingml/2006/main">
            <a:off x="9315450" y="5924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ACCESSIBLE BY DESIGN</a:t>
            </a:r>
          </a:p>
        </p:txBody>
      </p:sp>
    </p:spTree>
    <p:extLst>
      <p:ext uri="{BB962C8B-B14F-4D97-AF65-F5344CB8AC3E}">
        <p14:creationId xmlns:p14="http://schemas.microsoft.com/office/powerpoint/2010/main" val="744940599"/>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966DFCF-1703-4ACE-BF3F-E7BBE7F09F46}"/>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E20313BC-194A-42A7-939F-001CFD1B2F8A}"/>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DA05033-F81B-4DCC-99B2-512881C1600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81962E51-8F00-4E81-A102-04D95AD635DF}"/>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Every result is built to be checked</a:t>
            </a:r>
          </a:p>
        </p:txBody>
      </p:sp>
      <p:sp>
        <p:nvSpPr>
          <p:cNvPr id="5" name="">
            <a:extLst xmlns:a="http://schemas.openxmlformats.org/drawingml/2006/main">
              <a:ext uri="{FF2B5EF4-FFF2-40B4-BE49-F238E27FC236}">
                <a16:creationId xmlns:a16="http://schemas.microsoft.com/office/drawing/2014/main" id="{CEC9CE7E-8281-44C6-953C-3CC85D80B5FE}"/>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AI explains the match. Published rules and program administrators decide.</a:t>
            </a:r>
          </a:p>
        </p:txBody>
      </p:sp>
      <p:sp>
        <p:nvSpPr>
          <p:cNvPr id="6" name="">
            <a:extLst xmlns:a="http://schemas.openxmlformats.org/drawingml/2006/main">
              <a:ext uri="{FF2B5EF4-FFF2-40B4-BE49-F238E27FC236}">
                <a16:creationId xmlns:a16="http://schemas.microsoft.com/office/drawing/2014/main" id="{843B18B5-216C-442C-8C43-473880BEF9FD}"/>
              </a:ext>
            </a:extLst>
          </p:cNvPr>
          <p:cNvSpPr>
            <a:spLocks xmlns:a="http://schemas.openxmlformats.org/drawingml/2006/main" noGrp="1"/>
          </p:cNvSpPr>
          <p:nvPr/>
        </p:nvSpPr>
        <p:spPr>
          <a:xfrm xmlns:a="http://schemas.openxmlformats.org/drawingml/2006/main">
            <a:off x="685800" y="2476500"/>
            <a:ext cx="7000875" cy="3333750"/>
          </a:xfrm>
          <a:prstGeom xmlns:a="http://schemas.openxmlformats.org/drawingml/2006/main" prst="roundRect">
            <a:avLst>
              <a:gd name="adj" fmla="val 3429"/>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7105BC43-12A8-473A-BCBB-5AD15F6493DD}"/>
              </a:ext>
            </a:extLst>
          </p:cNvPr>
          <p:cNvSpPr>
            <a:spLocks xmlns:a="http://schemas.openxmlformats.org/drawingml/2006/main" noGrp="1"/>
          </p:cNvSpPr>
          <p:nvPr/>
        </p:nvSpPr>
        <p:spPr>
          <a:xfrm xmlns:a="http://schemas.openxmlformats.org/drawingml/2006/main">
            <a:off x="1047750" y="2819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HOME SUPPORT · SUNNYVALE</a:t>
            </a:r>
          </a:p>
        </p:txBody>
      </p:sp>
      <p:sp>
        <p:nvSpPr>
          <p:cNvPr id="8" name="">
            <a:extLst xmlns:a="http://schemas.openxmlformats.org/drawingml/2006/main">
              <a:ext uri="{FF2B5EF4-FFF2-40B4-BE49-F238E27FC236}">
                <a16:creationId xmlns:a16="http://schemas.microsoft.com/office/drawing/2014/main" id="{53EB647A-4F48-4DDE-85CB-DF5879A8292F}"/>
              </a:ext>
            </a:extLst>
          </p:cNvPr>
          <p:cNvSpPr>
            <a:spLocks xmlns:a="http://schemas.openxmlformats.org/drawingml/2006/main" noGrp="1"/>
          </p:cNvSpPr>
          <p:nvPr/>
        </p:nvSpPr>
        <p:spPr>
          <a:xfrm xmlns:a="http://schemas.openxmlformats.org/drawingml/2006/main">
            <a:off x="1047750" y="32575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Sunnyvale Home Access Grant</a:t>
            </a:r>
          </a:p>
        </p:txBody>
      </p:sp>
      <p:sp>
        <p:nvSpPr>
          <p:cNvPr id="9" name="">
            <a:extLst xmlns:a="http://schemas.openxmlformats.org/drawingml/2006/main">
              <a:ext uri="{FF2B5EF4-FFF2-40B4-BE49-F238E27FC236}">
                <a16:creationId xmlns:a16="http://schemas.microsoft.com/office/drawing/2014/main" id="{C9D0655B-F103-46A2-9048-5CE24A225669}"/>
              </a:ext>
            </a:extLst>
          </p:cNvPr>
          <p:cNvSpPr>
            <a:spLocks xmlns:a="http://schemas.openxmlformats.org/drawingml/2006/main" noGrp="1"/>
          </p:cNvSpPr>
          <p:nvPr/>
        </p:nvSpPr>
        <p:spPr>
          <a:xfrm xmlns:a="http://schemas.openxmlformats.org/drawingml/2006/main">
            <a:off x="1047750" y="390525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145D4F"/>
                </a:solidFill>
                <a:latin typeface="Avenir Next"/>
                <a:ea typeface="Avenir Next"/>
                <a:cs typeface="Avenir Next"/>
              </a:defRPr>
            </a:defPPr>
            <a:lvl1pPr algn="l">
              <a:defRPr sz="1650" b="1" i="0">
                <a:solidFill>
                  <a:srgbClr val="145D4F"/>
                </a:solidFill>
                <a:latin typeface="Avenir Next"/>
                <a:ea typeface="Avenir Next"/>
                <a:cs typeface="Avenir Next"/>
              </a:defRPr>
            </a:lvl1pPr>
            <a:lvl2pPr algn="l">
              <a:defRPr sz="1650" b="1" i="0">
                <a:solidFill>
                  <a:srgbClr val="145D4F"/>
                </a:solidFill>
                <a:latin typeface="Avenir Next"/>
                <a:ea typeface="Avenir Next"/>
                <a:cs typeface="Avenir Next"/>
              </a:defRPr>
            </a:lvl2pPr>
            <a:lvl3pPr algn="l">
              <a:defRPr sz="1650" b="1" i="0">
                <a:solidFill>
                  <a:srgbClr val="145D4F"/>
                </a:solidFill>
                <a:latin typeface="Avenir Next"/>
                <a:ea typeface="Avenir Next"/>
                <a:cs typeface="Avenir Next"/>
              </a:defRPr>
            </a:lvl3pPr>
            <a:lvl4pPr algn="l">
              <a:defRPr sz="1650" b="1" i="0">
                <a:solidFill>
                  <a:srgbClr val="145D4F"/>
                </a:solidFill>
                <a:latin typeface="Avenir Next"/>
                <a:ea typeface="Avenir Next"/>
                <a:cs typeface="Avenir Next"/>
              </a:defRPr>
            </a:lvl4pPr>
            <a:lvl5pPr algn="l">
              <a:defRPr sz="1650" b="1" i="0">
                <a:solidFill>
                  <a:srgbClr val="145D4F"/>
                </a:solidFill>
                <a:latin typeface="Avenir Next"/>
                <a:ea typeface="Avenir Next"/>
                <a:cs typeface="Avenir Next"/>
              </a:defRPr>
            </a:lvl5pPr>
            <a:lvl6pPr algn="l">
              <a:defRPr sz="1650" b="1" i="0">
                <a:solidFill>
                  <a:srgbClr val="145D4F"/>
                </a:solidFill>
                <a:latin typeface="Avenir Next"/>
                <a:ea typeface="Avenir Next"/>
                <a:cs typeface="Avenir Next"/>
              </a:defRPr>
            </a:lvl6pPr>
            <a:lvl7pPr algn="l">
              <a:defRPr sz="1650" b="1" i="0">
                <a:solidFill>
                  <a:srgbClr val="145D4F"/>
                </a:solidFill>
                <a:latin typeface="Avenir Next"/>
                <a:ea typeface="Avenir Next"/>
                <a:cs typeface="Avenir Next"/>
              </a:defRPr>
            </a:lvl7pPr>
            <a:lvl8pPr algn="l">
              <a:defRPr sz="1650" b="1" i="0">
                <a:solidFill>
                  <a:srgbClr val="145D4F"/>
                </a:solidFill>
                <a:latin typeface="Avenir Next"/>
                <a:ea typeface="Avenir Next"/>
                <a:cs typeface="Avenir Next"/>
              </a:defRPr>
            </a:lvl8pPr>
            <a:lvl9pPr algn="l">
              <a:defRPr sz="1650" b="1" i="0">
                <a:solidFill>
                  <a:srgbClr val="145D4F"/>
                </a:solidFill>
                <a:latin typeface="Avenir Next"/>
                <a:ea typeface="Avenir Next"/>
                <a:cs typeface="Avenir Next"/>
              </a:defRPr>
            </a:lvl9pPr>
          </a:lstStyle>
          <a:p xmlns:a="http://schemas.openxmlformats.org/drawingml/2006/main">
            <a:pPr algn="l">
              <a:defRPr sz="1650" b="1" i="0">
                <a:solidFill>
                  <a:srgbClr val="145D4F"/>
                </a:solidFill>
                <a:latin typeface="Avenir Next"/>
                <a:ea typeface="Avenir Next"/>
                <a:cs typeface="Avenir Next"/>
              </a:defRPr>
            </a:pPr>
            <a:r>
              <a:rPr sz="1650" b="1" i="0">
                <a:solidFill>
                  <a:srgbClr val="145D4F"/>
                </a:solidFill>
                <a:latin typeface="Avenir Next"/>
                <a:ea typeface="Avenir Next"/>
                <a:cs typeface="Avenir Next"/>
              </a:rPr>
              <a:t>Up to $9,500 for accessibility improvements</a:t>
            </a:r>
          </a:p>
        </p:txBody>
      </p:sp>
      <p:sp>
        <p:nvSpPr>
          <p:cNvPr id="10" name="">
            <a:extLst xmlns:a="http://schemas.openxmlformats.org/drawingml/2006/main">
              <a:ext uri="{FF2B5EF4-FFF2-40B4-BE49-F238E27FC236}">
                <a16:creationId xmlns:a16="http://schemas.microsoft.com/office/drawing/2014/main" id="{8AD7DB42-BAF3-4836-9AA6-CB0CDD92AE63}"/>
              </a:ext>
            </a:extLst>
          </p:cNvPr>
          <p:cNvSpPr>
            <a:spLocks xmlns:a="http://schemas.openxmlformats.org/drawingml/2006/main" noGrp="1"/>
          </p:cNvSpPr>
          <p:nvPr/>
        </p:nvSpPr>
        <p:spPr>
          <a:xfrm xmlns:a="http://schemas.openxmlformats.org/drawingml/2006/main">
            <a:off x="1066800" y="46291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B5CFFD-ADFB-42D8-99FB-4D47BEFC7658}"/>
              </a:ext>
            </a:extLst>
          </p:cNvPr>
          <p:cNvSpPr>
            <a:spLocks xmlns:a="http://schemas.openxmlformats.org/drawingml/2006/main" noGrp="1"/>
          </p:cNvSpPr>
          <p:nvPr/>
        </p:nvSpPr>
        <p:spPr>
          <a:xfrm xmlns:a="http://schemas.openxmlformats.org/drawingml/2006/main">
            <a:off x="1076325" y="46005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70B718C4-43F2-47B4-BC45-64BFDBBBEEDC}"/>
              </a:ext>
            </a:extLst>
          </p:cNvPr>
          <p:cNvSpPr>
            <a:spLocks xmlns:a="http://schemas.openxmlformats.org/drawingml/2006/main" noGrp="1"/>
          </p:cNvSpPr>
          <p:nvPr/>
        </p:nvSpPr>
        <p:spPr>
          <a:xfrm xmlns:a="http://schemas.openxmlformats.org/drawingml/2006/main">
            <a:off x="1409700" y="4610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Published eligibility</a:t>
            </a:r>
          </a:p>
        </p:txBody>
      </p:sp>
      <p:sp>
        <p:nvSpPr>
          <p:cNvPr id="13" name="">
            <a:extLst xmlns:a="http://schemas.openxmlformats.org/drawingml/2006/main">
              <a:ext uri="{FF2B5EF4-FFF2-40B4-BE49-F238E27FC236}">
                <a16:creationId xmlns:a16="http://schemas.microsoft.com/office/drawing/2014/main" id="{45CA0C78-121D-4196-82E2-C68DE1620DC5}"/>
              </a:ext>
            </a:extLst>
          </p:cNvPr>
          <p:cNvSpPr>
            <a:spLocks xmlns:a="http://schemas.openxmlformats.org/drawingml/2006/main" noGrp="1"/>
          </p:cNvSpPr>
          <p:nvPr/>
        </p:nvSpPr>
        <p:spPr>
          <a:xfrm xmlns:a="http://schemas.openxmlformats.org/drawingml/2006/main">
            <a:off x="3143250" y="46101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Lower-income Sunnyvale homeowners who are seniors or have a disability</a:t>
            </a:r>
          </a:p>
        </p:txBody>
      </p:sp>
      <p:sp>
        <p:nvSpPr>
          <p:cNvPr id="14" name="">
            <a:extLst xmlns:a="http://schemas.openxmlformats.org/drawingml/2006/main">
              <a:ext uri="{FF2B5EF4-FFF2-40B4-BE49-F238E27FC236}">
                <a16:creationId xmlns:a16="http://schemas.microsoft.com/office/drawing/2014/main" id="{33108666-04B9-4C67-AB27-EF5413E0CB53}"/>
              </a:ext>
            </a:extLst>
          </p:cNvPr>
          <p:cNvSpPr>
            <a:spLocks xmlns:a="http://schemas.openxmlformats.org/drawingml/2006/main" noGrp="1"/>
          </p:cNvSpPr>
          <p:nvPr/>
        </p:nvSpPr>
        <p:spPr>
          <a:xfrm xmlns:a="http://schemas.openxmlformats.org/drawingml/2006/main">
            <a:off x="1066800" y="50482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2637B8-3BBA-4C50-863D-650C12578B24}"/>
              </a:ext>
            </a:extLst>
          </p:cNvPr>
          <p:cNvSpPr>
            <a:spLocks xmlns:a="http://schemas.openxmlformats.org/drawingml/2006/main" noGrp="1"/>
          </p:cNvSpPr>
          <p:nvPr/>
        </p:nvSpPr>
        <p:spPr>
          <a:xfrm xmlns:a="http://schemas.openxmlformats.org/drawingml/2006/main">
            <a:off x="1076325" y="50196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31A9CF2B-72E2-4F9E-B853-B051428E89F4}"/>
              </a:ext>
            </a:extLst>
          </p:cNvPr>
          <p:cNvSpPr>
            <a:spLocks xmlns:a="http://schemas.openxmlformats.org/drawingml/2006/main" noGrp="1"/>
          </p:cNvSpPr>
          <p:nvPr/>
        </p:nvSpPr>
        <p:spPr>
          <a:xfrm xmlns:a="http://schemas.openxmlformats.org/drawingml/2006/main">
            <a:off x="1409700" y="5029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a:t>
            </a:r>
          </a:p>
        </p:txBody>
      </p:sp>
      <p:sp>
        <p:nvSpPr>
          <p:cNvPr id="17" name="">
            <a:extLst xmlns:a="http://schemas.openxmlformats.org/drawingml/2006/main">
              <a:ext uri="{FF2B5EF4-FFF2-40B4-BE49-F238E27FC236}">
                <a16:creationId xmlns:a16="http://schemas.microsoft.com/office/drawing/2014/main" id="{CD31375D-8E88-48FD-BE70-D59476FBB092}"/>
              </a:ext>
            </a:extLst>
          </p:cNvPr>
          <p:cNvSpPr>
            <a:spLocks xmlns:a="http://schemas.openxmlformats.org/drawingml/2006/main" noGrp="1"/>
          </p:cNvSpPr>
          <p:nvPr/>
        </p:nvSpPr>
        <p:spPr>
          <a:xfrm xmlns:a="http://schemas.openxmlformats.org/drawingml/2006/main">
            <a:off x="3143250" y="50292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City of Sunnyvale</a:t>
            </a:r>
          </a:p>
        </p:txBody>
      </p:sp>
      <p:sp>
        <p:nvSpPr>
          <p:cNvPr id="18" name="">
            <a:extLst xmlns:a="http://schemas.openxmlformats.org/drawingml/2006/main">
              <a:ext uri="{FF2B5EF4-FFF2-40B4-BE49-F238E27FC236}">
                <a16:creationId xmlns:a16="http://schemas.microsoft.com/office/drawing/2014/main" id="{70BC0A20-F012-4FC5-B939-2394025B179E}"/>
              </a:ext>
            </a:extLst>
          </p:cNvPr>
          <p:cNvSpPr>
            <a:spLocks xmlns:a="http://schemas.openxmlformats.org/drawingml/2006/main" noGrp="1"/>
          </p:cNvSpPr>
          <p:nvPr/>
        </p:nvSpPr>
        <p:spPr>
          <a:xfrm xmlns:a="http://schemas.openxmlformats.org/drawingml/2006/main">
            <a:off x="1066800" y="54673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6A23A03-2238-466E-B63A-BBFE881E2A06}"/>
              </a:ext>
            </a:extLst>
          </p:cNvPr>
          <p:cNvSpPr>
            <a:spLocks xmlns:a="http://schemas.openxmlformats.org/drawingml/2006/main" noGrp="1"/>
          </p:cNvSpPr>
          <p:nvPr/>
        </p:nvSpPr>
        <p:spPr>
          <a:xfrm xmlns:a="http://schemas.openxmlformats.org/drawingml/2006/main">
            <a:off x="1076325" y="54387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E9E34FC8-1B00-4C79-B154-126531E133B5}"/>
              </a:ext>
            </a:extLst>
          </p:cNvPr>
          <p:cNvSpPr>
            <a:spLocks xmlns:a="http://schemas.openxmlformats.org/drawingml/2006/main" noGrp="1"/>
          </p:cNvSpPr>
          <p:nvPr/>
        </p:nvSpPr>
        <p:spPr>
          <a:xfrm xmlns:a="http://schemas.openxmlformats.org/drawingml/2006/main">
            <a:off x="1409700" y="5448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Last checked</a:t>
            </a:r>
          </a:p>
        </p:txBody>
      </p:sp>
      <p:sp>
        <p:nvSpPr>
          <p:cNvPr id="21" name="">
            <a:extLst xmlns:a="http://schemas.openxmlformats.org/drawingml/2006/main">
              <a:ext uri="{FF2B5EF4-FFF2-40B4-BE49-F238E27FC236}">
                <a16:creationId xmlns:a16="http://schemas.microsoft.com/office/drawing/2014/main" id="{59CE8D8A-0FC4-4D58-8431-F08F58357596}"/>
              </a:ext>
            </a:extLst>
          </p:cNvPr>
          <p:cNvSpPr>
            <a:spLocks xmlns:a="http://schemas.openxmlformats.org/drawingml/2006/main" noGrp="1"/>
          </p:cNvSpPr>
          <p:nvPr/>
        </p:nvSpPr>
        <p:spPr>
          <a:xfrm xmlns:a="http://schemas.openxmlformats.org/drawingml/2006/main">
            <a:off x="3143250" y="54483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October 18, 2026</a:t>
            </a:r>
          </a:p>
        </p:txBody>
      </p:sp>
      <p:sp>
        <p:nvSpPr>
          <p:cNvPr id="22" name="">
            <a:extLst xmlns:a="http://schemas.openxmlformats.org/drawingml/2006/main">
              <a:ext uri="{FF2B5EF4-FFF2-40B4-BE49-F238E27FC236}">
                <a16:creationId xmlns:a16="http://schemas.microsoft.com/office/drawing/2014/main" id="{DAB306F0-7F71-46F2-B6DB-C46425E739A4}"/>
              </a:ext>
            </a:extLst>
          </p:cNvPr>
          <p:cNvSpPr>
            <a:spLocks xmlns:a="http://schemas.openxmlformats.org/drawingml/2006/main" noGrp="1"/>
          </p:cNvSpPr>
          <p:nvPr/>
        </p:nvSpPr>
        <p:spPr>
          <a:xfrm xmlns:a="http://schemas.openxmlformats.org/drawingml/2006/main">
            <a:off x="8058150" y="2476500"/>
            <a:ext cx="3448050" cy="1524000"/>
          </a:xfrm>
          <a:prstGeom xmlns:a="http://schemas.openxmlformats.org/drawingml/2006/main" prst="roundRect">
            <a:avLst>
              <a:gd name="adj" fmla="val 7500"/>
            </a:avLst>
          </a:prstGeom>
          <a:solidFill xmlns:a="http://schemas.openxmlformats.org/drawingml/2006/main">
            <a:srgbClr val="0C4B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72111A6-2A76-456B-8AB9-C70272A13467}"/>
              </a:ext>
            </a:extLst>
          </p:cNvPr>
          <p:cNvSpPr>
            <a:spLocks xmlns:a="http://schemas.openxmlformats.org/drawingml/2006/main" noGrp="1"/>
          </p:cNvSpPr>
          <p:nvPr/>
        </p:nvSpPr>
        <p:spPr>
          <a:xfrm xmlns:a="http://schemas.openxmlformats.org/drawingml/2006/main">
            <a:off x="8401050" y="2819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i="0">
                <a:solidFill>
                  <a:srgbClr val="FFFFFF"/>
                </a:solidFill>
                <a:latin typeface="Avenir Next"/>
                <a:ea typeface="Avenir Next"/>
                <a:cs typeface="Avenir Next"/>
              </a:defRPr>
            </a:defPPr>
            <a:lvl1pPr algn="l">
              <a:defRPr sz="1875" b="1" i="0">
                <a:solidFill>
                  <a:srgbClr val="FFFFFF"/>
                </a:solidFill>
                <a:latin typeface="Avenir Next"/>
                <a:ea typeface="Avenir Next"/>
                <a:cs typeface="Avenir Next"/>
              </a:defRPr>
            </a:lvl1pPr>
            <a:lvl2pPr algn="l">
              <a:defRPr sz="1875" b="1" i="0">
                <a:solidFill>
                  <a:srgbClr val="FFFFFF"/>
                </a:solidFill>
                <a:latin typeface="Avenir Next"/>
                <a:ea typeface="Avenir Next"/>
                <a:cs typeface="Avenir Next"/>
              </a:defRPr>
            </a:lvl2pPr>
            <a:lvl3pPr algn="l">
              <a:defRPr sz="1875" b="1" i="0">
                <a:solidFill>
                  <a:srgbClr val="FFFFFF"/>
                </a:solidFill>
                <a:latin typeface="Avenir Next"/>
                <a:ea typeface="Avenir Next"/>
                <a:cs typeface="Avenir Next"/>
              </a:defRPr>
            </a:lvl3pPr>
            <a:lvl4pPr algn="l">
              <a:defRPr sz="1875" b="1" i="0">
                <a:solidFill>
                  <a:srgbClr val="FFFFFF"/>
                </a:solidFill>
                <a:latin typeface="Avenir Next"/>
                <a:ea typeface="Avenir Next"/>
                <a:cs typeface="Avenir Next"/>
              </a:defRPr>
            </a:lvl4pPr>
            <a:lvl5pPr algn="l">
              <a:defRPr sz="1875" b="1" i="0">
                <a:solidFill>
                  <a:srgbClr val="FFFFFF"/>
                </a:solidFill>
                <a:latin typeface="Avenir Next"/>
                <a:ea typeface="Avenir Next"/>
                <a:cs typeface="Avenir Next"/>
              </a:defRPr>
            </a:lvl5pPr>
            <a:lvl6pPr algn="l">
              <a:defRPr sz="1875" b="1" i="0">
                <a:solidFill>
                  <a:srgbClr val="FFFFFF"/>
                </a:solidFill>
                <a:latin typeface="Avenir Next"/>
                <a:ea typeface="Avenir Next"/>
                <a:cs typeface="Avenir Next"/>
              </a:defRPr>
            </a:lvl6pPr>
            <a:lvl7pPr algn="l">
              <a:defRPr sz="1875" b="1" i="0">
                <a:solidFill>
                  <a:srgbClr val="FFFFFF"/>
                </a:solidFill>
                <a:latin typeface="Avenir Next"/>
                <a:ea typeface="Avenir Next"/>
                <a:cs typeface="Avenir Next"/>
              </a:defRPr>
            </a:lvl7pPr>
            <a:lvl8pPr algn="l">
              <a:defRPr sz="1875" b="1" i="0">
                <a:solidFill>
                  <a:srgbClr val="FFFFFF"/>
                </a:solidFill>
                <a:latin typeface="Avenir Next"/>
                <a:ea typeface="Avenir Next"/>
                <a:cs typeface="Avenir Next"/>
              </a:defRPr>
            </a:lvl8pPr>
            <a:lvl9pPr algn="l">
              <a:defRPr sz="1875" b="1" i="0">
                <a:solidFill>
                  <a:srgbClr val="FFFFFF"/>
                </a:solidFill>
                <a:latin typeface="Avenir Next"/>
                <a:ea typeface="Avenir Next"/>
                <a:cs typeface="Avenir Next"/>
              </a:defRPr>
            </a:lvl9pPr>
          </a:lstStyle>
          <a:p xmlns:a="http://schemas.openxmlformats.org/drawingml/2006/main">
            <a:pPr algn="l">
              <a:defRPr sz="1875" b="1" i="0">
                <a:solidFill>
                  <a:srgbClr val="FFFFFF"/>
                </a:solidFill>
                <a:latin typeface="Avenir Next"/>
                <a:ea typeface="Avenir Next"/>
                <a:cs typeface="Avenir Next"/>
              </a:defRPr>
            </a:pPr>
            <a:r>
              <a:rPr sz="1875" b="1" i="0">
                <a:solidFill>
                  <a:srgbClr val="FFFFFF"/>
                </a:solidFill>
                <a:latin typeface="Avenir Next"/>
                <a:ea typeface="Avenir Next"/>
                <a:cs typeface="Avenir Next"/>
              </a:rPr>
              <a:t>Why it may fit</a:t>
            </a:r>
          </a:p>
        </p:txBody>
      </p:sp>
      <p:sp>
        <p:nvSpPr>
          <p:cNvPr id="24" name="">
            <a:extLst xmlns:a="http://schemas.openxmlformats.org/drawingml/2006/main">
              <a:ext uri="{FF2B5EF4-FFF2-40B4-BE49-F238E27FC236}">
                <a16:creationId xmlns:a16="http://schemas.microsoft.com/office/drawing/2014/main" id="{CE1681D0-7BD3-410F-8A3D-D40E1E202BE9}"/>
              </a:ext>
            </a:extLst>
          </p:cNvPr>
          <p:cNvSpPr>
            <a:spLocks xmlns:a="http://schemas.openxmlformats.org/drawingml/2006/main" noGrp="1"/>
          </p:cNvSpPr>
          <p:nvPr/>
        </p:nvSpPr>
        <p:spPr>
          <a:xfrm xmlns:a="http://schemas.openxmlformats.org/drawingml/2006/main">
            <a:off x="8401050" y="33528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BEDBCF"/>
                </a:solidFill>
                <a:latin typeface="Avenir Next"/>
                <a:ea typeface="Avenir Next"/>
                <a:cs typeface="Avenir Next"/>
              </a:defRPr>
            </a:defPPr>
            <a:lvl1pPr algn="l">
              <a:defRPr sz="1275" b="0" i="0">
                <a:solidFill>
                  <a:srgbClr val="BEDBCF"/>
                </a:solidFill>
                <a:latin typeface="Avenir Next"/>
                <a:ea typeface="Avenir Next"/>
                <a:cs typeface="Avenir Next"/>
              </a:defRPr>
            </a:lvl1pPr>
            <a:lvl2pPr algn="l">
              <a:defRPr sz="1275" b="0" i="0">
                <a:solidFill>
                  <a:srgbClr val="BEDBCF"/>
                </a:solidFill>
                <a:latin typeface="Avenir Next"/>
                <a:ea typeface="Avenir Next"/>
                <a:cs typeface="Avenir Next"/>
              </a:defRPr>
            </a:lvl2pPr>
            <a:lvl3pPr algn="l">
              <a:defRPr sz="1275" b="0" i="0">
                <a:solidFill>
                  <a:srgbClr val="BEDBCF"/>
                </a:solidFill>
                <a:latin typeface="Avenir Next"/>
                <a:ea typeface="Avenir Next"/>
                <a:cs typeface="Avenir Next"/>
              </a:defRPr>
            </a:lvl3pPr>
            <a:lvl4pPr algn="l">
              <a:defRPr sz="1275" b="0" i="0">
                <a:solidFill>
                  <a:srgbClr val="BEDBCF"/>
                </a:solidFill>
                <a:latin typeface="Avenir Next"/>
                <a:ea typeface="Avenir Next"/>
                <a:cs typeface="Avenir Next"/>
              </a:defRPr>
            </a:lvl4pPr>
            <a:lvl5pPr algn="l">
              <a:defRPr sz="1275" b="0" i="0">
                <a:solidFill>
                  <a:srgbClr val="BEDBCF"/>
                </a:solidFill>
                <a:latin typeface="Avenir Next"/>
                <a:ea typeface="Avenir Next"/>
                <a:cs typeface="Avenir Next"/>
              </a:defRPr>
            </a:lvl5pPr>
            <a:lvl6pPr algn="l">
              <a:defRPr sz="1275" b="0" i="0">
                <a:solidFill>
                  <a:srgbClr val="BEDBCF"/>
                </a:solidFill>
                <a:latin typeface="Avenir Next"/>
                <a:ea typeface="Avenir Next"/>
                <a:cs typeface="Avenir Next"/>
              </a:defRPr>
            </a:lvl6pPr>
            <a:lvl7pPr algn="l">
              <a:defRPr sz="1275" b="0" i="0">
                <a:solidFill>
                  <a:srgbClr val="BEDBCF"/>
                </a:solidFill>
                <a:latin typeface="Avenir Next"/>
                <a:ea typeface="Avenir Next"/>
                <a:cs typeface="Avenir Next"/>
              </a:defRPr>
            </a:lvl7pPr>
            <a:lvl8pPr algn="l">
              <a:defRPr sz="1275" b="0" i="0">
                <a:solidFill>
                  <a:srgbClr val="BEDBCF"/>
                </a:solidFill>
                <a:latin typeface="Avenir Next"/>
                <a:ea typeface="Avenir Next"/>
                <a:cs typeface="Avenir Next"/>
              </a:defRPr>
            </a:lvl8pPr>
            <a:lvl9pPr algn="l">
              <a:defRPr sz="1275" b="0" i="0">
                <a:solidFill>
                  <a:srgbClr val="BEDBCF"/>
                </a:solidFill>
                <a:latin typeface="Avenir Next"/>
                <a:ea typeface="Avenir Next"/>
                <a:cs typeface="Avenir Next"/>
              </a:defRPr>
            </a:lvl9pPr>
          </a:lstStyle>
          <a:p xmlns:a="http://schemas.openxmlformats.org/drawingml/2006/main">
            <a:pPr algn="l">
              <a:defRPr sz="1275" b="0" i="0">
                <a:solidFill>
                  <a:srgbClr val="BEDBCF"/>
                </a:solidFill>
                <a:latin typeface="Avenir Next"/>
                <a:ea typeface="Avenir Next"/>
                <a:cs typeface="Avenir Next"/>
              </a:defRPr>
            </a:pPr>
            <a:r>
              <a:rPr sz="1275" b="0" i="0">
                <a:solidFill>
                  <a:srgbClr val="BEDBCF"/>
                </a:solidFill>
                <a:latin typeface="Avenir Next"/>
                <a:ea typeface="Avenir Next"/>
                <a:cs typeface="Avenir Next"/>
              </a:rPr>
              <a:t>A short explanation based only on the facts the resident chose to share.</a:t>
            </a:r>
          </a:p>
        </p:txBody>
      </p:sp>
      <p:sp>
        <p:nvSpPr>
          <p:cNvPr id="25" name="">
            <a:extLst xmlns:a="http://schemas.openxmlformats.org/drawingml/2006/main">
              <a:ext uri="{FF2B5EF4-FFF2-40B4-BE49-F238E27FC236}">
                <a16:creationId xmlns:a16="http://schemas.microsoft.com/office/drawing/2014/main" id="{90435600-AB73-4ECC-8766-B5DED8CE7500}"/>
              </a:ext>
            </a:extLst>
          </p:cNvPr>
          <p:cNvSpPr>
            <a:spLocks xmlns:a="http://schemas.openxmlformats.org/drawingml/2006/main" noGrp="1"/>
          </p:cNvSpPr>
          <p:nvPr/>
        </p:nvSpPr>
        <p:spPr>
          <a:xfrm xmlns:a="http://schemas.openxmlformats.org/drawingml/2006/main">
            <a:off x="8058150" y="4267200"/>
            <a:ext cx="3448050" cy="1543050"/>
          </a:xfrm>
          <a:prstGeom xmlns:a="http://schemas.openxmlformats.org/drawingml/2006/main" prst="roundRect">
            <a:avLst>
              <a:gd name="adj" fmla="val 7407"/>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9C1B388-9E0C-4DE4-8DD0-0ED456793F82}"/>
              </a:ext>
            </a:extLst>
          </p:cNvPr>
          <p:cNvSpPr>
            <a:spLocks xmlns:a="http://schemas.openxmlformats.org/drawingml/2006/main" noGrp="1"/>
          </p:cNvSpPr>
          <p:nvPr/>
        </p:nvSpPr>
        <p:spPr>
          <a:xfrm xmlns:a="http://schemas.openxmlformats.org/drawingml/2006/main">
            <a:off x="8401050" y="4572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73E35"/>
                </a:solidFill>
                <a:latin typeface="Avenir Next"/>
                <a:ea typeface="Avenir Next"/>
                <a:cs typeface="Avenir Next"/>
              </a:defRPr>
            </a:defPPr>
            <a:lvl1pPr algn="l">
              <a:defRPr sz="1800" b="1" i="0">
                <a:solidFill>
                  <a:srgbClr val="073E35"/>
                </a:solidFill>
                <a:latin typeface="Avenir Next"/>
                <a:ea typeface="Avenir Next"/>
                <a:cs typeface="Avenir Next"/>
              </a:defRPr>
            </a:lvl1pPr>
            <a:lvl2pPr algn="l">
              <a:defRPr sz="1800" b="1" i="0">
                <a:solidFill>
                  <a:srgbClr val="073E35"/>
                </a:solidFill>
                <a:latin typeface="Avenir Next"/>
                <a:ea typeface="Avenir Next"/>
                <a:cs typeface="Avenir Next"/>
              </a:defRPr>
            </a:lvl2pPr>
            <a:lvl3pPr algn="l">
              <a:defRPr sz="1800" b="1" i="0">
                <a:solidFill>
                  <a:srgbClr val="073E35"/>
                </a:solidFill>
                <a:latin typeface="Avenir Next"/>
                <a:ea typeface="Avenir Next"/>
                <a:cs typeface="Avenir Next"/>
              </a:defRPr>
            </a:lvl3pPr>
            <a:lvl4pPr algn="l">
              <a:defRPr sz="1800" b="1" i="0">
                <a:solidFill>
                  <a:srgbClr val="073E35"/>
                </a:solidFill>
                <a:latin typeface="Avenir Next"/>
                <a:ea typeface="Avenir Next"/>
                <a:cs typeface="Avenir Next"/>
              </a:defRPr>
            </a:lvl4pPr>
            <a:lvl5pPr algn="l">
              <a:defRPr sz="1800" b="1" i="0">
                <a:solidFill>
                  <a:srgbClr val="073E35"/>
                </a:solidFill>
                <a:latin typeface="Avenir Next"/>
                <a:ea typeface="Avenir Next"/>
                <a:cs typeface="Avenir Next"/>
              </a:defRPr>
            </a:lvl5pPr>
            <a:lvl6pPr algn="l">
              <a:defRPr sz="1800" b="1" i="0">
                <a:solidFill>
                  <a:srgbClr val="073E35"/>
                </a:solidFill>
                <a:latin typeface="Avenir Next"/>
                <a:ea typeface="Avenir Next"/>
                <a:cs typeface="Avenir Next"/>
              </a:defRPr>
            </a:lvl6pPr>
            <a:lvl7pPr algn="l">
              <a:defRPr sz="1800" b="1" i="0">
                <a:solidFill>
                  <a:srgbClr val="073E35"/>
                </a:solidFill>
                <a:latin typeface="Avenir Next"/>
                <a:ea typeface="Avenir Next"/>
                <a:cs typeface="Avenir Next"/>
              </a:defRPr>
            </a:lvl7pPr>
            <a:lvl8pPr algn="l">
              <a:defRPr sz="1800" b="1" i="0">
                <a:solidFill>
                  <a:srgbClr val="073E35"/>
                </a:solidFill>
                <a:latin typeface="Avenir Next"/>
                <a:ea typeface="Avenir Next"/>
                <a:cs typeface="Avenir Next"/>
              </a:defRPr>
            </a:lvl8pPr>
            <a:lvl9pPr algn="l">
              <a:defRPr sz="1800" b="1" i="0">
                <a:solidFill>
                  <a:srgbClr val="073E35"/>
                </a:solidFill>
                <a:latin typeface="Avenir Next"/>
                <a:ea typeface="Avenir Next"/>
                <a:cs typeface="Avenir Next"/>
              </a:defRPr>
            </a:lvl9pPr>
          </a:lstStyle>
          <a:p xmlns:a="http://schemas.openxmlformats.org/drawingml/2006/main">
            <a:pPr algn="l">
              <a:defRPr sz="1800" b="1" i="0">
                <a:solidFill>
                  <a:srgbClr val="073E35"/>
                </a:solidFill>
                <a:latin typeface="Avenir Next"/>
                <a:ea typeface="Avenir Next"/>
                <a:cs typeface="Avenir Next"/>
              </a:defRPr>
            </a:pPr>
            <a:r>
              <a:rPr sz="1800" b="1" i="0">
                <a:solidFill>
                  <a:srgbClr val="073E35"/>
                </a:solidFill>
                <a:latin typeface="Avenir Next"/>
                <a:ea typeface="Avenir Next"/>
                <a:cs typeface="Avenir Next"/>
              </a:rPr>
              <a:t>Explore this</a:t>
            </a:r>
          </a:p>
        </p:txBody>
      </p:sp>
      <p:sp>
        <p:nvSpPr>
          <p:cNvPr id="27" name="">
            <a:extLst xmlns:a="http://schemas.openxmlformats.org/drawingml/2006/main">
              <a:ext uri="{FF2B5EF4-FFF2-40B4-BE49-F238E27FC236}">
                <a16:creationId xmlns:a16="http://schemas.microsoft.com/office/drawing/2014/main" id="{D3191C02-0E9E-4F95-9B21-B0F46451F67D}"/>
              </a:ext>
            </a:extLst>
          </p:cNvPr>
          <p:cNvSpPr>
            <a:spLocks xmlns:a="http://schemas.openxmlformats.org/drawingml/2006/main" noGrp="1"/>
          </p:cNvSpPr>
          <p:nvPr/>
        </p:nvSpPr>
        <p:spPr>
          <a:xfrm xmlns:a="http://schemas.openxmlformats.org/drawingml/2006/main">
            <a:off x="8401050" y="50482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11816"/>
                </a:solidFill>
                <a:latin typeface="Avenir Next"/>
                <a:ea typeface="Avenir Next"/>
                <a:cs typeface="Avenir Next"/>
              </a:defRPr>
            </a:defPPr>
            <a:lvl1pPr algn="l">
              <a:defRPr sz="1200" b="0" i="0">
                <a:solidFill>
                  <a:srgbClr val="111816"/>
                </a:solidFill>
                <a:latin typeface="Avenir Next"/>
                <a:ea typeface="Avenir Next"/>
                <a:cs typeface="Avenir Next"/>
              </a:defRPr>
            </a:lvl1pPr>
            <a:lvl2pPr algn="l">
              <a:defRPr sz="1200" b="0" i="0">
                <a:solidFill>
                  <a:srgbClr val="111816"/>
                </a:solidFill>
                <a:latin typeface="Avenir Next"/>
                <a:ea typeface="Avenir Next"/>
                <a:cs typeface="Avenir Next"/>
              </a:defRPr>
            </a:lvl2pPr>
            <a:lvl3pPr algn="l">
              <a:defRPr sz="1200" b="0" i="0">
                <a:solidFill>
                  <a:srgbClr val="111816"/>
                </a:solidFill>
                <a:latin typeface="Avenir Next"/>
                <a:ea typeface="Avenir Next"/>
                <a:cs typeface="Avenir Next"/>
              </a:defRPr>
            </a:lvl3pPr>
            <a:lvl4pPr algn="l">
              <a:defRPr sz="1200" b="0" i="0">
                <a:solidFill>
                  <a:srgbClr val="111816"/>
                </a:solidFill>
                <a:latin typeface="Avenir Next"/>
                <a:ea typeface="Avenir Next"/>
                <a:cs typeface="Avenir Next"/>
              </a:defRPr>
            </a:lvl4pPr>
            <a:lvl5pPr algn="l">
              <a:defRPr sz="1200" b="0" i="0">
                <a:solidFill>
                  <a:srgbClr val="111816"/>
                </a:solidFill>
                <a:latin typeface="Avenir Next"/>
                <a:ea typeface="Avenir Next"/>
                <a:cs typeface="Avenir Next"/>
              </a:defRPr>
            </a:lvl5pPr>
            <a:lvl6pPr algn="l">
              <a:defRPr sz="1200" b="0" i="0">
                <a:solidFill>
                  <a:srgbClr val="111816"/>
                </a:solidFill>
                <a:latin typeface="Avenir Next"/>
                <a:ea typeface="Avenir Next"/>
                <a:cs typeface="Avenir Next"/>
              </a:defRPr>
            </a:lvl6pPr>
            <a:lvl7pPr algn="l">
              <a:defRPr sz="1200" b="0" i="0">
                <a:solidFill>
                  <a:srgbClr val="111816"/>
                </a:solidFill>
                <a:latin typeface="Avenir Next"/>
                <a:ea typeface="Avenir Next"/>
                <a:cs typeface="Avenir Next"/>
              </a:defRPr>
            </a:lvl7pPr>
            <a:lvl8pPr algn="l">
              <a:defRPr sz="1200" b="0" i="0">
                <a:solidFill>
                  <a:srgbClr val="111816"/>
                </a:solidFill>
                <a:latin typeface="Avenir Next"/>
                <a:ea typeface="Avenir Next"/>
                <a:cs typeface="Avenir Next"/>
              </a:defRPr>
            </a:lvl8pPr>
            <a:lvl9pPr algn="l">
              <a:defRPr sz="1200" b="0" i="0">
                <a:solidFill>
                  <a:srgbClr val="111816"/>
                </a:solidFill>
                <a:latin typeface="Avenir Next"/>
                <a:ea typeface="Avenir Next"/>
                <a:cs typeface="Avenir Next"/>
              </a:defRPr>
            </a:lvl9pPr>
          </a:lstStyle>
          <a:p xmlns:a="http://schemas.openxmlformats.org/drawingml/2006/main">
            <a:pPr algn="l">
              <a:defRPr sz="1200" b="0" i="0">
                <a:solidFill>
                  <a:srgbClr val="111816"/>
                </a:solidFill>
                <a:latin typeface="Avenir Next"/>
                <a:ea typeface="Avenir Next"/>
                <a:cs typeface="Avenir Next"/>
              </a:defRPr>
            </a:pPr>
            <a:r>
              <a:rPr sz="1200" b="0" i="0">
                <a:solidFill>
                  <a:srgbClr val="111816"/>
                </a:solidFill>
                <a:latin typeface="Avenir Next"/>
                <a:ea typeface="Avenir Next"/>
                <a:cs typeface="Avenir Next"/>
              </a:rPr>
              <a:t>Ask about documents, next steps, deadlines, or published eligibility.</a:t>
            </a:r>
          </a:p>
        </p:txBody>
      </p:sp>
    </p:spTree>
    <p:extLst>
      <p:ext uri="{BB962C8B-B14F-4D97-AF65-F5344CB8AC3E}">
        <p14:creationId xmlns:p14="http://schemas.microsoft.com/office/powerpoint/2010/main" val="1211820485"/>
      </p:ext>
    </p:extLst>
  </p:cSld>
</p:sld>
</file>

<file path=ppt/slides/slide6.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4650CA-3532-4E0A-AD56-54EBA883FBA8}"/>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8C4A5AB3-7199-46C4-BFAF-E74C8064678C}"/>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5AF0AD43-AF58-4697-8039-2B8DC8B74CEB}"/>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D408CBC8-D935-4D93-9975-19449CC7AE77}"/>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guide stays beside the official application</a:t>
            </a:r>
          </a:p>
        </p:txBody>
      </p:sp>
      <p:sp>
        <p:nvSpPr>
          <p:cNvPr id="5" name="">
            <a:extLst xmlns:a="http://schemas.openxmlformats.org/drawingml/2006/main">
              <a:ext uri="{FF2B5EF4-FFF2-40B4-BE49-F238E27FC236}">
                <a16:creationId xmlns:a16="http://schemas.microsoft.com/office/drawing/2014/main" id="{1B1615B7-305B-4A43-9D1A-3F73565E5DA9}"/>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resident does not lose context when they leave the discovery page.</a:t>
            </a:r>
          </a:p>
        </p:txBody>
      </p:sp>
      <p:sp>
        <p:nvSpPr>
          <p:cNvPr id="6" name="">
            <a:extLst xmlns:a="http://schemas.openxmlformats.org/drawingml/2006/main">
              <a:ext uri="{FF2B5EF4-FFF2-40B4-BE49-F238E27FC236}">
                <a16:creationId xmlns:a16="http://schemas.microsoft.com/office/drawing/2014/main" id="{21D55BEB-5115-4019-8E13-B98A5CDA7D97}"/>
              </a:ext>
            </a:extLst>
          </p:cNvPr>
          <p:cNvSpPr>
            <a:spLocks xmlns:a="http://schemas.openxmlformats.org/drawingml/2006/main" noGrp="1"/>
          </p:cNvSpPr>
          <p:nvPr/>
        </p:nvSpPr>
        <p:spPr>
          <a:xfrm xmlns:a="http://schemas.openxmlformats.org/drawingml/2006/main">
            <a:off x="6858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5F69C9-1074-411F-AC13-79F429FC5B7E}"/>
              </a:ext>
            </a:extLst>
          </p:cNvPr>
          <p:cNvSpPr>
            <a:spLocks xmlns:a="http://schemas.openxmlformats.org/drawingml/2006/main" noGrp="1"/>
          </p:cNvSpPr>
          <p:nvPr/>
        </p:nvSpPr>
        <p:spPr>
          <a:xfrm xmlns:a="http://schemas.openxmlformats.org/drawingml/2006/main">
            <a:off x="9525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DISCOVER</a:t>
            </a:r>
          </a:p>
        </p:txBody>
      </p:sp>
      <p:sp>
        <p:nvSpPr>
          <p:cNvPr id="8" name="">
            <a:extLst xmlns:a="http://schemas.openxmlformats.org/drawingml/2006/main">
              <a:ext uri="{FF2B5EF4-FFF2-40B4-BE49-F238E27FC236}">
                <a16:creationId xmlns:a16="http://schemas.microsoft.com/office/drawing/2014/main" id="{F579FA2C-D266-4465-BCAB-B35A93E796F9}"/>
              </a:ext>
            </a:extLst>
          </p:cNvPr>
          <p:cNvSpPr>
            <a:spLocks xmlns:a="http://schemas.openxmlformats.org/drawingml/2006/main" noGrp="1"/>
          </p:cNvSpPr>
          <p:nvPr/>
        </p:nvSpPr>
        <p:spPr>
          <a:xfrm xmlns:a="http://schemas.openxmlformats.org/drawingml/2006/main">
            <a:off x="9525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BenefitBeacon</a:t>
            </a:r>
          </a:p>
        </p:txBody>
      </p:sp>
      <p:sp>
        <p:nvSpPr>
          <p:cNvPr id="9" name="">
            <a:extLst xmlns:a="http://schemas.openxmlformats.org/drawingml/2006/main">
              <a:ext uri="{FF2B5EF4-FFF2-40B4-BE49-F238E27FC236}">
                <a16:creationId xmlns:a16="http://schemas.microsoft.com/office/drawing/2014/main" id="{0FA2BE54-8B0E-476B-9739-8122CEA902FB}"/>
              </a:ext>
            </a:extLst>
          </p:cNvPr>
          <p:cNvSpPr>
            <a:spLocks xmlns:a="http://schemas.openxmlformats.org/drawingml/2006/main" noGrp="1"/>
          </p:cNvSpPr>
          <p:nvPr/>
        </p:nvSpPr>
        <p:spPr>
          <a:xfrm xmlns:a="http://schemas.openxmlformats.org/drawingml/2006/main">
            <a:off x="9525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Find a relevant program and understand why it may apply.</a:t>
            </a:r>
          </a:p>
        </p:txBody>
      </p:sp>
      <p:sp>
        <p:nvSpPr>
          <p:cNvPr id="10" name="">
            <a:extLst xmlns:a="http://schemas.openxmlformats.org/drawingml/2006/main">
              <a:ext uri="{FF2B5EF4-FFF2-40B4-BE49-F238E27FC236}">
                <a16:creationId xmlns:a16="http://schemas.microsoft.com/office/drawing/2014/main" id="{A2CFD881-60D2-4C66-B063-05607AA0C56E}"/>
              </a:ext>
            </a:extLst>
          </p:cNvPr>
          <p:cNvSpPr>
            <a:spLocks xmlns:a="http://schemas.openxmlformats.org/drawingml/2006/main" noGrp="1"/>
          </p:cNvSpPr>
          <p:nvPr/>
        </p:nvSpPr>
        <p:spPr>
          <a:xfrm xmlns:a="http://schemas.openxmlformats.org/drawingml/2006/main">
            <a:off x="392430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4A7CDC-3495-4AE5-849D-7A346D318B49}"/>
              </a:ext>
            </a:extLst>
          </p:cNvPr>
          <p:cNvSpPr>
            <a:spLocks xmlns:a="http://schemas.openxmlformats.org/drawingml/2006/main" noGrp="1"/>
          </p:cNvSpPr>
          <p:nvPr/>
        </p:nvSpPr>
        <p:spPr>
          <a:xfrm xmlns:a="http://schemas.openxmlformats.org/drawingml/2006/main">
            <a:off x="421005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1D7E1C-E2E4-4568-9045-072B15359910}"/>
              </a:ext>
            </a:extLst>
          </p:cNvPr>
          <p:cNvSpPr>
            <a:spLocks xmlns:a="http://schemas.openxmlformats.org/drawingml/2006/main" noGrp="1"/>
          </p:cNvSpPr>
          <p:nvPr/>
        </p:nvSpPr>
        <p:spPr>
          <a:xfrm xmlns:a="http://schemas.openxmlformats.org/drawingml/2006/main">
            <a:off x="440055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9CAAF46-1E6C-4DF6-BEEC-1DF39A59391D}"/>
              </a:ext>
            </a:extLst>
          </p:cNvPr>
          <p:cNvSpPr>
            <a:spLocks xmlns:a="http://schemas.openxmlformats.org/drawingml/2006/main" noGrp="1"/>
          </p:cNvSpPr>
          <p:nvPr/>
        </p:nvSpPr>
        <p:spPr>
          <a:xfrm xmlns:a="http://schemas.openxmlformats.org/drawingml/2006/main">
            <a:off x="466725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UNDERSTAND</a:t>
            </a:r>
          </a:p>
        </p:txBody>
      </p:sp>
      <p:sp>
        <p:nvSpPr>
          <p:cNvPr id="14" name="">
            <a:extLst xmlns:a="http://schemas.openxmlformats.org/drawingml/2006/main">
              <a:ext uri="{FF2B5EF4-FFF2-40B4-BE49-F238E27FC236}">
                <a16:creationId xmlns:a16="http://schemas.microsoft.com/office/drawing/2014/main" id="{DB76633B-53CF-4345-B3DE-6FA0EB5A484E}"/>
              </a:ext>
            </a:extLst>
          </p:cNvPr>
          <p:cNvSpPr>
            <a:spLocks xmlns:a="http://schemas.openxmlformats.org/drawingml/2006/main" noGrp="1"/>
          </p:cNvSpPr>
          <p:nvPr/>
        </p:nvSpPr>
        <p:spPr>
          <a:xfrm xmlns:a="http://schemas.openxmlformats.org/drawingml/2006/main">
            <a:off x="466725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Explore this</a:t>
            </a:r>
          </a:p>
        </p:txBody>
      </p:sp>
      <p:sp>
        <p:nvSpPr>
          <p:cNvPr id="15" name="">
            <a:extLst xmlns:a="http://schemas.openxmlformats.org/drawingml/2006/main">
              <a:ext uri="{FF2B5EF4-FFF2-40B4-BE49-F238E27FC236}">
                <a16:creationId xmlns:a16="http://schemas.microsoft.com/office/drawing/2014/main" id="{C7DAE5BF-8CA9-41DD-8A8C-E04846483F99}"/>
              </a:ext>
            </a:extLst>
          </p:cNvPr>
          <p:cNvSpPr>
            <a:spLocks xmlns:a="http://schemas.openxmlformats.org/drawingml/2006/main" noGrp="1"/>
          </p:cNvSpPr>
          <p:nvPr/>
        </p:nvSpPr>
        <p:spPr>
          <a:xfrm xmlns:a="http://schemas.openxmlformats.org/drawingml/2006/main">
            <a:off x="466725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Ask source-grounded questions about eligibility and documents.</a:t>
            </a:r>
          </a:p>
        </p:txBody>
      </p:sp>
      <p:sp>
        <p:nvSpPr>
          <p:cNvPr id="16" name="">
            <a:extLst xmlns:a="http://schemas.openxmlformats.org/drawingml/2006/main">
              <a:ext uri="{FF2B5EF4-FFF2-40B4-BE49-F238E27FC236}">
                <a16:creationId xmlns:a16="http://schemas.microsoft.com/office/drawing/2014/main" id="{7E1D1A51-4AD0-4A34-A9F2-45FAF0C6BA7B}"/>
              </a:ext>
            </a:extLst>
          </p:cNvPr>
          <p:cNvSpPr>
            <a:spLocks xmlns:a="http://schemas.openxmlformats.org/drawingml/2006/main" noGrp="1"/>
          </p:cNvSpPr>
          <p:nvPr/>
        </p:nvSpPr>
        <p:spPr>
          <a:xfrm xmlns:a="http://schemas.openxmlformats.org/drawingml/2006/main">
            <a:off x="763905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8F62D0-85D5-4170-BE08-E13C00741CBD}"/>
              </a:ext>
            </a:extLst>
          </p:cNvPr>
          <p:cNvSpPr>
            <a:spLocks xmlns:a="http://schemas.openxmlformats.org/drawingml/2006/main" noGrp="1"/>
          </p:cNvSpPr>
          <p:nvPr/>
        </p:nvSpPr>
        <p:spPr>
          <a:xfrm xmlns:a="http://schemas.openxmlformats.org/drawingml/2006/main">
            <a:off x="792480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8CE107-57C7-481C-BF0E-01218AD52F7C}"/>
              </a:ext>
            </a:extLst>
          </p:cNvPr>
          <p:cNvSpPr>
            <a:spLocks xmlns:a="http://schemas.openxmlformats.org/drawingml/2006/main" noGrp="1"/>
          </p:cNvSpPr>
          <p:nvPr/>
        </p:nvSpPr>
        <p:spPr>
          <a:xfrm xmlns:a="http://schemas.openxmlformats.org/drawingml/2006/main">
            <a:off x="81153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3A0E31-B6C5-46F8-A172-D6BD0D13DD1E}"/>
              </a:ext>
            </a:extLst>
          </p:cNvPr>
          <p:cNvSpPr>
            <a:spLocks xmlns:a="http://schemas.openxmlformats.org/drawingml/2006/main" noGrp="1"/>
          </p:cNvSpPr>
          <p:nvPr/>
        </p:nvSpPr>
        <p:spPr>
          <a:xfrm xmlns:a="http://schemas.openxmlformats.org/drawingml/2006/main">
            <a:off x="83820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0" name="">
            <a:extLst xmlns:a="http://schemas.openxmlformats.org/drawingml/2006/main">
              <a:ext uri="{FF2B5EF4-FFF2-40B4-BE49-F238E27FC236}">
                <a16:creationId xmlns:a16="http://schemas.microsoft.com/office/drawing/2014/main" id="{CF71276A-275E-4587-A2CE-2FC821F0541F}"/>
              </a:ext>
            </a:extLst>
          </p:cNvPr>
          <p:cNvSpPr>
            <a:spLocks xmlns:a="http://schemas.openxmlformats.org/drawingml/2006/main" noGrp="1"/>
          </p:cNvSpPr>
          <p:nvPr/>
        </p:nvSpPr>
        <p:spPr>
          <a:xfrm xmlns:a="http://schemas.openxmlformats.org/drawingml/2006/main">
            <a:off x="83820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Browser side panel</a:t>
            </a:r>
          </a:p>
        </p:txBody>
      </p:sp>
      <p:sp>
        <p:nvSpPr>
          <p:cNvPr id="21" name="">
            <a:extLst xmlns:a="http://schemas.openxmlformats.org/drawingml/2006/main">
              <a:ext uri="{FF2B5EF4-FFF2-40B4-BE49-F238E27FC236}">
                <a16:creationId xmlns:a16="http://schemas.microsoft.com/office/drawing/2014/main" id="{7F5F8D11-ECB4-48BF-8864-C065666B1433}"/>
              </a:ext>
            </a:extLst>
          </p:cNvPr>
          <p:cNvSpPr>
            <a:spLocks xmlns:a="http://schemas.openxmlformats.org/drawingml/2006/main" noGrp="1"/>
          </p:cNvSpPr>
          <p:nvPr/>
        </p:nvSpPr>
        <p:spPr>
          <a:xfrm xmlns:a="http://schemas.openxmlformats.org/drawingml/2006/main">
            <a:off x="83820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Explain visible fields and offer resident-approved safe fills.</a:t>
            </a:r>
          </a:p>
        </p:txBody>
      </p:sp>
      <p:sp>
        <p:nvSpPr>
          <p:cNvPr id="22" name="">
            <a:extLst xmlns:a="http://schemas.openxmlformats.org/drawingml/2006/main">
              <a:ext uri="{FF2B5EF4-FFF2-40B4-BE49-F238E27FC236}">
                <a16:creationId xmlns:a16="http://schemas.microsoft.com/office/drawing/2014/main" id="{75A3A26C-59E4-44B2-846B-FDA1E91C38EA}"/>
              </a:ext>
            </a:extLst>
          </p:cNvPr>
          <p:cNvSpPr>
            <a:spLocks xmlns:a="http://schemas.openxmlformats.org/drawingml/2006/main" noGrp="1"/>
          </p:cNvSpPr>
          <p:nvPr/>
        </p:nvSpPr>
        <p:spPr>
          <a:xfrm xmlns:a="http://schemas.openxmlformats.org/drawingml/2006/main">
            <a:off x="685800" y="5695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B08C"/>
                </a:solidFill>
                <a:latin typeface="Avenir Next"/>
                <a:ea typeface="Avenir Next"/>
                <a:cs typeface="Avenir Next"/>
              </a:defRPr>
            </a:defPPr>
            <a:lvl1pPr algn="l">
              <a:defRPr sz="1350" b="1" i="0">
                <a:solidFill>
                  <a:srgbClr val="FFB08C"/>
                </a:solidFill>
                <a:latin typeface="Avenir Next"/>
                <a:ea typeface="Avenir Next"/>
                <a:cs typeface="Avenir Next"/>
              </a:defRPr>
            </a:lvl1pPr>
            <a:lvl2pPr algn="l">
              <a:defRPr sz="1350" b="1" i="0">
                <a:solidFill>
                  <a:srgbClr val="FFB08C"/>
                </a:solidFill>
                <a:latin typeface="Avenir Next"/>
                <a:ea typeface="Avenir Next"/>
                <a:cs typeface="Avenir Next"/>
              </a:defRPr>
            </a:lvl2pPr>
            <a:lvl3pPr algn="l">
              <a:defRPr sz="1350" b="1" i="0">
                <a:solidFill>
                  <a:srgbClr val="FFB08C"/>
                </a:solidFill>
                <a:latin typeface="Avenir Next"/>
                <a:ea typeface="Avenir Next"/>
                <a:cs typeface="Avenir Next"/>
              </a:defRPr>
            </a:lvl3pPr>
            <a:lvl4pPr algn="l">
              <a:defRPr sz="1350" b="1" i="0">
                <a:solidFill>
                  <a:srgbClr val="FFB08C"/>
                </a:solidFill>
                <a:latin typeface="Avenir Next"/>
                <a:ea typeface="Avenir Next"/>
                <a:cs typeface="Avenir Next"/>
              </a:defRPr>
            </a:lvl4pPr>
            <a:lvl5pPr algn="l">
              <a:defRPr sz="1350" b="1" i="0">
                <a:solidFill>
                  <a:srgbClr val="FFB08C"/>
                </a:solidFill>
                <a:latin typeface="Avenir Next"/>
                <a:ea typeface="Avenir Next"/>
                <a:cs typeface="Avenir Next"/>
              </a:defRPr>
            </a:lvl5pPr>
            <a:lvl6pPr algn="l">
              <a:defRPr sz="1350" b="1" i="0">
                <a:solidFill>
                  <a:srgbClr val="FFB08C"/>
                </a:solidFill>
                <a:latin typeface="Avenir Next"/>
                <a:ea typeface="Avenir Next"/>
                <a:cs typeface="Avenir Next"/>
              </a:defRPr>
            </a:lvl6pPr>
            <a:lvl7pPr algn="l">
              <a:defRPr sz="1350" b="1" i="0">
                <a:solidFill>
                  <a:srgbClr val="FFB08C"/>
                </a:solidFill>
                <a:latin typeface="Avenir Next"/>
                <a:ea typeface="Avenir Next"/>
                <a:cs typeface="Avenir Next"/>
              </a:defRPr>
            </a:lvl7pPr>
            <a:lvl8pPr algn="l">
              <a:defRPr sz="1350" b="1" i="0">
                <a:solidFill>
                  <a:srgbClr val="FFB08C"/>
                </a:solidFill>
                <a:latin typeface="Avenir Next"/>
                <a:ea typeface="Avenir Next"/>
                <a:cs typeface="Avenir Next"/>
              </a:defRPr>
            </a:lvl8pPr>
            <a:lvl9pPr algn="l">
              <a:defRPr sz="1350" b="1" i="0">
                <a:solidFill>
                  <a:srgbClr val="FFB08C"/>
                </a:solidFill>
                <a:latin typeface="Avenir Next"/>
                <a:ea typeface="Avenir Next"/>
                <a:cs typeface="Avenir Next"/>
              </a:defRPr>
            </a:lvl9pPr>
          </a:lstStyle>
          <a:p xmlns:a="http://schemas.openxmlformats.org/drawingml/2006/main">
            <a:pPr algn="l">
              <a:defRPr sz="1350" b="1" i="0">
                <a:solidFill>
                  <a:srgbClr val="FFB08C"/>
                </a:solidFill>
                <a:latin typeface="Avenir Next"/>
                <a:ea typeface="Avenir Next"/>
                <a:cs typeface="Avenir Next"/>
              </a:defRPr>
            </a:pPr>
            <a:r>
              <a:rPr sz="1350" b="1" i="0">
                <a:solidFill>
                  <a:srgbClr val="FFB08C"/>
                </a:solidFill>
                <a:latin typeface="Avenir Next"/>
                <a:ea typeface="Avenir Next"/>
                <a:cs typeface="Avenir Next"/>
              </a:rPr>
              <a:t>Safety boundary</a:t>
            </a:r>
          </a:p>
        </p:txBody>
      </p:sp>
      <p:sp>
        <p:nvSpPr>
          <p:cNvPr id="23" name="">
            <a:extLst xmlns:a="http://schemas.openxmlformats.org/drawingml/2006/main">
              <a:ext uri="{FF2B5EF4-FFF2-40B4-BE49-F238E27FC236}">
                <a16:creationId xmlns:a16="http://schemas.microsoft.com/office/drawing/2014/main" id="{AC15440F-93A9-4F30-B46A-442A6F7D87DB}"/>
              </a:ext>
            </a:extLst>
          </p:cNvPr>
          <p:cNvSpPr>
            <a:spLocks xmlns:a="http://schemas.openxmlformats.org/drawingml/2006/main" noGrp="1"/>
          </p:cNvSpPr>
          <p:nvPr/>
        </p:nvSpPr>
        <p:spPr>
          <a:xfrm xmlns:a="http://schemas.openxmlformats.org/drawingml/2006/main">
            <a:off x="2381250" y="5695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7F1E7"/>
                </a:solidFill>
                <a:latin typeface="Avenir Next"/>
                <a:ea typeface="Avenir Next"/>
                <a:cs typeface="Avenir Next"/>
              </a:defRPr>
            </a:defPPr>
            <a:lvl1pPr algn="l">
              <a:defRPr sz="1350" b="0" i="0">
                <a:solidFill>
                  <a:srgbClr val="F7F1E7"/>
                </a:solidFill>
                <a:latin typeface="Avenir Next"/>
                <a:ea typeface="Avenir Next"/>
                <a:cs typeface="Avenir Next"/>
              </a:defRPr>
            </a:lvl1pPr>
            <a:lvl2pPr algn="l">
              <a:defRPr sz="1350" b="0" i="0">
                <a:solidFill>
                  <a:srgbClr val="F7F1E7"/>
                </a:solidFill>
                <a:latin typeface="Avenir Next"/>
                <a:ea typeface="Avenir Next"/>
                <a:cs typeface="Avenir Next"/>
              </a:defRPr>
            </a:lvl2pPr>
            <a:lvl3pPr algn="l">
              <a:defRPr sz="1350" b="0" i="0">
                <a:solidFill>
                  <a:srgbClr val="F7F1E7"/>
                </a:solidFill>
                <a:latin typeface="Avenir Next"/>
                <a:ea typeface="Avenir Next"/>
                <a:cs typeface="Avenir Next"/>
              </a:defRPr>
            </a:lvl3pPr>
            <a:lvl4pPr algn="l">
              <a:defRPr sz="1350" b="0" i="0">
                <a:solidFill>
                  <a:srgbClr val="F7F1E7"/>
                </a:solidFill>
                <a:latin typeface="Avenir Next"/>
                <a:ea typeface="Avenir Next"/>
                <a:cs typeface="Avenir Next"/>
              </a:defRPr>
            </a:lvl4pPr>
            <a:lvl5pPr algn="l">
              <a:defRPr sz="1350" b="0" i="0">
                <a:solidFill>
                  <a:srgbClr val="F7F1E7"/>
                </a:solidFill>
                <a:latin typeface="Avenir Next"/>
                <a:ea typeface="Avenir Next"/>
                <a:cs typeface="Avenir Next"/>
              </a:defRPr>
            </a:lvl5pPr>
            <a:lvl6pPr algn="l">
              <a:defRPr sz="1350" b="0" i="0">
                <a:solidFill>
                  <a:srgbClr val="F7F1E7"/>
                </a:solidFill>
                <a:latin typeface="Avenir Next"/>
                <a:ea typeface="Avenir Next"/>
                <a:cs typeface="Avenir Next"/>
              </a:defRPr>
            </a:lvl6pPr>
            <a:lvl7pPr algn="l">
              <a:defRPr sz="1350" b="0" i="0">
                <a:solidFill>
                  <a:srgbClr val="F7F1E7"/>
                </a:solidFill>
                <a:latin typeface="Avenir Next"/>
                <a:ea typeface="Avenir Next"/>
                <a:cs typeface="Avenir Next"/>
              </a:defRPr>
            </a:lvl7pPr>
            <a:lvl8pPr algn="l">
              <a:defRPr sz="1350" b="0" i="0">
                <a:solidFill>
                  <a:srgbClr val="F7F1E7"/>
                </a:solidFill>
                <a:latin typeface="Avenir Next"/>
                <a:ea typeface="Avenir Next"/>
                <a:cs typeface="Avenir Next"/>
              </a:defRPr>
            </a:lvl8pPr>
            <a:lvl9pPr algn="l">
              <a:defRPr sz="1350" b="0" i="0">
                <a:solidFill>
                  <a:srgbClr val="F7F1E7"/>
                </a:solidFill>
                <a:latin typeface="Avenir Next"/>
                <a:ea typeface="Avenir Next"/>
                <a:cs typeface="Avenir Next"/>
              </a:defRPr>
            </a:lvl9pPr>
          </a:lstStyle>
          <a:p xmlns:a="http://schemas.openxmlformats.org/drawingml/2006/main">
            <a:pPr algn="l">
              <a:defRPr sz="1350" b="0" i="0">
                <a:solidFill>
                  <a:srgbClr val="F7F1E7"/>
                </a:solidFill>
                <a:latin typeface="Avenir Next"/>
                <a:ea typeface="Avenir Next"/>
                <a:cs typeface="Avenir Next"/>
              </a:defRPr>
            </a:pPr>
            <a:r>
              <a:rPr sz="1350" b="0" i="0">
                <a:solidFill>
                  <a:srgbClr val="F7F1E7"/>
                </a:solidFill>
                <a:latin typeface="Avenir Next"/>
                <a:ea typeface="Avenir Next"/>
                <a:cs typeface="Avenir Next"/>
              </a:rPr>
              <a:t>No form submission, signature, sensitive identifier, consent, or verification bypass.</a:t>
            </a:r>
          </a:p>
        </p:txBody>
      </p:sp>
    </p:spTree>
    <p:extLst>
      <p:ext uri="{BB962C8B-B14F-4D97-AF65-F5344CB8AC3E}">
        <p14:creationId xmlns:p14="http://schemas.microsoft.com/office/powerpoint/2010/main" val="1345877096"/>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BC8F8E0-0399-4A4A-8A84-6B76426A95A7}"/>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7D1578E5-C3F5-4755-8B39-70A70FBB20CA}"/>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124CECC4-9091-4CB6-B371-55E740E0AD5B}"/>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F5D088D5-1D3C-4258-B717-A471193E613A}"/>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AI helps inside firm boundaries</a:t>
            </a:r>
          </a:p>
        </p:txBody>
      </p:sp>
      <p:sp>
        <p:nvSpPr>
          <p:cNvPr id="5" name="">
            <a:extLst xmlns:a="http://schemas.openxmlformats.org/drawingml/2006/main">
              <a:ext uri="{FF2B5EF4-FFF2-40B4-BE49-F238E27FC236}">
                <a16:creationId xmlns:a16="http://schemas.microsoft.com/office/drawing/2014/main" id="{A834CD91-F869-4DDD-98B1-42BECD320A8F}"/>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model supports judgment. It does not become the source of truth.</a:t>
            </a:r>
          </a:p>
        </p:txBody>
      </p:sp>
      <p:sp>
        <p:nvSpPr>
          <p:cNvPr id="6" name="">
            <a:extLst xmlns:a="http://schemas.openxmlformats.org/drawingml/2006/main">
              <a:ext uri="{FF2B5EF4-FFF2-40B4-BE49-F238E27FC236}">
                <a16:creationId xmlns:a16="http://schemas.microsoft.com/office/drawing/2014/main" id="{3DAA8A32-6E6C-4D40-AF95-D28302828358}"/>
              </a:ext>
            </a:extLst>
          </p:cNvPr>
          <p:cNvSpPr>
            <a:spLocks xmlns:a="http://schemas.openxmlformats.org/drawingml/2006/main" noGrp="1"/>
          </p:cNvSpPr>
          <p:nvPr/>
        </p:nvSpPr>
        <p:spPr>
          <a:xfrm xmlns:a="http://schemas.openxmlformats.org/drawingml/2006/main">
            <a:off x="155257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0E5096-A6E0-4FD0-AF5B-19252E6421FA}"/>
              </a:ext>
            </a:extLst>
          </p:cNvPr>
          <p:cNvSpPr>
            <a:spLocks xmlns:a="http://schemas.openxmlformats.org/drawingml/2006/main" noGrp="1"/>
          </p:cNvSpPr>
          <p:nvPr/>
        </p:nvSpPr>
        <p:spPr>
          <a:xfrm xmlns:a="http://schemas.openxmlformats.org/drawingml/2006/main">
            <a:off x="176212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8FD4B412-40B7-4063-8A24-53C77CA179FF}"/>
              </a:ext>
            </a:extLst>
          </p:cNvPr>
          <p:cNvSpPr>
            <a:spLocks xmlns:a="http://schemas.openxmlformats.org/drawingml/2006/main" noGrp="1"/>
          </p:cNvSpPr>
          <p:nvPr/>
        </p:nvSpPr>
        <p:spPr>
          <a:xfrm xmlns:a="http://schemas.openxmlformats.org/drawingml/2006/main">
            <a:off x="68580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UNDERSTAND</a:t>
            </a:r>
          </a:p>
        </p:txBody>
      </p:sp>
      <p:sp>
        <p:nvSpPr>
          <p:cNvPr id="9" name="">
            <a:extLst xmlns:a="http://schemas.openxmlformats.org/drawingml/2006/main">
              <a:ext uri="{FF2B5EF4-FFF2-40B4-BE49-F238E27FC236}">
                <a16:creationId xmlns:a16="http://schemas.microsoft.com/office/drawing/2014/main" id="{063FF7F1-E34E-4F95-A51C-9A47BF69DF00}"/>
              </a:ext>
            </a:extLst>
          </p:cNvPr>
          <p:cNvSpPr>
            <a:spLocks xmlns:a="http://schemas.openxmlformats.org/drawingml/2006/main" noGrp="1"/>
          </p:cNvSpPr>
          <p:nvPr/>
        </p:nvSpPr>
        <p:spPr>
          <a:xfrm xmlns:a="http://schemas.openxmlformats.org/drawingml/2006/main">
            <a:off x="68580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Extract explicit facts from the resident’s words</a:t>
            </a:r>
          </a:p>
        </p:txBody>
      </p:sp>
      <p:sp>
        <p:nvSpPr>
          <p:cNvPr id="10" name="">
            <a:extLst xmlns:a="http://schemas.openxmlformats.org/drawingml/2006/main">
              <a:ext uri="{FF2B5EF4-FFF2-40B4-BE49-F238E27FC236}">
                <a16:creationId xmlns:a16="http://schemas.microsoft.com/office/drawing/2014/main" id="{66EBDBC8-AE11-4061-9008-BC9EBE8AA3FB}"/>
              </a:ext>
            </a:extLst>
          </p:cNvPr>
          <p:cNvSpPr>
            <a:spLocks xmlns:a="http://schemas.openxmlformats.org/drawingml/2006/main" noGrp="1"/>
          </p:cNvSpPr>
          <p:nvPr/>
        </p:nvSpPr>
        <p:spPr>
          <a:xfrm xmlns:a="http://schemas.openxmlformats.org/drawingml/2006/main">
            <a:off x="4267200"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EB924E-4CC7-43AF-93B6-0B7C1B1DEB69}"/>
              </a:ext>
            </a:extLst>
          </p:cNvPr>
          <p:cNvSpPr>
            <a:spLocks xmlns:a="http://schemas.openxmlformats.org/drawingml/2006/main" noGrp="1"/>
          </p:cNvSpPr>
          <p:nvPr/>
        </p:nvSpPr>
        <p:spPr>
          <a:xfrm xmlns:a="http://schemas.openxmlformats.org/drawingml/2006/main">
            <a:off x="447675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8512040A-1848-456E-9F34-A396E4726CA6}"/>
              </a:ext>
            </a:extLst>
          </p:cNvPr>
          <p:cNvSpPr>
            <a:spLocks xmlns:a="http://schemas.openxmlformats.org/drawingml/2006/main" noGrp="1"/>
          </p:cNvSpPr>
          <p:nvPr/>
        </p:nvSpPr>
        <p:spPr>
          <a:xfrm xmlns:a="http://schemas.openxmlformats.org/drawingml/2006/main">
            <a:off x="340042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ASK</a:t>
            </a:r>
          </a:p>
        </p:txBody>
      </p:sp>
      <p:sp>
        <p:nvSpPr>
          <p:cNvPr id="13" name="">
            <a:extLst xmlns:a="http://schemas.openxmlformats.org/drawingml/2006/main">
              <a:ext uri="{FF2B5EF4-FFF2-40B4-BE49-F238E27FC236}">
                <a16:creationId xmlns:a16="http://schemas.microsoft.com/office/drawing/2014/main" id="{49A42F9E-68DA-45C1-92FB-D27523AD0711}"/>
              </a:ext>
            </a:extLst>
          </p:cNvPr>
          <p:cNvSpPr>
            <a:spLocks xmlns:a="http://schemas.openxmlformats.org/drawingml/2006/main" noGrp="1"/>
          </p:cNvSpPr>
          <p:nvPr/>
        </p:nvSpPr>
        <p:spPr>
          <a:xfrm xmlns:a="http://schemas.openxmlformats.org/drawingml/2006/main">
            <a:off x="340042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Request only the missing detail that changes the answer</a:t>
            </a:r>
          </a:p>
        </p:txBody>
      </p:sp>
      <p:sp>
        <p:nvSpPr>
          <p:cNvPr id="14" name="">
            <a:extLst xmlns:a="http://schemas.openxmlformats.org/drawingml/2006/main">
              <a:ext uri="{FF2B5EF4-FFF2-40B4-BE49-F238E27FC236}">
                <a16:creationId xmlns:a16="http://schemas.microsoft.com/office/drawing/2014/main" id="{6C091426-4FAD-4D8A-9758-5FEE7B801A55}"/>
              </a:ext>
            </a:extLst>
          </p:cNvPr>
          <p:cNvSpPr>
            <a:spLocks xmlns:a="http://schemas.openxmlformats.org/drawingml/2006/main" noGrp="1"/>
          </p:cNvSpPr>
          <p:nvPr/>
        </p:nvSpPr>
        <p:spPr>
          <a:xfrm xmlns:a="http://schemas.openxmlformats.org/drawingml/2006/main">
            <a:off x="698182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F363A02-5648-4530-B777-98EF3FBBF4D3}"/>
              </a:ext>
            </a:extLst>
          </p:cNvPr>
          <p:cNvSpPr>
            <a:spLocks xmlns:a="http://schemas.openxmlformats.org/drawingml/2006/main" noGrp="1"/>
          </p:cNvSpPr>
          <p:nvPr/>
        </p:nvSpPr>
        <p:spPr>
          <a:xfrm xmlns:a="http://schemas.openxmlformats.org/drawingml/2006/main">
            <a:off x="719137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6387A77C-EDD3-4921-B9BA-D27A20E4D886}"/>
              </a:ext>
            </a:extLst>
          </p:cNvPr>
          <p:cNvSpPr>
            <a:spLocks xmlns:a="http://schemas.openxmlformats.org/drawingml/2006/main" noGrp="1"/>
          </p:cNvSpPr>
          <p:nvPr/>
        </p:nvSpPr>
        <p:spPr>
          <a:xfrm xmlns:a="http://schemas.openxmlformats.org/drawingml/2006/main">
            <a:off x="611505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RANK</a:t>
            </a:r>
          </a:p>
        </p:txBody>
      </p:sp>
      <p:sp>
        <p:nvSpPr>
          <p:cNvPr id="17" name="">
            <a:extLst xmlns:a="http://schemas.openxmlformats.org/drawingml/2006/main">
              <a:ext uri="{FF2B5EF4-FFF2-40B4-BE49-F238E27FC236}">
                <a16:creationId xmlns:a16="http://schemas.microsoft.com/office/drawing/2014/main" id="{D77325B0-BB42-4F1F-8280-FFF6E5A15C6D}"/>
              </a:ext>
            </a:extLst>
          </p:cNvPr>
          <p:cNvSpPr>
            <a:spLocks xmlns:a="http://schemas.openxmlformats.org/drawingml/2006/main" noGrp="1"/>
          </p:cNvSpPr>
          <p:nvPr/>
        </p:nvSpPr>
        <p:spPr>
          <a:xfrm xmlns:a="http://schemas.openxmlformats.org/drawingml/2006/main">
            <a:off x="611505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Reorder known record IDs after rule-based filtering</a:t>
            </a:r>
          </a:p>
        </p:txBody>
      </p:sp>
      <p:sp>
        <p:nvSpPr>
          <p:cNvPr id="18" name="">
            <a:extLst xmlns:a="http://schemas.openxmlformats.org/drawingml/2006/main">
              <a:ext uri="{FF2B5EF4-FFF2-40B4-BE49-F238E27FC236}">
                <a16:creationId xmlns:a16="http://schemas.microsoft.com/office/drawing/2014/main" id="{C8679EDB-119D-4F4C-AB50-EFF6BB50D6EC}"/>
              </a:ext>
            </a:extLst>
          </p:cNvPr>
          <p:cNvSpPr>
            <a:spLocks xmlns:a="http://schemas.openxmlformats.org/drawingml/2006/main" noGrp="1"/>
          </p:cNvSpPr>
          <p:nvPr/>
        </p:nvSpPr>
        <p:spPr>
          <a:xfrm xmlns:a="http://schemas.openxmlformats.org/drawingml/2006/main">
            <a:off x="9696450" y="2571750"/>
            <a:ext cx="704850" cy="7048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FD720DA-6867-49C8-93BA-64F6D2EE0EC2}"/>
              </a:ext>
            </a:extLst>
          </p:cNvPr>
          <p:cNvSpPr>
            <a:spLocks xmlns:a="http://schemas.openxmlformats.org/drawingml/2006/main" noGrp="1"/>
          </p:cNvSpPr>
          <p:nvPr/>
        </p:nvSpPr>
        <p:spPr>
          <a:xfrm xmlns:a="http://schemas.openxmlformats.org/drawingml/2006/main">
            <a:off x="990600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CC8C820E-3FDB-4BC3-9302-5F59A41731A4}"/>
              </a:ext>
            </a:extLst>
          </p:cNvPr>
          <p:cNvSpPr>
            <a:spLocks xmlns:a="http://schemas.openxmlformats.org/drawingml/2006/main" noGrp="1"/>
          </p:cNvSpPr>
          <p:nvPr/>
        </p:nvSpPr>
        <p:spPr>
          <a:xfrm xmlns:a="http://schemas.openxmlformats.org/drawingml/2006/main">
            <a:off x="882967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EXPLAIN</a:t>
            </a:r>
          </a:p>
        </p:txBody>
      </p:sp>
      <p:sp>
        <p:nvSpPr>
          <p:cNvPr id="21" name="">
            <a:extLst xmlns:a="http://schemas.openxmlformats.org/drawingml/2006/main">
              <a:ext uri="{FF2B5EF4-FFF2-40B4-BE49-F238E27FC236}">
                <a16:creationId xmlns:a16="http://schemas.microsoft.com/office/drawing/2014/main" id="{DF5D71F7-7255-4F95-AF4F-90394AC13095}"/>
              </a:ext>
            </a:extLst>
          </p:cNvPr>
          <p:cNvSpPr>
            <a:spLocks xmlns:a="http://schemas.openxmlformats.org/drawingml/2006/main" noGrp="1"/>
          </p:cNvSpPr>
          <p:nvPr/>
        </p:nvSpPr>
        <p:spPr>
          <a:xfrm xmlns:a="http://schemas.openxmlformats.org/drawingml/2006/main">
            <a:off x="882967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Describe why a published program may fit</a:t>
            </a:r>
          </a:p>
        </p:txBody>
      </p:sp>
      <p:sp>
        <p:nvSpPr>
          <p:cNvPr id="22" name="">
            <a:extLst xmlns:a="http://schemas.openxmlformats.org/drawingml/2006/main">
              <a:ext uri="{FF2B5EF4-FFF2-40B4-BE49-F238E27FC236}">
                <a16:creationId xmlns:a16="http://schemas.microsoft.com/office/drawing/2014/main" id="{18B253F9-3B9E-47BD-92D2-0D6D79EC002B}"/>
              </a:ext>
            </a:extLst>
          </p:cNvPr>
          <p:cNvSpPr>
            <a:spLocks xmlns:a="http://schemas.openxmlformats.org/drawingml/2006/main" noGrp="1"/>
          </p:cNvSpPr>
          <p:nvPr/>
        </p:nvSpPr>
        <p:spPr>
          <a:xfrm xmlns:a="http://schemas.openxmlformats.org/drawingml/2006/main">
            <a:off x="685800" y="5219700"/>
            <a:ext cx="10820400" cy="895350"/>
          </a:xfrm>
          <a:prstGeom xmlns:a="http://schemas.openxmlformats.org/drawingml/2006/main" prst="roundRect">
            <a:avLst>
              <a:gd name="adj" fmla="val 12766"/>
            </a:avLst>
          </a:prstGeom>
          <a:solidFill xmlns:a="http://schemas.openxmlformats.org/drawingml/2006/main">
            <a:srgbClr val="E8F0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B6A3E9-5E31-4682-9559-C1F44784C5B3}"/>
              </a:ext>
            </a:extLst>
          </p:cNvPr>
          <p:cNvSpPr>
            <a:spLocks xmlns:a="http://schemas.openxmlformats.org/drawingml/2006/main" noGrp="1"/>
          </p:cNvSpPr>
          <p:nvPr/>
        </p:nvSpPr>
        <p:spPr>
          <a:xfrm xmlns:a="http://schemas.openxmlformats.org/drawingml/2006/main">
            <a:off x="1000125" y="54864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073E35"/>
                </a:solidFill>
                <a:latin typeface="Avenir Next"/>
                <a:ea typeface="Avenir Next"/>
                <a:cs typeface="Avenir Next"/>
              </a:defRPr>
            </a:defPPr>
            <a:lvl1pPr algn="l">
              <a:defRPr sz="1725" b="1" i="0">
                <a:solidFill>
                  <a:srgbClr val="073E35"/>
                </a:solidFill>
                <a:latin typeface="Avenir Next"/>
                <a:ea typeface="Avenir Next"/>
                <a:cs typeface="Avenir Next"/>
              </a:defRPr>
            </a:lvl1pPr>
            <a:lvl2pPr algn="l">
              <a:defRPr sz="1725" b="1" i="0">
                <a:solidFill>
                  <a:srgbClr val="073E35"/>
                </a:solidFill>
                <a:latin typeface="Avenir Next"/>
                <a:ea typeface="Avenir Next"/>
                <a:cs typeface="Avenir Next"/>
              </a:defRPr>
            </a:lvl2pPr>
            <a:lvl3pPr algn="l">
              <a:defRPr sz="1725" b="1" i="0">
                <a:solidFill>
                  <a:srgbClr val="073E35"/>
                </a:solidFill>
                <a:latin typeface="Avenir Next"/>
                <a:ea typeface="Avenir Next"/>
                <a:cs typeface="Avenir Next"/>
              </a:defRPr>
            </a:lvl3pPr>
            <a:lvl4pPr algn="l">
              <a:defRPr sz="1725" b="1" i="0">
                <a:solidFill>
                  <a:srgbClr val="073E35"/>
                </a:solidFill>
                <a:latin typeface="Avenir Next"/>
                <a:ea typeface="Avenir Next"/>
                <a:cs typeface="Avenir Next"/>
              </a:defRPr>
            </a:lvl4pPr>
            <a:lvl5pPr algn="l">
              <a:defRPr sz="1725" b="1" i="0">
                <a:solidFill>
                  <a:srgbClr val="073E35"/>
                </a:solidFill>
                <a:latin typeface="Avenir Next"/>
                <a:ea typeface="Avenir Next"/>
                <a:cs typeface="Avenir Next"/>
              </a:defRPr>
            </a:lvl5pPr>
            <a:lvl6pPr algn="l">
              <a:defRPr sz="1725" b="1" i="0">
                <a:solidFill>
                  <a:srgbClr val="073E35"/>
                </a:solidFill>
                <a:latin typeface="Avenir Next"/>
                <a:ea typeface="Avenir Next"/>
                <a:cs typeface="Avenir Next"/>
              </a:defRPr>
            </a:lvl6pPr>
            <a:lvl7pPr algn="l">
              <a:defRPr sz="1725" b="1" i="0">
                <a:solidFill>
                  <a:srgbClr val="073E35"/>
                </a:solidFill>
                <a:latin typeface="Avenir Next"/>
                <a:ea typeface="Avenir Next"/>
                <a:cs typeface="Avenir Next"/>
              </a:defRPr>
            </a:lvl7pPr>
            <a:lvl8pPr algn="l">
              <a:defRPr sz="1725" b="1" i="0">
                <a:solidFill>
                  <a:srgbClr val="073E35"/>
                </a:solidFill>
                <a:latin typeface="Avenir Next"/>
                <a:ea typeface="Avenir Next"/>
                <a:cs typeface="Avenir Next"/>
              </a:defRPr>
            </a:lvl8pPr>
            <a:lvl9pPr algn="l">
              <a:defRPr sz="1725" b="1" i="0">
                <a:solidFill>
                  <a:srgbClr val="073E35"/>
                </a:solidFill>
                <a:latin typeface="Avenir Next"/>
                <a:ea typeface="Avenir Next"/>
                <a:cs typeface="Avenir Next"/>
              </a:defRPr>
            </a:lvl9pPr>
          </a:lstStyle>
          <a:p xmlns:a="http://schemas.openxmlformats.org/drawingml/2006/main">
            <a:pPr algn="l">
              <a:defRPr sz="1725" b="1" i="0">
                <a:solidFill>
                  <a:srgbClr val="073E35"/>
                </a:solidFill>
                <a:latin typeface="Avenir Next"/>
                <a:ea typeface="Avenir Next"/>
                <a:cs typeface="Avenir Next"/>
              </a:defRPr>
            </a:pPr>
            <a:r>
              <a:rPr sz="1725" b="1" i="0">
                <a:solidFill>
                  <a:srgbClr val="073E35"/>
                </a:solidFill>
                <a:latin typeface="Avenir Next"/>
                <a:ea typeface="Avenir Next"/>
                <a:cs typeface="Avenir Next"/>
              </a:rPr>
              <a:t>Program facts stay locked</a:t>
            </a:r>
          </a:p>
        </p:txBody>
      </p:sp>
      <p:sp>
        <p:nvSpPr>
          <p:cNvPr id="24" name="">
            <a:extLst xmlns:a="http://schemas.openxmlformats.org/drawingml/2006/main">
              <a:ext uri="{FF2B5EF4-FFF2-40B4-BE49-F238E27FC236}">
                <a16:creationId xmlns:a16="http://schemas.microsoft.com/office/drawing/2014/main" id="{6975E4C5-8576-4B92-B2BA-B7180CFB6737}"/>
              </a:ext>
            </a:extLst>
          </p:cNvPr>
          <p:cNvSpPr>
            <a:spLocks xmlns:a="http://schemas.openxmlformats.org/drawingml/2006/main" noGrp="1"/>
          </p:cNvSpPr>
          <p:nvPr/>
        </p:nvSpPr>
        <p:spPr>
          <a:xfrm xmlns:a="http://schemas.openxmlformats.org/drawingml/2006/main">
            <a:off x="3905250" y="5410200"/>
            <a:ext cx="714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Names, amounts, rules, URLs, and freshness dates come from the local index. Unknown resident details are never treated as disqualifying facts.</a:t>
            </a:r>
          </a:p>
        </p:txBody>
      </p:sp>
    </p:spTree>
    <p:extLst>
      <p:ext uri="{BB962C8B-B14F-4D97-AF65-F5344CB8AC3E}">
        <p14:creationId xmlns:p14="http://schemas.microsoft.com/office/powerpoint/2010/main" val="176613156"/>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F16C013-8C8F-4C02-ADA3-7143DC073EF9}"/>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50218D3A-4B97-4A3B-8669-ACB2C8C0E5D9}"/>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B63BDB54-9850-4323-86B3-DD164826A778}"/>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08</a:t>
            </a:r>
          </a:p>
        </p:txBody>
      </p:sp>
      <p:sp>
        <p:nvSpPr>
          <p:cNvPr id="4" name="">
            <a:extLst xmlns:a="http://schemas.openxmlformats.org/drawingml/2006/main">
              <a:ext uri="{FF2B5EF4-FFF2-40B4-BE49-F238E27FC236}">
                <a16:creationId xmlns:a16="http://schemas.microsoft.com/office/drawing/2014/main" id="{B13D9531-E2A5-4AA6-8385-8109942F1755}"/>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 practical architecture built for reliability</a:t>
            </a:r>
          </a:p>
        </p:txBody>
      </p:sp>
      <p:sp>
        <p:nvSpPr>
          <p:cNvPr id="5" name="">
            <a:extLst xmlns:a="http://schemas.openxmlformats.org/drawingml/2006/main">
              <a:ext uri="{FF2B5EF4-FFF2-40B4-BE49-F238E27FC236}">
                <a16:creationId xmlns:a16="http://schemas.microsoft.com/office/drawing/2014/main" id="{A16F9241-CC6F-41AD-B27E-D890B1DF7FEB}"/>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normal discovery path still works when AI or live search is unavailable.</a:t>
            </a:r>
          </a:p>
        </p:txBody>
      </p:sp>
      <p:sp>
        <p:nvSpPr>
          <p:cNvPr id="6" name="">
            <a:extLst xmlns:a="http://schemas.openxmlformats.org/drawingml/2006/main">
              <a:ext uri="{FF2B5EF4-FFF2-40B4-BE49-F238E27FC236}">
                <a16:creationId xmlns:a16="http://schemas.microsoft.com/office/drawing/2014/main" id="{6E2FB7A0-0B19-4D5A-8A60-576DC6EE027E}"/>
              </a:ext>
            </a:extLst>
          </p:cNvPr>
          <p:cNvSpPr>
            <a:spLocks xmlns:a="http://schemas.openxmlformats.org/drawingml/2006/main" noGrp="1"/>
          </p:cNvSpPr>
          <p:nvPr/>
        </p:nvSpPr>
        <p:spPr>
          <a:xfrm xmlns:a="http://schemas.openxmlformats.org/drawingml/2006/main">
            <a:off x="685800" y="2724150"/>
            <a:ext cx="19050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57C4C47F-A30E-4223-9D78-929EE0B1608B}"/>
              </a:ext>
            </a:extLst>
          </p:cNvPr>
          <p:cNvSpPr>
            <a:spLocks xmlns:a="http://schemas.openxmlformats.org/drawingml/2006/main" noGrp="1"/>
          </p:cNvSpPr>
          <p:nvPr/>
        </p:nvSpPr>
        <p:spPr>
          <a:xfrm xmlns:a="http://schemas.openxmlformats.org/drawingml/2006/main">
            <a:off x="857250" y="289560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React PWA</a:t>
            </a:r>
          </a:p>
        </p:txBody>
      </p:sp>
      <p:sp>
        <p:nvSpPr>
          <p:cNvPr id="8" name="">
            <a:extLst xmlns:a="http://schemas.openxmlformats.org/drawingml/2006/main">
              <a:ext uri="{FF2B5EF4-FFF2-40B4-BE49-F238E27FC236}">
                <a16:creationId xmlns:a16="http://schemas.microsoft.com/office/drawing/2014/main" id="{D2DDC728-1A25-4DB9-AED2-F9B07D8FBF44}"/>
              </a:ext>
            </a:extLst>
          </p:cNvPr>
          <p:cNvSpPr>
            <a:spLocks xmlns:a="http://schemas.openxmlformats.org/drawingml/2006/main" noGrp="1"/>
          </p:cNvSpPr>
          <p:nvPr/>
        </p:nvSpPr>
        <p:spPr>
          <a:xfrm xmlns:a="http://schemas.openxmlformats.org/drawingml/2006/main">
            <a:off x="857250" y="32575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Web + mobile</a:t>
            </a:r>
          </a:p>
        </p:txBody>
      </p:sp>
      <p:sp>
        <p:nvSpPr>
          <p:cNvPr id="9" name="">
            <a:extLst xmlns:a="http://schemas.openxmlformats.org/drawingml/2006/main">
              <a:ext uri="{FF2B5EF4-FFF2-40B4-BE49-F238E27FC236}">
                <a16:creationId xmlns:a16="http://schemas.microsoft.com/office/drawing/2014/main" id="{5F4FE9A3-3353-4643-9AF1-D8479644849A}"/>
              </a:ext>
            </a:extLst>
          </p:cNvPr>
          <p:cNvSpPr>
            <a:spLocks xmlns:a="http://schemas.openxmlformats.org/drawingml/2006/main" noGrp="1"/>
          </p:cNvSpPr>
          <p:nvPr/>
        </p:nvSpPr>
        <p:spPr>
          <a:xfrm xmlns:a="http://schemas.openxmlformats.org/drawingml/2006/main">
            <a:off x="3048000" y="2724150"/>
            <a:ext cx="20955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3EB86A1C-F72C-4D48-BAF7-08E7924C6EF2}"/>
              </a:ext>
            </a:extLst>
          </p:cNvPr>
          <p:cNvSpPr>
            <a:spLocks xmlns:a="http://schemas.openxmlformats.org/drawingml/2006/main" noGrp="1"/>
          </p:cNvSpPr>
          <p:nvPr/>
        </p:nvSpPr>
        <p:spPr>
          <a:xfrm xmlns:a="http://schemas.openxmlformats.org/drawingml/2006/main">
            <a:off x="3219450" y="28956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Worker APIs</a:t>
            </a:r>
          </a:p>
        </p:txBody>
      </p:sp>
      <p:sp>
        <p:nvSpPr>
          <p:cNvPr id="11" name="">
            <a:extLst xmlns:a="http://schemas.openxmlformats.org/drawingml/2006/main">
              <a:ext uri="{FF2B5EF4-FFF2-40B4-BE49-F238E27FC236}">
                <a16:creationId xmlns:a16="http://schemas.microsoft.com/office/drawing/2014/main" id="{1BCF8B0B-C2D6-4EA2-8E7D-ECC38281E1FE}"/>
              </a:ext>
            </a:extLst>
          </p:cNvPr>
          <p:cNvSpPr>
            <a:spLocks xmlns:a="http://schemas.openxmlformats.org/drawingml/2006/main" noGrp="1"/>
          </p:cNvSpPr>
          <p:nvPr/>
        </p:nvSpPr>
        <p:spPr>
          <a:xfrm xmlns:a="http://schemas.openxmlformats.org/drawingml/2006/main">
            <a:off x="3219450" y="32575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Intake · discovery · chat</a:t>
            </a:r>
          </a:p>
        </p:txBody>
      </p:sp>
      <p:sp>
        <p:nvSpPr>
          <p:cNvPr id="12" name="">
            <a:extLst xmlns:a="http://schemas.openxmlformats.org/drawingml/2006/main">
              <a:ext uri="{FF2B5EF4-FFF2-40B4-BE49-F238E27FC236}">
                <a16:creationId xmlns:a16="http://schemas.microsoft.com/office/drawing/2014/main" id="{4EA24EE4-4076-40C7-BDBE-9424533AAF6B}"/>
              </a:ext>
            </a:extLst>
          </p:cNvPr>
          <p:cNvSpPr>
            <a:spLocks xmlns:a="http://schemas.openxmlformats.org/drawingml/2006/main" noGrp="1"/>
          </p:cNvSpPr>
          <p:nvPr/>
        </p:nvSpPr>
        <p:spPr>
          <a:xfrm xmlns:a="http://schemas.openxmlformats.org/drawingml/2006/main">
            <a:off x="5619750" y="2209800"/>
            <a:ext cx="2381250" cy="933450"/>
          </a:xfrm>
          <a:prstGeom xmlns:a="http://schemas.openxmlformats.org/drawingml/2006/main" prst="roundRect">
            <a:avLst>
              <a:gd name="adj" fmla="val 12245"/>
            </a:avLst>
          </a:prstGeom>
          <a:solidFill xmlns:a="http://schemas.openxmlformats.org/drawingml/2006/main">
            <a:srgbClr val="0C4B40"/>
          </a:solidFill>
          <a:ln xmlns:a="http://schemas.openxmlformats.org/drawingml/2006/main" w="0">
            <a:solidFill>
              <a:srgbClr val="0C4B40"/>
            </a:solidFill>
            <a:prstDash val="solid"/>
          </a:ln>
        </p:spPr>
      </p:sp>
      <p:sp>
        <p:nvSpPr>
          <p:cNvPr id="13" name="">
            <a:extLst xmlns:a="http://schemas.openxmlformats.org/drawingml/2006/main">
              <a:ext uri="{FF2B5EF4-FFF2-40B4-BE49-F238E27FC236}">
                <a16:creationId xmlns:a16="http://schemas.microsoft.com/office/drawing/2014/main" id="{ED0529AD-3C0E-4999-AAAD-63A3A6583C2C}"/>
              </a:ext>
            </a:extLst>
          </p:cNvPr>
          <p:cNvSpPr>
            <a:spLocks xmlns:a="http://schemas.openxmlformats.org/drawingml/2006/main" noGrp="1"/>
          </p:cNvSpPr>
          <p:nvPr/>
        </p:nvSpPr>
        <p:spPr>
          <a:xfrm xmlns:a="http://schemas.openxmlformats.org/drawingml/2006/main">
            <a:off x="57912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venir Next"/>
                <a:ea typeface="Avenir Next"/>
                <a:cs typeface="Avenir Next"/>
              </a:defRPr>
            </a:defPPr>
            <a:lvl1pPr algn="ctr">
              <a:defRPr sz="1500" b="1" i="0">
                <a:solidFill>
                  <a:srgbClr val="FFFFFF"/>
                </a:solidFill>
                <a:latin typeface="Avenir Next"/>
                <a:ea typeface="Avenir Next"/>
                <a:cs typeface="Avenir Next"/>
              </a:defRPr>
            </a:lvl1pPr>
            <a:lvl2pPr algn="ctr">
              <a:defRPr sz="1500" b="1" i="0">
                <a:solidFill>
                  <a:srgbClr val="FFFFFF"/>
                </a:solidFill>
                <a:latin typeface="Avenir Next"/>
                <a:ea typeface="Avenir Next"/>
                <a:cs typeface="Avenir Next"/>
              </a:defRPr>
            </a:lvl2pPr>
            <a:lvl3pPr algn="ctr">
              <a:defRPr sz="1500" b="1" i="0">
                <a:solidFill>
                  <a:srgbClr val="FFFFFF"/>
                </a:solidFill>
                <a:latin typeface="Avenir Next"/>
                <a:ea typeface="Avenir Next"/>
                <a:cs typeface="Avenir Next"/>
              </a:defRPr>
            </a:lvl3pPr>
            <a:lvl4pPr algn="ctr">
              <a:defRPr sz="1500" b="1" i="0">
                <a:solidFill>
                  <a:srgbClr val="FFFFFF"/>
                </a:solidFill>
                <a:latin typeface="Avenir Next"/>
                <a:ea typeface="Avenir Next"/>
                <a:cs typeface="Avenir Next"/>
              </a:defRPr>
            </a:lvl4pPr>
            <a:lvl5pPr algn="ctr">
              <a:defRPr sz="1500" b="1" i="0">
                <a:solidFill>
                  <a:srgbClr val="FFFFFF"/>
                </a:solidFill>
                <a:latin typeface="Avenir Next"/>
                <a:ea typeface="Avenir Next"/>
                <a:cs typeface="Avenir Next"/>
              </a:defRPr>
            </a:lvl5pPr>
            <a:lvl6pPr algn="ctr">
              <a:defRPr sz="1500" b="1" i="0">
                <a:solidFill>
                  <a:srgbClr val="FFFFFF"/>
                </a:solidFill>
                <a:latin typeface="Avenir Next"/>
                <a:ea typeface="Avenir Next"/>
                <a:cs typeface="Avenir Next"/>
              </a:defRPr>
            </a:lvl6pPr>
            <a:lvl7pPr algn="ctr">
              <a:defRPr sz="1500" b="1" i="0">
                <a:solidFill>
                  <a:srgbClr val="FFFFFF"/>
                </a:solidFill>
                <a:latin typeface="Avenir Next"/>
                <a:ea typeface="Avenir Next"/>
                <a:cs typeface="Avenir Next"/>
              </a:defRPr>
            </a:lvl7pPr>
            <a:lvl8pPr algn="ctr">
              <a:defRPr sz="1500" b="1" i="0">
                <a:solidFill>
                  <a:srgbClr val="FFFFFF"/>
                </a:solidFill>
                <a:latin typeface="Avenir Next"/>
                <a:ea typeface="Avenir Next"/>
                <a:cs typeface="Avenir Next"/>
              </a:defRPr>
            </a:lvl8pPr>
            <a:lvl9pPr algn="ctr">
              <a:defRPr sz="1500" b="1" i="0">
                <a:solidFill>
                  <a:srgbClr val="FFFFFF"/>
                </a:solidFill>
                <a:latin typeface="Avenir Next"/>
                <a:ea typeface="Avenir Next"/>
                <a:cs typeface="Avenir Next"/>
              </a:defRPr>
            </a:lvl9pPr>
          </a:lstStyle>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D1 / SQLite</a:t>
            </a:r>
          </a:p>
        </p:txBody>
      </p:sp>
      <p:sp>
        <p:nvSpPr>
          <p:cNvPr id="14" name="">
            <a:extLst xmlns:a="http://schemas.openxmlformats.org/drawingml/2006/main">
              <a:ext uri="{FF2B5EF4-FFF2-40B4-BE49-F238E27FC236}">
                <a16:creationId xmlns:a16="http://schemas.microsoft.com/office/drawing/2014/main" id="{504503D2-E4C8-4D21-8A2E-F1AE0FFFAB59}"/>
              </a:ext>
            </a:extLst>
          </p:cNvPr>
          <p:cNvSpPr>
            <a:spLocks xmlns:a="http://schemas.openxmlformats.org/drawingml/2006/main" noGrp="1"/>
          </p:cNvSpPr>
          <p:nvPr/>
        </p:nvSpPr>
        <p:spPr>
          <a:xfrm xmlns:a="http://schemas.openxmlformats.org/drawingml/2006/main">
            <a:off x="5791200" y="27432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BEDBCF"/>
                </a:solidFill>
                <a:latin typeface="Avenir Next"/>
                <a:ea typeface="Avenir Next"/>
                <a:cs typeface="Avenir Next"/>
              </a:defRPr>
            </a:defPPr>
            <a:lvl1pPr algn="ctr">
              <a:defRPr sz="975" b="0" i="0">
                <a:solidFill>
                  <a:srgbClr val="BEDBCF"/>
                </a:solidFill>
                <a:latin typeface="Avenir Next"/>
                <a:ea typeface="Avenir Next"/>
                <a:cs typeface="Avenir Next"/>
              </a:defRPr>
            </a:lvl1pPr>
            <a:lvl2pPr algn="ctr">
              <a:defRPr sz="975" b="0" i="0">
                <a:solidFill>
                  <a:srgbClr val="BEDBCF"/>
                </a:solidFill>
                <a:latin typeface="Avenir Next"/>
                <a:ea typeface="Avenir Next"/>
                <a:cs typeface="Avenir Next"/>
              </a:defRPr>
            </a:lvl2pPr>
            <a:lvl3pPr algn="ctr">
              <a:defRPr sz="975" b="0" i="0">
                <a:solidFill>
                  <a:srgbClr val="BEDBCF"/>
                </a:solidFill>
                <a:latin typeface="Avenir Next"/>
                <a:ea typeface="Avenir Next"/>
                <a:cs typeface="Avenir Next"/>
              </a:defRPr>
            </a:lvl3pPr>
            <a:lvl4pPr algn="ctr">
              <a:defRPr sz="975" b="0" i="0">
                <a:solidFill>
                  <a:srgbClr val="BEDBCF"/>
                </a:solidFill>
                <a:latin typeface="Avenir Next"/>
                <a:ea typeface="Avenir Next"/>
                <a:cs typeface="Avenir Next"/>
              </a:defRPr>
            </a:lvl4pPr>
            <a:lvl5pPr algn="ctr">
              <a:defRPr sz="975" b="0" i="0">
                <a:solidFill>
                  <a:srgbClr val="BEDBCF"/>
                </a:solidFill>
                <a:latin typeface="Avenir Next"/>
                <a:ea typeface="Avenir Next"/>
                <a:cs typeface="Avenir Next"/>
              </a:defRPr>
            </a:lvl5pPr>
            <a:lvl6pPr algn="ctr">
              <a:defRPr sz="975" b="0" i="0">
                <a:solidFill>
                  <a:srgbClr val="BEDBCF"/>
                </a:solidFill>
                <a:latin typeface="Avenir Next"/>
                <a:ea typeface="Avenir Next"/>
                <a:cs typeface="Avenir Next"/>
              </a:defRPr>
            </a:lvl6pPr>
            <a:lvl7pPr algn="ctr">
              <a:defRPr sz="975" b="0" i="0">
                <a:solidFill>
                  <a:srgbClr val="BEDBCF"/>
                </a:solidFill>
                <a:latin typeface="Avenir Next"/>
                <a:ea typeface="Avenir Next"/>
                <a:cs typeface="Avenir Next"/>
              </a:defRPr>
            </a:lvl7pPr>
            <a:lvl8pPr algn="ctr">
              <a:defRPr sz="975" b="0" i="0">
                <a:solidFill>
                  <a:srgbClr val="BEDBCF"/>
                </a:solidFill>
                <a:latin typeface="Avenir Next"/>
                <a:ea typeface="Avenir Next"/>
                <a:cs typeface="Avenir Next"/>
              </a:defRPr>
            </a:lvl8pPr>
            <a:lvl9pPr algn="ctr">
              <a:defRPr sz="975" b="0" i="0">
                <a:solidFill>
                  <a:srgbClr val="BEDBCF"/>
                </a:solidFill>
                <a:latin typeface="Avenir Next"/>
                <a:ea typeface="Avenir Next"/>
                <a:cs typeface="Avenir Next"/>
              </a:defRPr>
            </a:lvl9pPr>
          </a:lstStyle>
          <a:p xmlns:a="http://schemas.openxmlformats.org/drawingml/2006/main">
            <a:pPr algn="ctr">
              <a:defRPr sz="975" b="0" i="0">
                <a:solidFill>
                  <a:srgbClr val="BEDBCF"/>
                </a:solidFill>
                <a:latin typeface="Avenir Next"/>
                <a:ea typeface="Avenir Next"/>
                <a:cs typeface="Avenir Next"/>
              </a:defRPr>
            </a:pPr>
            <a:r>
              <a:rPr sz="975" b="0" i="0">
                <a:solidFill>
                  <a:srgbClr val="BEDBCF"/>
                </a:solidFill>
                <a:latin typeface="Avenir Next"/>
                <a:ea typeface="Avenir Next"/>
                <a:cs typeface="Avenir Next"/>
              </a:rPr>
              <a:t>60 curated records · local vectors</a:t>
            </a:r>
          </a:p>
        </p:txBody>
      </p:sp>
      <p:sp>
        <p:nvSpPr>
          <p:cNvPr id="15" name="">
            <a:extLst xmlns:a="http://schemas.openxmlformats.org/drawingml/2006/main">
              <a:ext uri="{FF2B5EF4-FFF2-40B4-BE49-F238E27FC236}">
                <a16:creationId xmlns:a16="http://schemas.microsoft.com/office/drawing/2014/main" id="{2913DC72-2C9F-41C5-9417-7CE2F1DC4D0E}"/>
              </a:ext>
            </a:extLst>
          </p:cNvPr>
          <p:cNvSpPr>
            <a:spLocks xmlns:a="http://schemas.openxmlformats.org/drawingml/2006/main" noGrp="1"/>
          </p:cNvSpPr>
          <p:nvPr/>
        </p:nvSpPr>
        <p:spPr>
          <a:xfrm xmlns:a="http://schemas.openxmlformats.org/drawingml/2006/main">
            <a:off x="56197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6" name="">
            <a:extLst xmlns:a="http://schemas.openxmlformats.org/drawingml/2006/main">
              <a:ext uri="{FF2B5EF4-FFF2-40B4-BE49-F238E27FC236}">
                <a16:creationId xmlns:a16="http://schemas.microsoft.com/office/drawing/2014/main" id="{C1E3DF45-2827-4860-9F35-DA17221DD784}"/>
              </a:ext>
            </a:extLst>
          </p:cNvPr>
          <p:cNvSpPr>
            <a:spLocks xmlns:a="http://schemas.openxmlformats.org/drawingml/2006/main" noGrp="1"/>
          </p:cNvSpPr>
          <p:nvPr/>
        </p:nvSpPr>
        <p:spPr>
          <a:xfrm xmlns:a="http://schemas.openxmlformats.org/drawingml/2006/main">
            <a:off x="57912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Deterministic matcher</a:t>
            </a:r>
          </a:p>
        </p:txBody>
      </p:sp>
      <p:sp>
        <p:nvSpPr>
          <p:cNvPr id="17" name="">
            <a:extLst xmlns:a="http://schemas.openxmlformats.org/drawingml/2006/main">
              <a:ext uri="{FF2B5EF4-FFF2-40B4-BE49-F238E27FC236}">
                <a16:creationId xmlns:a16="http://schemas.microsoft.com/office/drawing/2014/main" id="{FC9982BF-AA00-4415-A64A-31D6675C5051}"/>
              </a:ext>
            </a:extLst>
          </p:cNvPr>
          <p:cNvSpPr>
            <a:spLocks xmlns:a="http://schemas.openxmlformats.org/drawingml/2006/main" noGrp="1"/>
          </p:cNvSpPr>
          <p:nvPr/>
        </p:nvSpPr>
        <p:spPr>
          <a:xfrm xmlns:a="http://schemas.openxmlformats.org/drawingml/2006/main">
            <a:off x="5791200" y="42672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Rules + 128-D similarity</a:t>
            </a:r>
          </a:p>
        </p:txBody>
      </p:sp>
      <p:sp>
        <p:nvSpPr>
          <p:cNvPr id="18" name="">
            <a:extLst xmlns:a="http://schemas.openxmlformats.org/drawingml/2006/main">
              <a:ext uri="{FF2B5EF4-FFF2-40B4-BE49-F238E27FC236}">
                <a16:creationId xmlns:a16="http://schemas.microsoft.com/office/drawing/2014/main" id="{906B7104-DDCE-40FE-9D99-C1C87D235251}"/>
              </a:ext>
            </a:extLst>
          </p:cNvPr>
          <p:cNvSpPr>
            <a:spLocks xmlns:a="http://schemas.openxmlformats.org/drawingml/2006/main" noGrp="1"/>
          </p:cNvSpPr>
          <p:nvPr/>
        </p:nvSpPr>
        <p:spPr>
          <a:xfrm xmlns:a="http://schemas.openxmlformats.org/drawingml/2006/main">
            <a:off x="8477250" y="2209800"/>
            <a:ext cx="2381250" cy="933450"/>
          </a:xfrm>
          <a:prstGeom xmlns:a="http://schemas.openxmlformats.org/drawingml/2006/main" prst="roundRect">
            <a:avLst>
              <a:gd name="adj" fmla="val 12245"/>
            </a:avLst>
          </a:prstGeom>
          <a:solidFill xmlns:a="http://schemas.openxmlformats.org/drawingml/2006/main">
            <a:srgbClr val="FF6B4A"/>
          </a:solidFill>
          <a:ln xmlns:a="http://schemas.openxmlformats.org/drawingml/2006/main" w="0">
            <a:solidFill>
              <a:srgbClr val="FF6B4A"/>
            </a:solidFill>
            <a:prstDash val="solid"/>
          </a:ln>
        </p:spPr>
      </p:sp>
      <p:sp>
        <p:nvSpPr>
          <p:cNvPr id="19" name="">
            <a:extLst xmlns:a="http://schemas.openxmlformats.org/drawingml/2006/main">
              <a:ext uri="{FF2B5EF4-FFF2-40B4-BE49-F238E27FC236}">
                <a16:creationId xmlns:a16="http://schemas.microsoft.com/office/drawing/2014/main" id="{B45B29A7-3D53-4E01-BD51-E154F10FEB43}"/>
              </a:ext>
            </a:extLst>
          </p:cNvPr>
          <p:cNvSpPr>
            <a:spLocks xmlns:a="http://schemas.openxmlformats.org/drawingml/2006/main" noGrp="1"/>
          </p:cNvSpPr>
          <p:nvPr/>
        </p:nvSpPr>
        <p:spPr>
          <a:xfrm xmlns:a="http://schemas.openxmlformats.org/drawingml/2006/main">
            <a:off x="86487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OpenAI</a:t>
            </a:r>
          </a:p>
        </p:txBody>
      </p:sp>
      <p:sp>
        <p:nvSpPr>
          <p:cNvPr id="20" name="">
            <a:extLst xmlns:a="http://schemas.openxmlformats.org/drawingml/2006/main">
              <a:ext uri="{FF2B5EF4-FFF2-40B4-BE49-F238E27FC236}">
                <a16:creationId xmlns:a16="http://schemas.microsoft.com/office/drawing/2014/main" id="{FC328A22-FA04-4565-B2AE-32BF0B0F1A91}"/>
              </a:ext>
            </a:extLst>
          </p:cNvPr>
          <p:cNvSpPr>
            <a:spLocks xmlns:a="http://schemas.openxmlformats.org/drawingml/2006/main" noGrp="1"/>
          </p:cNvSpPr>
          <p:nvPr/>
        </p:nvSpPr>
        <p:spPr>
          <a:xfrm xmlns:a="http://schemas.openxmlformats.org/drawingml/2006/main">
            <a:off x="8648700" y="27432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Understand · rank · explain</a:t>
            </a:r>
          </a:p>
        </p:txBody>
      </p:sp>
      <p:sp>
        <p:nvSpPr>
          <p:cNvPr id="21" name="">
            <a:extLst xmlns:a="http://schemas.openxmlformats.org/drawingml/2006/main">
              <a:ext uri="{FF2B5EF4-FFF2-40B4-BE49-F238E27FC236}">
                <a16:creationId xmlns:a16="http://schemas.microsoft.com/office/drawing/2014/main" id="{95B39C08-E716-408B-B13D-D8012BBEFF7C}"/>
              </a:ext>
            </a:extLst>
          </p:cNvPr>
          <p:cNvSpPr>
            <a:spLocks xmlns:a="http://schemas.openxmlformats.org/drawingml/2006/main" noGrp="1"/>
          </p:cNvSpPr>
          <p:nvPr/>
        </p:nvSpPr>
        <p:spPr>
          <a:xfrm xmlns:a="http://schemas.openxmlformats.org/drawingml/2006/main">
            <a:off x="84772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22" name="">
            <a:extLst xmlns:a="http://schemas.openxmlformats.org/drawingml/2006/main">
              <a:ext uri="{FF2B5EF4-FFF2-40B4-BE49-F238E27FC236}">
                <a16:creationId xmlns:a16="http://schemas.microsoft.com/office/drawing/2014/main" id="{68F4428F-FE2A-4656-8D2D-F309419BA4A3}"/>
              </a:ext>
            </a:extLst>
          </p:cNvPr>
          <p:cNvSpPr>
            <a:spLocks xmlns:a="http://schemas.openxmlformats.org/drawingml/2006/main" noGrp="1"/>
          </p:cNvSpPr>
          <p:nvPr/>
        </p:nvSpPr>
        <p:spPr>
          <a:xfrm xmlns:a="http://schemas.openxmlformats.org/drawingml/2006/main">
            <a:off x="86487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Official web search</a:t>
            </a:r>
          </a:p>
        </p:txBody>
      </p:sp>
      <p:sp>
        <p:nvSpPr>
          <p:cNvPr id="23" name="">
            <a:extLst xmlns:a="http://schemas.openxmlformats.org/drawingml/2006/main">
              <a:ext uri="{FF2B5EF4-FFF2-40B4-BE49-F238E27FC236}">
                <a16:creationId xmlns:a16="http://schemas.microsoft.com/office/drawing/2014/main" id="{6A4D97FF-9263-4ED8-A150-E5B8BCF85369}"/>
              </a:ext>
            </a:extLst>
          </p:cNvPr>
          <p:cNvSpPr>
            <a:spLocks xmlns:a="http://schemas.openxmlformats.org/drawingml/2006/main" noGrp="1"/>
          </p:cNvSpPr>
          <p:nvPr/>
        </p:nvSpPr>
        <p:spPr>
          <a:xfrm xmlns:a="http://schemas.openxmlformats.org/drawingml/2006/main">
            <a:off x="8648700" y="42672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Current program answers</a:t>
            </a:r>
          </a:p>
        </p:txBody>
      </p:sp>
      <p:sp>
        <p:nvSpPr>
          <p:cNvPr id="24" name="">
            <a:extLst xmlns:a="http://schemas.openxmlformats.org/drawingml/2006/main">
              <a:ext uri="{FF2B5EF4-FFF2-40B4-BE49-F238E27FC236}">
                <a16:creationId xmlns:a16="http://schemas.microsoft.com/office/drawing/2014/main" id="{87E6380F-CFF1-4379-858E-043A5C57054D}"/>
              </a:ext>
            </a:extLst>
          </p:cNvPr>
          <p:cNvSpPr>
            <a:spLocks xmlns:a="http://schemas.openxmlformats.org/drawingml/2006/main" noGrp="1"/>
          </p:cNvSpPr>
          <p:nvPr/>
        </p:nvSpPr>
        <p:spPr>
          <a:xfrm xmlns:a="http://schemas.openxmlformats.org/drawingml/2006/main">
            <a:off x="3048000" y="5238750"/>
            <a:ext cx="2095500" cy="781050"/>
          </a:xfrm>
          <a:prstGeom xmlns:a="http://schemas.openxmlformats.org/drawingml/2006/main" prst="roundRect">
            <a:avLst>
              <a:gd name="adj" fmla="val 14634"/>
            </a:avLst>
          </a:prstGeom>
          <a:solidFill xmlns:a="http://schemas.openxmlformats.org/drawingml/2006/main">
            <a:srgbClr val="FFFDFC"/>
          </a:solidFill>
          <a:ln xmlns:a="http://schemas.openxmlformats.org/drawingml/2006/main" w="9525">
            <a:solidFill>
              <a:srgbClr val="BEDBCF"/>
            </a:solidFill>
            <a:prstDash val="solid"/>
          </a:ln>
        </p:spPr>
      </p:sp>
      <p:sp>
        <p:nvSpPr>
          <p:cNvPr id="25" name="">
            <a:extLst xmlns:a="http://schemas.openxmlformats.org/drawingml/2006/main">
              <a:ext uri="{FF2B5EF4-FFF2-40B4-BE49-F238E27FC236}">
                <a16:creationId xmlns:a16="http://schemas.microsoft.com/office/drawing/2014/main" id="{63E47C6C-D851-4F82-8060-65BBB30D979C}"/>
              </a:ext>
            </a:extLst>
          </p:cNvPr>
          <p:cNvSpPr>
            <a:spLocks xmlns:a="http://schemas.openxmlformats.org/drawingml/2006/main" noGrp="1"/>
          </p:cNvSpPr>
          <p:nvPr/>
        </p:nvSpPr>
        <p:spPr>
          <a:xfrm xmlns:a="http://schemas.openxmlformats.org/drawingml/2006/main">
            <a:off x="3219450" y="5410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Chrome / Edge</a:t>
            </a:r>
          </a:p>
        </p:txBody>
      </p:sp>
      <p:sp>
        <p:nvSpPr>
          <p:cNvPr id="26" name="">
            <a:extLst xmlns:a="http://schemas.openxmlformats.org/drawingml/2006/main">
              <a:ext uri="{FF2B5EF4-FFF2-40B4-BE49-F238E27FC236}">
                <a16:creationId xmlns:a16="http://schemas.microsoft.com/office/drawing/2014/main" id="{034E4AC9-8B5A-4D15-AA7A-B26CE061DB7D}"/>
              </a:ext>
            </a:extLst>
          </p:cNvPr>
          <p:cNvSpPr>
            <a:spLocks xmlns:a="http://schemas.openxmlformats.org/drawingml/2006/main" noGrp="1"/>
          </p:cNvSpPr>
          <p:nvPr/>
        </p:nvSpPr>
        <p:spPr>
          <a:xfrm xmlns:a="http://schemas.openxmlformats.org/drawingml/2006/main">
            <a:off x="3219450" y="57721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Guide beside official form</a:t>
            </a:r>
          </a:p>
        </p:txBody>
      </p:sp>
      <p:sp>
        <p:nvSpPr>
          <p:cNvPr id="27" name="">
            <a:extLst xmlns:a="http://schemas.openxmlformats.org/drawingml/2006/main">
              <a:ext uri="{FF2B5EF4-FFF2-40B4-BE49-F238E27FC236}">
                <a16:creationId xmlns:a16="http://schemas.microsoft.com/office/drawing/2014/main" id="{34A18474-8BC1-46EC-A700-643707B23C25}"/>
              </a:ext>
            </a:extLst>
          </p:cNvPr>
          <p:cNvSpPr>
            <a:spLocks xmlns:a="http://schemas.openxmlformats.org/drawingml/2006/main" noGrp="1"/>
          </p:cNvSpPr>
          <p:nvPr/>
        </p:nvSpPr>
        <p:spPr>
          <a:xfrm xmlns:a="http://schemas.openxmlformats.org/drawingml/2006/main">
            <a:off x="2590800" y="3162300"/>
            <a:ext cx="45720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58CA31F-0098-4814-8D41-01DB265C7C9C}"/>
              </a:ext>
            </a:extLst>
          </p:cNvPr>
          <p:cNvSpPr>
            <a:spLocks xmlns:a="http://schemas.openxmlformats.org/drawingml/2006/main" noGrp="1"/>
          </p:cNvSpPr>
          <p:nvPr/>
        </p:nvSpPr>
        <p:spPr>
          <a:xfrm xmlns:a="http://schemas.openxmlformats.org/drawingml/2006/main">
            <a:off x="5143500" y="316230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485381D-EEC1-4270-B81C-F37918D3402B}"/>
              </a:ext>
            </a:extLst>
          </p:cNvPr>
          <p:cNvSpPr>
            <a:spLocks xmlns:a="http://schemas.openxmlformats.org/drawingml/2006/main" noGrp="1"/>
          </p:cNvSpPr>
          <p:nvPr/>
        </p:nvSpPr>
        <p:spPr>
          <a:xfrm xmlns:a="http://schemas.openxmlformats.org/drawingml/2006/main">
            <a:off x="51435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CB7A3B-C0B2-4F08-8EF3-830CA064D788}"/>
              </a:ext>
            </a:extLst>
          </p:cNvPr>
          <p:cNvSpPr>
            <a:spLocks xmlns:a="http://schemas.openxmlformats.org/drawingml/2006/main" noGrp="1"/>
          </p:cNvSpPr>
          <p:nvPr/>
        </p:nvSpPr>
        <p:spPr>
          <a:xfrm xmlns:a="http://schemas.openxmlformats.org/drawingml/2006/main">
            <a:off x="8001000" y="26479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1B6F32C-03BC-40DC-BFAC-7BFBA607252C}"/>
              </a:ext>
            </a:extLst>
          </p:cNvPr>
          <p:cNvSpPr>
            <a:spLocks xmlns:a="http://schemas.openxmlformats.org/drawingml/2006/main" noGrp="1"/>
          </p:cNvSpPr>
          <p:nvPr/>
        </p:nvSpPr>
        <p:spPr>
          <a:xfrm xmlns:a="http://schemas.openxmlformats.org/drawingml/2006/main">
            <a:off x="80010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AD59FB3-701B-4BF8-B35D-81A3B8CD222E}"/>
              </a:ext>
            </a:extLst>
          </p:cNvPr>
          <p:cNvSpPr>
            <a:spLocks xmlns:a="http://schemas.openxmlformats.org/drawingml/2006/main" noGrp="1"/>
          </p:cNvSpPr>
          <p:nvPr/>
        </p:nvSpPr>
        <p:spPr>
          <a:xfrm xmlns:a="http://schemas.openxmlformats.org/drawingml/2006/main">
            <a:off x="4076700" y="3657600"/>
            <a:ext cx="38100" cy="15811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6C97186-98B6-46F8-B07C-E889A9040AAF}"/>
              </a:ext>
            </a:extLst>
          </p:cNvPr>
          <p:cNvSpPr>
            <a:spLocks xmlns:a="http://schemas.openxmlformats.org/drawingml/2006/main" noGrp="1"/>
          </p:cNvSpPr>
          <p:nvPr/>
        </p:nvSpPr>
        <p:spPr>
          <a:xfrm xmlns:a="http://schemas.openxmlformats.org/drawingml/2006/main">
            <a:off x="8477250" y="5257800"/>
            <a:ext cx="2381250" cy="400050"/>
          </a:xfrm>
          <a:prstGeom xmlns:a="http://schemas.openxmlformats.org/drawingml/2006/main" prst="roundRect">
            <a:avLst>
              <a:gd name="adj" fmla="val 28571"/>
            </a:avLst>
          </a:prstGeom>
          <a:solidFill xmlns:a="http://schemas.openxmlformats.org/drawingml/2006/main">
            <a:srgbClr val="0C4B40"/>
          </a:solidFill>
          <a:ln xmlns:a="http://schemas.openxmlformats.org/drawingml/2006/main" w="9525">
            <a:solidFill>
              <a:srgbClr val="0C4B40"/>
            </a:solidFill>
            <a:prstDash val="solid"/>
          </a:ln>
        </p:spPr>
      </p:sp>
      <p:sp>
        <p:nvSpPr>
          <p:cNvPr id="34" name="">
            <a:extLst xmlns:a="http://schemas.openxmlformats.org/drawingml/2006/main">
              <a:ext uri="{FF2B5EF4-FFF2-40B4-BE49-F238E27FC236}">
                <a16:creationId xmlns:a16="http://schemas.microsoft.com/office/drawing/2014/main" id="{83F1258A-59D0-4FA1-8AC7-B11F519055D0}"/>
              </a:ext>
            </a:extLst>
          </p:cNvPr>
          <p:cNvSpPr>
            <a:spLocks xmlns:a="http://schemas.openxmlformats.org/drawingml/2006/main" noGrp="1"/>
          </p:cNvSpPr>
          <p:nvPr/>
        </p:nvSpPr>
        <p:spPr>
          <a:xfrm xmlns:a="http://schemas.openxmlformats.org/drawingml/2006/main">
            <a:off x="8572500" y="5334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venir Next"/>
                <a:ea typeface="Avenir Next"/>
                <a:cs typeface="Avenir Next"/>
              </a:defRPr>
            </a:defPPr>
            <a:lvl1pPr algn="ctr">
              <a:defRPr sz="1125" b="1" i="0">
                <a:solidFill>
                  <a:srgbClr val="FFFFFF"/>
                </a:solidFill>
                <a:latin typeface="Avenir Next"/>
                <a:ea typeface="Avenir Next"/>
                <a:cs typeface="Avenir Next"/>
              </a:defRPr>
            </a:lvl1pPr>
            <a:lvl2pPr algn="ctr">
              <a:defRPr sz="1125" b="1" i="0">
                <a:solidFill>
                  <a:srgbClr val="FFFFFF"/>
                </a:solidFill>
                <a:latin typeface="Avenir Next"/>
                <a:ea typeface="Avenir Next"/>
                <a:cs typeface="Avenir Next"/>
              </a:defRPr>
            </a:lvl2pPr>
            <a:lvl3pPr algn="ctr">
              <a:defRPr sz="1125" b="1" i="0">
                <a:solidFill>
                  <a:srgbClr val="FFFFFF"/>
                </a:solidFill>
                <a:latin typeface="Avenir Next"/>
                <a:ea typeface="Avenir Next"/>
                <a:cs typeface="Avenir Next"/>
              </a:defRPr>
            </a:lvl3pPr>
            <a:lvl4pPr algn="ctr">
              <a:defRPr sz="1125" b="1" i="0">
                <a:solidFill>
                  <a:srgbClr val="FFFFFF"/>
                </a:solidFill>
                <a:latin typeface="Avenir Next"/>
                <a:ea typeface="Avenir Next"/>
                <a:cs typeface="Avenir Next"/>
              </a:defRPr>
            </a:lvl4pPr>
            <a:lvl5pPr algn="ctr">
              <a:defRPr sz="1125" b="1" i="0">
                <a:solidFill>
                  <a:srgbClr val="FFFFFF"/>
                </a:solidFill>
                <a:latin typeface="Avenir Next"/>
                <a:ea typeface="Avenir Next"/>
                <a:cs typeface="Avenir Next"/>
              </a:defRPr>
            </a:lvl5pPr>
            <a:lvl6pPr algn="ctr">
              <a:defRPr sz="1125" b="1" i="0">
                <a:solidFill>
                  <a:srgbClr val="FFFFFF"/>
                </a:solidFill>
                <a:latin typeface="Avenir Next"/>
                <a:ea typeface="Avenir Next"/>
                <a:cs typeface="Avenir Next"/>
              </a:defRPr>
            </a:lvl6pPr>
            <a:lvl7pPr algn="ctr">
              <a:defRPr sz="1125" b="1" i="0">
                <a:solidFill>
                  <a:srgbClr val="FFFFFF"/>
                </a:solidFill>
                <a:latin typeface="Avenir Next"/>
                <a:ea typeface="Avenir Next"/>
                <a:cs typeface="Avenir Next"/>
              </a:defRPr>
            </a:lvl7pPr>
            <a:lvl8pPr algn="ctr">
              <a:defRPr sz="1125" b="1" i="0">
                <a:solidFill>
                  <a:srgbClr val="FFFFFF"/>
                </a:solidFill>
                <a:latin typeface="Avenir Next"/>
                <a:ea typeface="Avenir Next"/>
                <a:cs typeface="Avenir Next"/>
              </a:defRPr>
            </a:lvl8pPr>
            <a:lvl9pPr algn="ctr">
              <a:defRPr sz="1125" b="1" i="0">
                <a:solidFill>
                  <a:srgbClr val="FFFFFF"/>
                </a:solidFill>
                <a:latin typeface="Avenir Next"/>
                <a:ea typeface="Avenir Next"/>
                <a:cs typeface="Avenir Next"/>
              </a:defRPr>
            </a:lvl9pPr>
          </a:lstStyle>
          <a:p xmlns:a="http://schemas.openxmlformats.org/drawingml/2006/main">
            <a:pPr algn="ctr">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AI OFFLINE? MATCHING STILL WORKS</a:t>
            </a:r>
          </a:p>
        </p:txBody>
      </p:sp>
    </p:spTree>
    <p:extLst>
      <p:ext uri="{BB962C8B-B14F-4D97-AF65-F5344CB8AC3E}">
        <p14:creationId xmlns:p14="http://schemas.microsoft.com/office/powerpoint/2010/main" val="987937728"/>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AC41721-5458-4561-964E-8F9C57ECE8AC}"/>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F5B14AE2-EC33-4B6F-8B6E-CBE9130A70AF}"/>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420BE053-3799-4A07-B9A4-F1C1E877AD58}"/>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09</a:t>
            </a:r>
          </a:p>
        </p:txBody>
      </p:sp>
      <p:sp>
        <p:nvSpPr>
          <p:cNvPr id="4" name="">
            <a:extLst xmlns:a="http://schemas.openxmlformats.org/drawingml/2006/main">
              <a:ext uri="{FF2B5EF4-FFF2-40B4-BE49-F238E27FC236}">
                <a16:creationId xmlns:a16="http://schemas.microsoft.com/office/drawing/2014/main" id="{6FC43C01-9CCC-48B2-AC77-85BA6CA52E85}"/>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Live demo: from a need to an application</a:t>
            </a:r>
          </a:p>
        </p:txBody>
      </p:sp>
      <p:sp>
        <p:nvSpPr>
          <p:cNvPr id="5" name="">
            <a:extLst xmlns:a="http://schemas.openxmlformats.org/drawingml/2006/main">
              <a:ext uri="{FF2B5EF4-FFF2-40B4-BE49-F238E27FC236}">
                <a16:creationId xmlns:a16="http://schemas.microsoft.com/office/drawing/2014/main" id="{6E37EF77-CED9-4A4C-981E-A0E399F95495}"/>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 focused two-minute resident journey.</a:t>
            </a:r>
          </a:p>
        </p:txBody>
      </p:sp>
      <p:sp>
        <p:nvSpPr>
          <p:cNvPr id="6" name="">
            <a:extLst xmlns:a="http://schemas.openxmlformats.org/drawingml/2006/main">
              <a:ext uri="{FF2B5EF4-FFF2-40B4-BE49-F238E27FC236}">
                <a16:creationId xmlns:a16="http://schemas.microsoft.com/office/drawing/2014/main" id="{4F3F9511-67F7-4302-9B3C-6F7172B329D3}"/>
              </a:ext>
            </a:extLst>
          </p:cNvPr>
          <p:cNvSpPr>
            <a:spLocks xmlns:a="http://schemas.openxmlformats.org/drawingml/2006/main" noGrp="1"/>
          </p:cNvSpPr>
          <p:nvPr/>
        </p:nvSpPr>
        <p:spPr>
          <a:xfrm xmlns:a="http://schemas.openxmlformats.org/drawingml/2006/main">
            <a:off x="685800" y="2419350"/>
            <a:ext cx="10820400" cy="800100"/>
          </a:xfrm>
          <a:prstGeom xmlns:a="http://schemas.openxmlformats.org/drawingml/2006/main" prst="roundRect">
            <a:avLst>
              <a:gd name="adj" fmla="val 14286"/>
            </a:avLst>
          </a:prstGeom>
          <a:solidFill xmlns:a="http://schemas.openxmlformats.org/drawingml/2006/main">
            <a:srgbClr val="0C4B4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C2D174-74CD-45B0-818B-EF61573EDE81}"/>
              </a:ext>
            </a:extLst>
          </p:cNvPr>
          <p:cNvSpPr>
            <a:spLocks xmlns:a="http://schemas.openxmlformats.org/drawingml/2006/main" noGrp="1"/>
          </p:cNvSpPr>
          <p:nvPr/>
        </p:nvSpPr>
        <p:spPr>
          <a:xfrm xmlns:a="http://schemas.openxmlformats.org/drawingml/2006/main">
            <a:off x="1047750" y="26479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venir Next"/>
                <a:ea typeface="Avenir Next"/>
                <a:cs typeface="Avenir Next"/>
              </a:defRPr>
            </a:defPPr>
            <a:lvl1pPr algn="ctr">
              <a:defRPr sz="1800" b="1" i="0">
                <a:solidFill>
                  <a:srgbClr val="FFFFFF"/>
                </a:solidFill>
                <a:latin typeface="Avenir Next"/>
                <a:ea typeface="Avenir Next"/>
                <a:cs typeface="Avenir Next"/>
              </a:defRPr>
            </a:lvl1pPr>
            <a:lvl2pPr algn="ctr">
              <a:defRPr sz="1800" b="1" i="0">
                <a:solidFill>
                  <a:srgbClr val="FFFFFF"/>
                </a:solidFill>
                <a:latin typeface="Avenir Next"/>
                <a:ea typeface="Avenir Next"/>
                <a:cs typeface="Avenir Next"/>
              </a:defRPr>
            </a:lvl2pPr>
            <a:lvl3pPr algn="ctr">
              <a:defRPr sz="1800" b="1" i="0">
                <a:solidFill>
                  <a:srgbClr val="FFFFFF"/>
                </a:solidFill>
                <a:latin typeface="Avenir Next"/>
                <a:ea typeface="Avenir Next"/>
                <a:cs typeface="Avenir Next"/>
              </a:defRPr>
            </a:lvl3pPr>
            <a:lvl4pPr algn="ctr">
              <a:defRPr sz="1800" b="1" i="0">
                <a:solidFill>
                  <a:srgbClr val="FFFFFF"/>
                </a:solidFill>
                <a:latin typeface="Avenir Next"/>
                <a:ea typeface="Avenir Next"/>
                <a:cs typeface="Avenir Next"/>
              </a:defRPr>
            </a:lvl4pPr>
            <a:lvl5pPr algn="ctr">
              <a:defRPr sz="1800" b="1" i="0">
                <a:solidFill>
                  <a:srgbClr val="FFFFFF"/>
                </a:solidFill>
                <a:latin typeface="Avenir Next"/>
                <a:ea typeface="Avenir Next"/>
                <a:cs typeface="Avenir Next"/>
              </a:defRPr>
            </a:lvl5pPr>
            <a:lvl6pPr algn="ctr">
              <a:defRPr sz="1800" b="1" i="0">
                <a:solidFill>
                  <a:srgbClr val="FFFFFF"/>
                </a:solidFill>
                <a:latin typeface="Avenir Next"/>
                <a:ea typeface="Avenir Next"/>
                <a:cs typeface="Avenir Next"/>
              </a:defRPr>
            </a:lvl6pPr>
            <a:lvl7pPr algn="ctr">
              <a:defRPr sz="1800" b="1" i="0">
                <a:solidFill>
                  <a:srgbClr val="FFFFFF"/>
                </a:solidFill>
                <a:latin typeface="Avenir Next"/>
                <a:ea typeface="Avenir Next"/>
                <a:cs typeface="Avenir Next"/>
              </a:defRPr>
            </a:lvl7pPr>
            <a:lvl8pPr algn="ctr">
              <a:defRPr sz="1800" b="1" i="0">
                <a:solidFill>
                  <a:srgbClr val="FFFFFF"/>
                </a:solidFill>
                <a:latin typeface="Avenir Next"/>
                <a:ea typeface="Avenir Next"/>
                <a:cs typeface="Avenir Next"/>
              </a:defRPr>
            </a:lvl8pPr>
            <a:lvl9pPr algn="ctr">
              <a:defRPr sz="1800" b="1" i="0">
                <a:solidFill>
                  <a:srgbClr val="FFFFFF"/>
                </a:solidFill>
                <a:latin typeface="Avenir Next"/>
                <a:ea typeface="Avenir Next"/>
                <a:cs typeface="Avenir Next"/>
              </a:defRPr>
            </a:lvl9pPr>
          </a:lstStyle>
          <a:p xmlns:a="http://schemas.openxmlformats.org/drawingml/2006/main">
            <a:pPr algn="ctr">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“I live in Sunnyvale. My water bill is high, and I think I may have a leak.”</a:t>
            </a:r>
          </a:p>
        </p:txBody>
      </p:sp>
      <p:sp>
        <p:nvSpPr>
          <p:cNvPr id="8" name="">
            <a:extLst xmlns:a="http://schemas.openxmlformats.org/drawingml/2006/main">
              <a:ext uri="{FF2B5EF4-FFF2-40B4-BE49-F238E27FC236}">
                <a16:creationId xmlns:a16="http://schemas.microsoft.com/office/drawing/2014/main" id="{A368EAD6-FDF1-43AE-997E-9556E9B3BDCB}"/>
              </a:ext>
            </a:extLst>
          </p:cNvPr>
          <p:cNvSpPr>
            <a:spLocks xmlns:a="http://schemas.openxmlformats.org/drawingml/2006/main" noGrp="1"/>
          </p:cNvSpPr>
          <p:nvPr/>
        </p:nvSpPr>
        <p:spPr>
          <a:xfrm xmlns:a="http://schemas.openxmlformats.org/drawingml/2006/main">
            <a:off x="68580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706587-631C-41F2-AAB7-169F9FC5F251}"/>
              </a:ext>
            </a:extLst>
          </p:cNvPr>
          <p:cNvSpPr>
            <a:spLocks xmlns:a="http://schemas.openxmlformats.org/drawingml/2006/main" noGrp="1"/>
          </p:cNvSpPr>
          <p:nvPr/>
        </p:nvSpPr>
        <p:spPr>
          <a:xfrm xmlns:a="http://schemas.openxmlformats.org/drawingml/2006/main">
            <a:off x="80962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75784E0A-248C-4D53-A233-A8A6EE5ED6C7}"/>
              </a:ext>
            </a:extLst>
          </p:cNvPr>
          <p:cNvSpPr>
            <a:spLocks xmlns:a="http://schemas.openxmlformats.org/drawingml/2006/main" noGrp="1"/>
          </p:cNvSpPr>
          <p:nvPr/>
        </p:nvSpPr>
        <p:spPr>
          <a:xfrm xmlns:a="http://schemas.openxmlformats.org/drawingml/2006/main">
            <a:off x="129540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START</a:t>
            </a:r>
          </a:p>
        </p:txBody>
      </p:sp>
      <p:sp>
        <p:nvSpPr>
          <p:cNvPr id="11" name="">
            <a:extLst xmlns:a="http://schemas.openxmlformats.org/drawingml/2006/main">
              <a:ext uri="{FF2B5EF4-FFF2-40B4-BE49-F238E27FC236}">
                <a16:creationId xmlns:a16="http://schemas.microsoft.com/office/drawing/2014/main" id="{7102B47D-D8C9-45CF-836A-0CB171797603}"/>
              </a:ext>
            </a:extLst>
          </p:cNvPr>
          <p:cNvSpPr>
            <a:spLocks xmlns:a="http://schemas.openxmlformats.org/drawingml/2006/main" noGrp="1"/>
          </p:cNvSpPr>
          <p:nvPr/>
        </p:nvSpPr>
        <p:spPr>
          <a:xfrm xmlns:a="http://schemas.openxmlformats.org/drawingml/2006/main">
            <a:off x="129540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Enter the story in natural language</a:t>
            </a:r>
          </a:p>
        </p:txBody>
      </p:sp>
      <p:sp>
        <p:nvSpPr>
          <p:cNvPr id="12" name="">
            <a:extLst xmlns:a="http://schemas.openxmlformats.org/drawingml/2006/main">
              <a:ext uri="{FF2B5EF4-FFF2-40B4-BE49-F238E27FC236}">
                <a16:creationId xmlns:a16="http://schemas.microsoft.com/office/drawing/2014/main" id="{9451A918-A194-4603-ABD1-B82D209D4585}"/>
              </a:ext>
            </a:extLst>
          </p:cNvPr>
          <p:cNvSpPr>
            <a:spLocks xmlns:a="http://schemas.openxmlformats.org/drawingml/2006/main" noGrp="1"/>
          </p:cNvSpPr>
          <p:nvPr/>
        </p:nvSpPr>
        <p:spPr>
          <a:xfrm xmlns:a="http://schemas.openxmlformats.org/drawingml/2006/main">
            <a:off x="3400425"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675981-DBDE-4FC8-8613-500F6B4698CA}"/>
              </a:ext>
            </a:extLst>
          </p:cNvPr>
          <p:cNvSpPr>
            <a:spLocks xmlns:a="http://schemas.openxmlformats.org/drawingml/2006/main" noGrp="1"/>
          </p:cNvSpPr>
          <p:nvPr/>
        </p:nvSpPr>
        <p:spPr>
          <a:xfrm xmlns:a="http://schemas.openxmlformats.org/drawingml/2006/main">
            <a:off x="352425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B52252F7-BEB3-440E-B0D3-5BD9E3E3CEB7}"/>
              </a:ext>
            </a:extLst>
          </p:cNvPr>
          <p:cNvSpPr>
            <a:spLocks xmlns:a="http://schemas.openxmlformats.org/drawingml/2006/main" noGrp="1"/>
          </p:cNvSpPr>
          <p:nvPr/>
        </p:nvSpPr>
        <p:spPr>
          <a:xfrm xmlns:a="http://schemas.openxmlformats.org/drawingml/2006/main">
            <a:off x="401002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CLARIFY</a:t>
            </a:r>
          </a:p>
        </p:txBody>
      </p:sp>
      <p:sp>
        <p:nvSpPr>
          <p:cNvPr id="15" name="">
            <a:extLst xmlns:a="http://schemas.openxmlformats.org/drawingml/2006/main">
              <a:ext uri="{FF2B5EF4-FFF2-40B4-BE49-F238E27FC236}">
                <a16:creationId xmlns:a16="http://schemas.microsoft.com/office/drawing/2014/main" id="{9F790EAD-C310-4A9A-9E0A-8693DADF7F21}"/>
              </a:ext>
            </a:extLst>
          </p:cNvPr>
          <p:cNvSpPr>
            <a:spLocks xmlns:a="http://schemas.openxmlformats.org/drawingml/2006/main" noGrp="1"/>
          </p:cNvSpPr>
          <p:nvPr/>
        </p:nvSpPr>
        <p:spPr>
          <a:xfrm xmlns:a="http://schemas.openxmlformats.org/drawingml/2006/main">
            <a:off x="401002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Skip or answer one optional question</a:t>
            </a:r>
          </a:p>
        </p:txBody>
      </p:sp>
      <p:sp>
        <p:nvSpPr>
          <p:cNvPr id="16" name="">
            <a:extLst xmlns:a="http://schemas.openxmlformats.org/drawingml/2006/main">
              <a:ext uri="{FF2B5EF4-FFF2-40B4-BE49-F238E27FC236}">
                <a16:creationId xmlns:a16="http://schemas.microsoft.com/office/drawing/2014/main" id="{2E34EA74-CBCC-4B26-B55B-BF158DF3A8CC}"/>
              </a:ext>
            </a:extLst>
          </p:cNvPr>
          <p:cNvSpPr>
            <a:spLocks xmlns:a="http://schemas.openxmlformats.org/drawingml/2006/main" noGrp="1"/>
          </p:cNvSpPr>
          <p:nvPr/>
        </p:nvSpPr>
        <p:spPr>
          <a:xfrm xmlns:a="http://schemas.openxmlformats.org/drawingml/2006/main">
            <a:off x="611505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2EBD570-38C3-41B7-9C12-34271183CF77}"/>
              </a:ext>
            </a:extLst>
          </p:cNvPr>
          <p:cNvSpPr>
            <a:spLocks xmlns:a="http://schemas.openxmlformats.org/drawingml/2006/main" noGrp="1"/>
          </p:cNvSpPr>
          <p:nvPr/>
        </p:nvSpPr>
        <p:spPr>
          <a:xfrm xmlns:a="http://schemas.openxmlformats.org/drawingml/2006/main">
            <a:off x="623887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a:t>
            </a:r>
          </a:p>
        </p:txBody>
      </p:sp>
      <p:sp>
        <p:nvSpPr>
          <p:cNvPr id="18" name="">
            <a:extLst xmlns:a="http://schemas.openxmlformats.org/drawingml/2006/main">
              <a:ext uri="{FF2B5EF4-FFF2-40B4-BE49-F238E27FC236}">
                <a16:creationId xmlns:a16="http://schemas.microsoft.com/office/drawing/2014/main" id="{58C85820-2FC6-40C9-8D47-C0114511E569}"/>
              </a:ext>
            </a:extLst>
          </p:cNvPr>
          <p:cNvSpPr>
            <a:spLocks xmlns:a="http://schemas.openxmlformats.org/drawingml/2006/main" noGrp="1"/>
          </p:cNvSpPr>
          <p:nvPr/>
        </p:nvSpPr>
        <p:spPr>
          <a:xfrm xmlns:a="http://schemas.openxmlformats.org/drawingml/2006/main">
            <a:off x="672465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EXPLORE</a:t>
            </a:r>
          </a:p>
        </p:txBody>
      </p:sp>
      <p:sp>
        <p:nvSpPr>
          <p:cNvPr id="19" name="">
            <a:extLst xmlns:a="http://schemas.openxmlformats.org/drawingml/2006/main">
              <a:ext uri="{FF2B5EF4-FFF2-40B4-BE49-F238E27FC236}">
                <a16:creationId xmlns:a16="http://schemas.microsoft.com/office/drawing/2014/main" id="{4FE0A390-7F9C-4A93-9193-8976CDCB0C56}"/>
              </a:ext>
            </a:extLst>
          </p:cNvPr>
          <p:cNvSpPr>
            <a:spLocks xmlns:a="http://schemas.openxmlformats.org/drawingml/2006/main" noGrp="1"/>
          </p:cNvSpPr>
          <p:nvPr/>
        </p:nvSpPr>
        <p:spPr>
          <a:xfrm xmlns:a="http://schemas.openxmlformats.org/drawingml/2006/main">
            <a:off x="672465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Open a water-related program and ask what is needed</a:t>
            </a:r>
          </a:p>
        </p:txBody>
      </p:sp>
      <p:sp>
        <p:nvSpPr>
          <p:cNvPr id="20" name="">
            <a:extLst xmlns:a="http://schemas.openxmlformats.org/drawingml/2006/main">
              <a:ext uri="{FF2B5EF4-FFF2-40B4-BE49-F238E27FC236}">
                <a16:creationId xmlns:a16="http://schemas.microsoft.com/office/drawing/2014/main" id="{15D35EB4-59C2-442D-BA1F-8E0C65E6906D}"/>
              </a:ext>
            </a:extLst>
          </p:cNvPr>
          <p:cNvSpPr>
            <a:spLocks xmlns:a="http://schemas.openxmlformats.org/drawingml/2006/main" noGrp="1"/>
          </p:cNvSpPr>
          <p:nvPr/>
        </p:nvSpPr>
        <p:spPr>
          <a:xfrm xmlns:a="http://schemas.openxmlformats.org/drawingml/2006/main">
            <a:off x="8829675" y="3810000"/>
            <a:ext cx="457200" cy="4572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98BB122-C567-457E-B7E4-69D72E09352A}"/>
              </a:ext>
            </a:extLst>
          </p:cNvPr>
          <p:cNvSpPr>
            <a:spLocks xmlns:a="http://schemas.openxmlformats.org/drawingml/2006/main" noGrp="1"/>
          </p:cNvSpPr>
          <p:nvPr/>
        </p:nvSpPr>
        <p:spPr>
          <a:xfrm xmlns:a="http://schemas.openxmlformats.org/drawingml/2006/main">
            <a:off x="895350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4</a:t>
            </a:r>
          </a:p>
        </p:txBody>
      </p:sp>
      <p:sp>
        <p:nvSpPr>
          <p:cNvPr id="22" name="">
            <a:extLst xmlns:a="http://schemas.openxmlformats.org/drawingml/2006/main">
              <a:ext uri="{FF2B5EF4-FFF2-40B4-BE49-F238E27FC236}">
                <a16:creationId xmlns:a16="http://schemas.microsoft.com/office/drawing/2014/main" id="{7113AEEF-98BF-409F-981F-6A1D82433C99}"/>
              </a:ext>
            </a:extLst>
          </p:cNvPr>
          <p:cNvSpPr>
            <a:spLocks xmlns:a="http://schemas.openxmlformats.org/drawingml/2006/main" noGrp="1"/>
          </p:cNvSpPr>
          <p:nvPr/>
        </p:nvSpPr>
        <p:spPr>
          <a:xfrm xmlns:a="http://schemas.openxmlformats.org/drawingml/2006/main">
            <a:off x="943927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3" name="">
            <a:extLst xmlns:a="http://schemas.openxmlformats.org/drawingml/2006/main">
              <a:ext uri="{FF2B5EF4-FFF2-40B4-BE49-F238E27FC236}">
                <a16:creationId xmlns:a16="http://schemas.microsoft.com/office/drawing/2014/main" id="{5D30C954-A83D-410B-8085-BAC5DBE6BAA2}"/>
              </a:ext>
            </a:extLst>
          </p:cNvPr>
          <p:cNvSpPr>
            <a:spLocks xmlns:a="http://schemas.openxmlformats.org/drawingml/2006/main" noGrp="1"/>
          </p:cNvSpPr>
          <p:nvPr/>
        </p:nvSpPr>
        <p:spPr>
          <a:xfrm xmlns:a="http://schemas.openxmlformats.org/drawingml/2006/main">
            <a:off x="943927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Launch the official site with BenefitBeacon beside it</a:t>
            </a:r>
          </a:p>
        </p:txBody>
      </p:sp>
      <p:sp>
        <p:nvSpPr>
          <p:cNvPr id="24" name="">
            <a:extLst xmlns:a="http://schemas.openxmlformats.org/drawingml/2006/main">
              <a:ext uri="{FF2B5EF4-FFF2-40B4-BE49-F238E27FC236}">
                <a16:creationId xmlns:a16="http://schemas.microsoft.com/office/drawing/2014/main" id="{01F686C9-CCFB-4C7F-9395-8417D54C487F}"/>
              </a:ext>
            </a:extLst>
          </p:cNvPr>
          <p:cNvSpPr>
            <a:spLocks xmlns:a="http://schemas.openxmlformats.org/drawingml/2006/main" noGrp="1"/>
          </p:cNvSpPr>
          <p:nvPr/>
        </p:nvSpPr>
        <p:spPr>
          <a:xfrm xmlns:a="http://schemas.openxmlformats.org/drawingml/2006/main">
            <a:off x="685800" y="5524500"/>
            <a:ext cx="10820400" cy="685800"/>
          </a:xfrm>
          <a:prstGeom xmlns:a="http://schemas.openxmlformats.org/drawingml/2006/main" prst="roundRect">
            <a:avLst>
              <a:gd name="adj" fmla="val 16667"/>
            </a:avLst>
          </a:prstGeom>
          <a:solidFill xmlns:a="http://schemas.openxmlformats.org/drawingml/2006/main">
            <a:srgbClr val="E8F0E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BA49AD-749A-49CD-99B0-36FD7C11E6ED}"/>
              </a:ext>
            </a:extLst>
          </p:cNvPr>
          <p:cNvSpPr>
            <a:spLocks xmlns:a="http://schemas.openxmlformats.org/drawingml/2006/main" noGrp="1"/>
          </p:cNvSpPr>
          <p:nvPr/>
        </p:nvSpPr>
        <p:spPr>
          <a:xfrm xmlns:a="http://schemas.openxmlformats.org/drawingml/2006/main">
            <a:off x="990600" y="5743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Backup path</a:t>
            </a:r>
          </a:p>
        </p:txBody>
      </p:sp>
      <p:sp>
        <p:nvSpPr>
          <p:cNvPr id="26" name="">
            <a:extLst xmlns:a="http://schemas.openxmlformats.org/drawingml/2006/main">
              <a:ext uri="{FF2B5EF4-FFF2-40B4-BE49-F238E27FC236}">
                <a16:creationId xmlns:a16="http://schemas.microsoft.com/office/drawing/2014/main" id="{7E715EC9-458D-4087-95C9-8D224615322B}"/>
              </a:ext>
            </a:extLst>
          </p:cNvPr>
          <p:cNvSpPr>
            <a:spLocks xmlns:a="http://schemas.openxmlformats.org/drawingml/2006/main" noGrp="1"/>
          </p:cNvSpPr>
          <p:nvPr/>
        </p:nvSpPr>
        <p:spPr>
          <a:xfrm xmlns:a="http://schemas.openxmlformats.org/drawingml/2006/main">
            <a:off x="2381250" y="56959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If an AI call is unavailable, show that local matching, source links, and the full program catalog still work.</a:t>
            </a:r>
          </a:p>
        </p:txBody>
      </p:sp>
    </p:spTree>
    <p:extLst>
      <p:ext uri="{BB962C8B-B14F-4D97-AF65-F5344CB8AC3E}">
        <p14:creationId xmlns:p14="http://schemas.microsoft.com/office/powerpoint/2010/main" val="1660597924"/>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AB3888-496C-4E30-A4A4-BD4CE2BCDC6E}"/>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849FFDE9-AE91-4E83-9101-7D0FFC1CAAA1}"/>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3884B1F2-F06C-4602-887F-DBF8EEF4054A}"/>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10</a:t>
            </a:r>
          </a:p>
        </p:txBody>
      </p:sp>
      <p:pic>
        <p:nvPicPr>
          <p:cNvPr id="4" name="">
            <a:extLst xmlns:a="http://schemas.openxmlformats.org/drawingml/2006/main">
              <a:ext uri="{FF2B5EF4-FFF2-40B4-BE49-F238E27FC236}">
                <a16:creationId xmlns:a16="http://schemas.microsoft.com/office/drawing/2014/main" id="{9D9263D9-7251-4BFB-9158-B44993ED0722}"/>
              </a:ext>
            </a:extLst>
          </p:cNvPr>
          <p:cNvPicPr>
            <a:picLocks xmlns:a="http://schemas.openxmlformats.org/drawingml/2006/main" noChangeAspect="1"/>
          </p:cNvPicPr>
          <p:nvPr/>
        </p:nvPicPr>
        <p:blipFill>
          <a:blip xmlns:r="http://schemas.openxmlformats.org/officeDocument/2006/relationships" xmlns:a="http://schemas.openxmlformats.org/drawingml/2006/main" r:embed="R5afc91d3fec54176"/>
          <a:stretch xmlns:a="http://schemas.openxmlformats.org/drawingml/2006/main"/>
        </p:blipFill>
        <p:spPr>
          <a:xfrm xmlns:a="http://schemas.openxmlformats.org/drawingml/2006/main">
            <a:off x="4953000" y="1143000"/>
            <a:ext cx="22860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B97A29E-9FC7-40A5-981F-E3FC4ADB68F6}"/>
              </a:ext>
            </a:extLst>
          </p:cNvPr>
          <p:cNvSpPr>
            <a:spLocks xmlns:a="http://schemas.openxmlformats.org/drawingml/2006/main" noGrp="1"/>
          </p:cNvSpPr>
          <p:nvPr/>
        </p:nvSpPr>
        <p:spPr>
          <a:xfrm xmlns:a="http://schemas.openxmlformats.org/drawingml/2006/main">
            <a:off x="2095500" y="3600450"/>
            <a:ext cx="800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4200" b="1" i="0">
                <a:solidFill>
                  <a:srgbClr val="073E35"/>
                </a:solidFill>
                <a:latin typeface="Avenir Next"/>
                <a:ea typeface="Avenir Next"/>
                <a:cs typeface="Avenir Next"/>
              </a:defRPr>
            </a:defPPr>
            <a:lvl1pPr algn="ctr">
              <a:defRPr sz="4200" b="1" i="0">
                <a:solidFill>
                  <a:srgbClr val="073E35"/>
                </a:solidFill>
                <a:latin typeface="Avenir Next"/>
                <a:ea typeface="Avenir Next"/>
                <a:cs typeface="Avenir Next"/>
              </a:defRPr>
            </a:lvl1pPr>
            <a:lvl2pPr algn="ctr">
              <a:defRPr sz="4200" b="1" i="0">
                <a:solidFill>
                  <a:srgbClr val="073E35"/>
                </a:solidFill>
                <a:latin typeface="Avenir Next"/>
                <a:ea typeface="Avenir Next"/>
                <a:cs typeface="Avenir Next"/>
              </a:defRPr>
            </a:lvl2pPr>
            <a:lvl3pPr algn="ctr">
              <a:defRPr sz="4200" b="1" i="0">
                <a:solidFill>
                  <a:srgbClr val="073E35"/>
                </a:solidFill>
                <a:latin typeface="Avenir Next"/>
                <a:ea typeface="Avenir Next"/>
                <a:cs typeface="Avenir Next"/>
              </a:defRPr>
            </a:lvl3pPr>
            <a:lvl4pPr algn="ctr">
              <a:defRPr sz="4200" b="1" i="0">
                <a:solidFill>
                  <a:srgbClr val="073E35"/>
                </a:solidFill>
                <a:latin typeface="Avenir Next"/>
                <a:ea typeface="Avenir Next"/>
                <a:cs typeface="Avenir Next"/>
              </a:defRPr>
            </a:lvl4pPr>
            <a:lvl5pPr algn="ctr">
              <a:defRPr sz="4200" b="1" i="0">
                <a:solidFill>
                  <a:srgbClr val="073E35"/>
                </a:solidFill>
                <a:latin typeface="Avenir Next"/>
                <a:ea typeface="Avenir Next"/>
                <a:cs typeface="Avenir Next"/>
              </a:defRPr>
            </a:lvl5pPr>
            <a:lvl6pPr algn="ctr">
              <a:defRPr sz="4200" b="1" i="0">
                <a:solidFill>
                  <a:srgbClr val="073E35"/>
                </a:solidFill>
                <a:latin typeface="Avenir Next"/>
                <a:ea typeface="Avenir Next"/>
                <a:cs typeface="Avenir Next"/>
              </a:defRPr>
            </a:lvl6pPr>
            <a:lvl7pPr algn="ctr">
              <a:defRPr sz="4200" b="1" i="0">
                <a:solidFill>
                  <a:srgbClr val="073E35"/>
                </a:solidFill>
                <a:latin typeface="Avenir Next"/>
                <a:ea typeface="Avenir Next"/>
                <a:cs typeface="Avenir Next"/>
              </a:defRPr>
            </a:lvl7pPr>
            <a:lvl8pPr algn="ctr">
              <a:defRPr sz="4200" b="1" i="0">
                <a:solidFill>
                  <a:srgbClr val="073E35"/>
                </a:solidFill>
                <a:latin typeface="Avenir Next"/>
                <a:ea typeface="Avenir Next"/>
                <a:cs typeface="Avenir Next"/>
              </a:defRPr>
            </a:lvl8pPr>
            <a:lvl9pPr algn="ctr">
              <a:defRPr sz="4200" b="1" i="0">
                <a:solidFill>
                  <a:srgbClr val="073E35"/>
                </a:solidFill>
                <a:latin typeface="Avenir Next"/>
                <a:ea typeface="Avenir Next"/>
                <a:cs typeface="Avenir Next"/>
              </a:defRPr>
            </a:lvl9pPr>
          </a:lstStyle>
          <a:p xmlns:a="http://schemas.openxmlformats.org/drawingml/2006/main">
            <a:pPr algn="ctr">
              <a:defRPr sz="4200" b="1" i="0">
                <a:solidFill>
                  <a:srgbClr val="073E35"/>
                </a:solidFill>
                <a:latin typeface="Avenir Next"/>
                <a:ea typeface="Avenir Next"/>
                <a:cs typeface="Avenir Next"/>
              </a:defRPr>
            </a:pPr>
            <a:r>
              <a:rPr sz="42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A61794A5-D3A0-4E83-91CE-E06CD5E6A503}"/>
              </a:ext>
            </a:extLst>
          </p:cNvPr>
          <p:cNvSpPr>
            <a:spLocks xmlns:a="http://schemas.openxmlformats.org/drawingml/2006/main" noGrp="1"/>
          </p:cNvSpPr>
          <p:nvPr/>
        </p:nvSpPr>
        <p:spPr>
          <a:xfrm xmlns:a="http://schemas.openxmlformats.org/drawingml/2006/main">
            <a:off x="2095500" y="44577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1">
                <a:solidFill>
                  <a:srgbClr val="FF6B4A"/>
                </a:solidFill>
                <a:latin typeface="Avenir Next"/>
                <a:ea typeface="Avenir Next"/>
                <a:cs typeface="Avenir Next"/>
              </a:defRPr>
            </a:defPPr>
            <a:lvl1pPr algn="ctr">
              <a:defRPr sz="2100" b="1" i="1">
                <a:solidFill>
                  <a:srgbClr val="FF6B4A"/>
                </a:solidFill>
                <a:latin typeface="Avenir Next"/>
                <a:ea typeface="Avenir Next"/>
                <a:cs typeface="Avenir Next"/>
              </a:defRPr>
            </a:lvl1pPr>
            <a:lvl2pPr algn="ctr">
              <a:defRPr sz="2100" b="1" i="1">
                <a:solidFill>
                  <a:srgbClr val="FF6B4A"/>
                </a:solidFill>
                <a:latin typeface="Avenir Next"/>
                <a:ea typeface="Avenir Next"/>
                <a:cs typeface="Avenir Next"/>
              </a:defRPr>
            </a:lvl2pPr>
            <a:lvl3pPr algn="ctr">
              <a:defRPr sz="2100" b="1" i="1">
                <a:solidFill>
                  <a:srgbClr val="FF6B4A"/>
                </a:solidFill>
                <a:latin typeface="Avenir Next"/>
                <a:ea typeface="Avenir Next"/>
                <a:cs typeface="Avenir Next"/>
              </a:defRPr>
            </a:lvl3pPr>
            <a:lvl4pPr algn="ctr">
              <a:defRPr sz="2100" b="1" i="1">
                <a:solidFill>
                  <a:srgbClr val="FF6B4A"/>
                </a:solidFill>
                <a:latin typeface="Avenir Next"/>
                <a:ea typeface="Avenir Next"/>
                <a:cs typeface="Avenir Next"/>
              </a:defRPr>
            </a:lvl4pPr>
            <a:lvl5pPr algn="ctr">
              <a:defRPr sz="2100" b="1" i="1">
                <a:solidFill>
                  <a:srgbClr val="FF6B4A"/>
                </a:solidFill>
                <a:latin typeface="Avenir Next"/>
                <a:ea typeface="Avenir Next"/>
                <a:cs typeface="Avenir Next"/>
              </a:defRPr>
            </a:lvl5pPr>
            <a:lvl6pPr algn="ctr">
              <a:defRPr sz="2100" b="1" i="1">
                <a:solidFill>
                  <a:srgbClr val="FF6B4A"/>
                </a:solidFill>
                <a:latin typeface="Avenir Next"/>
                <a:ea typeface="Avenir Next"/>
                <a:cs typeface="Avenir Next"/>
              </a:defRPr>
            </a:lvl6pPr>
            <a:lvl7pPr algn="ctr">
              <a:defRPr sz="2100" b="1" i="1">
                <a:solidFill>
                  <a:srgbClr val="FF6B4A"/>
                </a:solidFill>
                <a:latin typeface="Avenir Next"/>
                <a:ea typeface="Avenir Next"/>
                <a:cs typeface="Avenir Next"/>
              </a:defRPr>
            </a:lvl7pPr>
            <a:lvl8pPr algn="ctr">
              <a:defRPr sz="2100" b="1" i="1">
                <a:solidFill>
                  <a:srgbClr val="FF6B4A"/>
                </a:solidFill>
                <a:latin typeface="Avenir Next"/>
                <a:ea typeface="Avenir Next"/>
                <a:cs typeface="Avenir Next"/>
              </a:defRPr>
            </a:lvl8pPr>
            <a:lvl9pPr algn="ctr">
              <a:defRPr sz="2100" b="1" i="1">
                <a:solidFill>
                  <a:srgbClr val="FF6B4A"/>
                </a:solidFill>
                <a:latin typeface="Avenir Next"/>
                <a:ea typeface="Avenir Next"/>
                <a:cs typeface="Avenir Next"/>
              </a:defRPr>
            </a:lvl9pPr>
          </a:lstStyle>
          <a:p xmlns:a="http://schemas.openxmlformats.org/drawingml/2006/main">
            <a:pPr algn="ctr">
              <a:defRPr sz="2100" b="1" i="1">
                <a:solidFill>
                  <a:srgbClr val="FF6B4A"/>
                </a:solidFill>
                <a:latin typeface="Avenir Next"/>
                <a:ea typeface="Avenir Next"/>
                <a:cs typeface="Avenir Next"/>
              </a:defRPr>
            </a:pPr>
            <a:r>
              <a:rPr sz="2100" b="1" i="1">
                <a:solidFill>
                  <a:srgbClr val="FF6B4A"/>
                </a:solidFill>
                <a:latin typeface="Avenir Next"/>
                <a:ea typeface="Avenir Next"/>
                <a:cs typeface="Avenir Next"/>
              </a:rPr>
              <a:t>Find the help. Follow the path.</a:t>
            </a:r>
          </a:p>
        </p:txBody>
      </p:sp>
      <p:sp>
        <p:nvSpPr>
          <p:cNvPr id="7" name="">
            <a:extLst xmlns:a="http://schemas.openxmlformats.org/drawingml/2006/main">
              <a:ext uri="{FF2B5EF4-FFF2-40B4-BE49-F238E27FC236}">
                <a16:creationId xmlns:a16="http://schemas.microsoft.com/office/drawing/2014/main" id="{67DE406E-F62D-4859-8A7F-45D03915DB01}"/>
              </a:ext>
            </a:extLst>
          </p:cNvPr>
          <p:cNvSpPr>
            <a:spLocks xmlns:a="http://schemas.openxmlformats.org/drawingml/2006/main" noGrp="1"/>
          </p:cNvSpPr>
          <p:nvPr/>
        </p:nvSpPr>
        <p:spPr>
          <a:xfrm xmlns:a="http://schemas.openxmlformats.org/drawingml/2006/main">
            <a:off x="2362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8" name="">
            <a:extLst xmlns:a="http://schemas.openxmlformats.org/drawingml/2006/main">
              <a:ext uri="{FF2B5EF4-FFF2-40B4-BE49-F238E27FC236}">
                <a16:creationId xmlns:a16="http://schemas.microsoft.com/office/drawing/2014/main" id="{EEA05C70-541D-426F-B725-7AA08DB3F2EA}"/>
              </a:ext>
            </a:extLst>
          </p:cNvPr>
          <p:cNvSpPr>
            <a:spLocks xmlns:a="http://schemas.openxmlformats.org/drawingml/2006/main" noGrp="1"/>
          </p:cNvSpPr>
          <p:nvPr/>
        </p:nvSpPr>
        <p:spPr>
          <a:xfrm xmlns:a="http://schemas.openxmlformats.org/drawingml/2006/main">
            <a:off x="2457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Clear choices</a:t>
            </a:r>
          </a:p>
        </p:txBody>
      </p:sp>
      <p:sp>
        <p:nvSpPr>
          <p:cNvPr id="9" name="">
            <a:extLst xmlns:a="http://schemas.openxmlformats.org/drawingml/2006/main">
              <a:ext uri="{FF2B5EF4-FFF2-40B4-BE49-F238E27FC236}">
                <a16:creationId xmlns:a16="http://schemas.microsoft.com/office/drawing/2014/main" id="{3CACDD49-4036-42FB-88DB-66379115E262}"/>
              </a:ext>
            </a:extLst>
          </p:cNvPr>
          <p:cNvSpPr>
            <a:spLocks xmlns:a="http://schemas.openxmlformats.org/drawingml/2006/main" noGrp="1"/>
          </p:cNvSpPr>
          <p:nvPr/>
        </p:nvSpPr>
        <p:spPr>
          <a:xfrm xmlns:a="http://schemas.openxmlformats.org/drawingml/2006/main">
            <a:off x="5029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9634EBBE-7BB2-439B-93FF-CE444BF08A24}"/>
              </a:ext>
            </a:extLst>
          </p:cNvPr>
          <p:cNvSpPr>
            <a:spLocks xmlns:a="http://schemas.openxmlformats.org/drawingml/2006/main" noGrp="1"/>
          </p:cNvSpPr>
          <p:nvPr/>
        </p:nvSpPr>
        <p:spPr>
          <a:xfrm xmlns:a="http://schemas.openxmlformats.org/drawingml/2006/main">
            <a:off x="5124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Trusted sources</a:t>
            </a:r>
          </a:p>
        </p:txBody>
      </p:sp>
      <p:sp>
        <p:nvSpPr>
          <p:cNvPr id="11" name="">
            <a:extLst xmlns:a="http://schemas.openxmlformats.org/drawingml/2006/main">
              <a:ext uri="{FF2B5EF4-FFF2-40B4-BE49-F238E27FC236}">
                <a16:creationId xmlns:a16="http://schemas.microsoft.com/office/drawing/2014/main" id="{C950A463-55E8-49FA-9CD9-02682E62D335}"/>
              </a:ext>
            </a:extLst>
          </p:cNvPr>
          <p:cNvSpPr>
            <a:spLocks xmlns:a="http://schemas.openxmlformats.org/drawingml/2006/main" noGrp="1"/>
          </p:cNvSpPr>
          <p:nvPr/>
        </p:nvSpPr>
        <p:spPr>
          <a:xfrm xmlns:a="http://schemas.openxmlformats.org/drawingml/2006/main">
            <a:off x="7696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2" name="">
            <a:extLst xmlns:a="http://schemas.openxmlformats.org/drawingml/2006/main">
              <a:ext uri="{FF2B5EF4-FFF2-40B4-BE49-F238E27FC236}">
                <a16:creationId xmlns:a16="http://schemas.microsoft.com/office/drawing/2014/main" id="{E7BC3787-D2D0-49AB-8376-96ED76E89E0B}"/>
              </a:ext>
            </a:extLst>
          </p:cNvPr>
          <p:cNvSpPr>
            <a:spLocks xmlns:a="http://schemas.openxmlformats.org/drawingml/2006/main" noGrp="1"/>
          </p:cNvSpPr>
          <p:nvPr/>
        </p:nvSpPr>
        <p:spPr>
          <a:xfrm xmlns:a="http://schemas.openxmlformats.org/drawingml/2006/main">
            <a:off x="7791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Guidance that stays</a:t>
            </a:r>
          </a:p>
        </p:txBody>
      </p:sp>
    </p:spTree>
    <p:extLst>
      <p:ext uri="{BB962C8B-B14F-4D97-AF65-F5344CB8AC3E}">
        <p14:creationId xmlns:p14="http://schemas.microsoft.com/office/powerpoint/2010/main" val="2045369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2026-10-23T14:56:24.8100000Z</dcterms:created>
  <dcterms:modified xsi:type="dcterms:W3CDTF">2026-10-23T14:56:24.8100000Z</dcterms:modified>
</coreProperties>
</file>